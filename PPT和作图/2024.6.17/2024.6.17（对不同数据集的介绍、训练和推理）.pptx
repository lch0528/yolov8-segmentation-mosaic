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7" r:id="rId3"/>
    <p:sldId id="412" r:id="rId4"/>
    <p:sldId id="413" r:id="rId5"/>
    <p:sldId id="432" r:id="rId6"/>
    <p:sldId id="414" r:id="rId7"/>
    <p:sldId id="415" r:id="rId8"/>
    <p:sldId id="433" r:id="rId9"/>
    <p:sldId id="454" r:id="rId10"/>
    <p:sldId id="455" r:id="rId11"/>
    <p:sldId id="434" r:id="rId12"/>
    <p:sldId id="355" r:id="rId13"/>
    <p:sldId id="435" r:id="rId14"/>
    <p:sldId id="356" r:id="rId15"/>
    <p:sldId id="436" r:id="rId16"/>
    <p:sldId id="437" r:id="rId17"/>
    <p:sldId id="445" r:id="rId18"/>
    <p:sldId id="378" r:id="rId19"/>
    <p:sldId id="446" r:id="rId20"/>
    <p:sldId id="439" r:id="rId21"/>
    <p:sldId id="448" r:id="rId22"/>
    <p:sldId id="443" r:id="rId23"/>
    <p:sldId id="368" r:id="rId24"/>
    <p:sldId id="451" r:id="rId25"/>
    <p:sldId id="450" r:id="rId26"/>
    <p:sldId id="452" r:id="rId27"/>
    <p:sldId id="453" r:id="rId28"/>
    <p:sldId id="273" r:id="rId29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BA6627C-7C07-4C92-89A3-C6743F8FF652}">
          <p14:sldIdLst>
            <p14:sldId id="257"/>
            <p14:sldId id="412"/>
            <p14:sldId id="413"/>
            <p14:sldId id="432"/>
            <p14:sldId id="414"/>
            <p14:sldId id="415"/>
            <p14:sldId id="433"/>
            <p14:sldId id="454"/>
            <p14:sldId id="455"/>
            <p14:sldId id="434"/>
            <p14:sldId id="355"/>
            <p14:sldId id="435"/>
            <p14:sldId id="356"/>
            <p14:sldId id="436"/>
            <p14:sldId id="437"/>
            <p14:sldId id="445"/>
            <p14:sldId id="378"/>
            <p14:sldId id="446"/>
            <p14:sldId id="439"/>
            <p14:sldId id="448"/>
            <p14:sldId id="443"/>
            <p14:sldId id="368"/>
            <p14:sldId id="451"/>
            <p14:sldId id="450"/>
            <p14:sldId id="452"/>
            <p14:sldId id="453"/>
            <p14:sldId id="273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3524345723@qq.com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0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05" autoAdjust="0"/>
    <p:restoredTop sz="95090" autoAdjust="0"/>
  </p:normalViewPr>
  <p:slideViewPr>
    <p:cSldViewPr snapToGrid="0">
      <p:cViewPr varScale="1">
        <p:scale>
          <a:sx n="85" d="100"/>
          <a:sy n="85" d="100"/>
        </p:scale>
        <p:origin x="5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gs" Target="tags/tag1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hyperlink" Target="https://sysu-hcp.net/lip/overview.php" TargetMode="External"/><Relationship Id="rId4" Type="http://schemas.openxmlformats.org/officeDocument/2006/relationships/hyperlink" Target="https://blog.csdn.net/hyk_1996/article/details/91974621" TargetMode="External"/><Relationship Id="rId3" Type="http://schemas.openxmlformats.org/officeDocument/2006/relationships/hyperlink" Target="https://blog.csdn.net/weixin_41809530/article/details/120237242" TargetMode="External"/><Relationship Id="rId2" Type="http://schemas.openxmlformats.org/officeDocument/2006/relationships/hyperlink" Target="https://blog.csdn.net/qq_41994006/article/details/126191667" TargetMode="External"/><Relationship Id="rId1" Type="http://schemas.openxmlformats.org/officeDocument/2006/relationships/hyperlink" Target="https://blog.csdn.net/wxf19940618/article/details/8366189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hyperlink" Target="https://blog.csdn.net/XDH19910113/article/details/125299757" TargetMode="External"/><Relationship Id="rId6" Type="http://schemas.openxmlformats.org/officeDocument/2006/relationships/hyperlink" Target="https://blog.csdn.net/oYeZhou/article/details/112008054" TargetMode="External"/><Relationship Id="rId5" Type="http://schemas.openxmlformats.org/officeDocument/2006/relationships/hyperlink" Target="https://blog.csdn.net/weixin_51031772/article/details/135679015" TargetMode="External"/><Relationship Id="rId4" Type="http://schemas.openxmlformats.org/officeDocument/2006/relationships/hyperlink" Target="https://blog.csdn.net/babbycool/article/details/123115899" TargetMode="Externa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jpeg"/><Relationship Id="rId1" Type="http://schemas.openxmlformats.org/officeDocument/2006/relationships/image" Target="../media/image36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组合 84"/>
          <p:cNvGrpSpPr/>
          <p:nvPr/>
        </p:nvGrpSpPr>
        <p:grpSpPr>
          <a:xfrm>
            <a:off x="-318784" y="-438150"/>
            <a:ext cx="2054282" cy="7742402"/>
            <a:chOff x="-318759" y="-438055"/>
            <a:chExt cx="2054231" cy="7742211"/>
          </a:xfrm>
        </p:grpSpPr>
        <p:grpSp>
          <p:nvGrpSpPr>
            <p:cNvPr id="18" name="组合 17"/>
            <p:cNvGrpSpPr/>
            <p:nvPr/>
          </p:nvGrpSpPr>
          <p:grpSpPr>
            <a:xfrm>
              <a:off x="-318758" y="-438055"/>
              <a:ext cx="2054230" cy="1341411"/>
              <a:chOff x="-318758" y="-438055"/>
              <a:chExt cx="2054230" cy="1341411"/>
            </a:xfrm>
          </p:grpSpPr>
          <p:sp>
            <p:nvSpPr>
              <p:cNvPr id="11" name="任意多边形 10"/>
              <p:cNvSpPr/>
              <p:nvPr/>
            </p:nvSpPr>
            <p:spPr>
              <a:xfrm rot="2700000">
                <a:off x="103782" y="-728333"/>
                <a:ext cx="1209149" cy="2054230"/>
              </a:xfrm>
              <a:custGeom>
                <a:avLst/>
                <a:gdLst>
                  <a:gd name="connsiteX0" fmla="*/ 579225 w 1209149"/>
                  <a:gd name="connsiteY0" fmla="*/ 629924 h 2054230"/>
                  <a:gd name="connsiteX1" fmla="*/ 1209149 w 1209149"/>
                  <a:gd name="connsiteY1" fmla="*/ 0 h 2054230"/>
                  <a:gd name="connsiteX2" fmla="*/ 1209149 w 1209149"/>
                  <a:gd name="connsiteY2" fmla="*/ 2054230 h 2054230"/>
                  <a:gd name="connsiteX3" fmla="*/ 629924 w 1209149"/>
                  <a:gd name="connsiteY3" fmla="*/ 2054230 h 2054230"/>
                  <a:gd name="connsiteX4" fmla="*/ 0 w 1209149"/>
                  <a:gd name="connsiteY4" fmla="*/ 1424306 h 2054230"/>
                  <a:gd name="connsiteX5" fmla="*/ 579225 w 1209149"/>
                  <a:gd name="connsiteY5" fmla="*/ 1424306 h 2054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9149" h="2054230">
                    <a:moveTo>
                      <a:pt x="579225" y="629924"/>
                    </a:moveTo>
                    <a:lnTo>
                      <a:pt x="1209149" y="0"/>
                    </a:lnTo>
                    <a:lnTo>
                      <a:pt x="1209149" y="2054230"/>
                    </a:lnTo>
                    <a:lnTo>
                      <a:pt x="629924" y="2054230"/>
                    </a:lnTo>
                    <a:lnTo>
                      <a:pt x="0" y="1424306"/>
                    </a:lnTo>
                    <a:lnTo>
                      <a:pt x="579225" y="1424306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任意多边形 12"/>
              <p:cNvSpPr/>
              <p:nvPr/>
            </p:nvSpPr>
            <p:spPr>
              <a:xfrm rot="2700000">
                <a:off x="28669" y="-657766"/>
                <a:ext cx="1072529" cy="1511952"/>
              </a:xfrm>
              <a:custGeom>
                <a:avLst/>
                <a:gdLst>
                  <a:gd name="connsiteX0" fmla="*/ 0 w 1072529"/>
                  <a:gd name="connsiteY0" fmla="*/ 1072529 h 1511952"/>
                  <a:gd name="connsiteX1" fmla="*/ 1072529 w 1072529"/>
                  <a:gd name="connsiteY1" fmla="*/ 0 h 1511952"/>
                  <a:gd name="connsiteX2" fmla="*/ 1072529 w 1072529"/>
                  <a:gd name="connsiteY2" fmla="*/ 1511952 h 1511952"/>
                  <a:gd name="connsiteX3" fmla="*/ 439424 w 1072529"/>
                  <a:gd name="connsiteY3" fmla="*/ 1511952 h 1511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2529" h="1511952">
                    <a:moveTo>
                      <a:pt x="0" y="1072529"/>
                    </a:moveTo>
                    <a:lnTo>
                      <a:pt x="1072529" y="0"/>
                    </a:lnTo>
                    <a:lnTo>
                      <a:pt x="1072529" y="1511952"/>
                    </a:lnTo>
                    <a:lnTo>
                      <a:pt x="439424" y="1511952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67000">
                      <a:srgbClr val="D7B26C">
                        <a:alpha val="40000"/>
                      </a:srgbClr>
                    </a:gs>
                    <a:gs pos="100000">
                      <a:srgbClr val="D7B26C">
                        <a:alpha val="65000"/>
                      </a:srgb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 flipV="1">
              <a:off x="-318759" y="5962745"/>
              <a:ext cx="2054230" cy="1341411"/>
              <a:chOff x="-318758" y="-438055"/>
              <a:chExt cx="2054230" cy="1341411"/>
            </a:xfrm>
          </p:grpSpPr>
          <p:sp>
            <p:nvSpPr>
              <p:cNvPr id="20" name="任意多边形 19"/>
              <p:cNvSpPr/>
              <p:nvPr/>
            </p:nvSpPr>
            <p:spPr>
              <a:xfrm rot="2700000">
                <a:off x="103782" y="-728333"/>
                <a:ext cx="1209149" cy="2054230"/>
              </a:xfrm>
              <a:custGeom>
                <a:avLst/>
                <a:gdLst>
                  <a:gd name="connsiteX0" fmla="*/ 579225 w 1209149"/>
                  <a:gd name="connsiteY0" fmla="*/ 629924 h 2054230"/>
                  <a:gd name="connsiteX1" fmla="*/ 1209149 w 1209149"/>
                  <a:gd name="connsiteY1" fmla="*/ 0 h 2054230"/>
                  <a:gd name="connsiteX2" fmla="*/ 1209149 w 1209149"/>
                  <a:gd name="connsiteY2" fmla="*/ 2054230 h 2054230"/>
                  <a:gd name="connsiteX3" fmla="*/ 629924 w 1209149"/>
                  <a:gd name="connsiteY3" fmla="*/ 2054230 h 2054230"/>
                  <a:gd name="connsiteX4" fmla="*/ 0 w 1209149"/>
                  <a:gd name="connsiteY4" fmla="*/ 1424306 h 2054230"/>
                  <a:gd name="connsiteX5" fmla="*/ 579225 w 1209149"/>
                  <a:gd name="connsiteY5" fmla="*/ 1424306 h 2054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9149" h="2054230">
                    <a:moveTo>
                      <a:pt x="579225" y="629924"/>
                    </a:moveTo>
                    <a:lnTo>
                      <a:pt x="1209149" y="0"/>
                    </a:lnTo>
                    <a:lnTo>
                      <a:pt x="1209149" y="2054230"/>
                    </a:lnTo>
                    <a:lnTo>
                      <a:pt x="629924" y="2054230"/>
                    </a:lnTo>
                    <a:lnTo>
                      <a:pt x="0" y="1424306"/>
                    </a:lnTo>
                    <a:lnTo>
                      <a:pt x="579225" y="1424306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 rot="2700000">
                <a:off x="28669" y="-657766"/>
                <a:ext cx="1072529" cy="1511952"/>
              </a:xfrm>
              <a:custGeom>
                <a:avLst/>
                <a:gdLst>
                  <a:gd name="connsiteX0" fmla="*/ 0 w 1072529"/>
                  <a:gd name="connsiteY0" fmla="*/ 1072529 h 1511952"/>
                  <a:gd name="connsiteX1" fmla="*/ 1072529 w 1072529"/>
                  <a:gd name="connsiteY1" fmla="*/ 0 h 1511952"/>
                  <a:gd name="connsiteX2" fmla="*/ 1072529 w 1072529"/>
                  <a:gd name="connsiteY2" fmla="*/ 1511952 h 1511952"/>
                  <a:gd name="connsiteX3" fmla="*/ 439424 w 1072529"/>
                  <a:gd name="connsiteY3" fmla="*/ 1511952 h 1511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2529" h="1511952">
                    <a:moveTo>
                      <a:pt x="0" y="1072529"/>
                    </a:moveTo>
                    <a:lnTo>
                      <a:pt x="1072529" y="0"/>
                    </a:lnTo>
                    <a:lnTo>
                      <a:pt x="1072529" y="1511952"/>
                    </a:lnTo>
                    <a:lnTo>
                      <a:pt x="439424" y="1511952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67000">
                      <a:srgbClr val="D7B26C">
                        <a:alpha val="40000"/>
                      </a:srgbClr>
                    </a:gs>
                    <a:gs pos="100000">
                      <a:srgbClr val="D7B26C">
                        <a:alpha val="65000"/>
                      </a:srgb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89" name="组合 88"/>
          <p:cNvGrpSpPr/>
          <p:nvPr/>
        </p:nvGrpSpPr>
        <p:grpSpPr>
          <a:xfrm>
            <a:off x="9629471" y="-57386"/>
            <a:ext cx="4744029" cy="6972537"/>
            <a:chOff x="9629471" y="-57386"/>
            <a:chExt cx="4744029" cy="6972537"/>
          </a:xfrm>
        </p:grpSpPr>
        <p:sp>
          <p:nvSpPr>
            <p:cNvPr id="61" name="任意多边形 60"/>
            <p:cNvSpPr/>
            <p:nvPr/>
          </p:nvSpPr>
          <p:spPr>
            <a:xfrm rot="2700000">
              <a:off x="10004350" y="1244426"/>
              <a:ext cx="4369150" cy="4369150"/>
            </a:xfrm>
            <a:custGeom>
              <a:avLst/>
              <a:gdLst>
                <a:gd name="connsiteX0" fmla="*/ 0 w 4369150"/>
                <a:gd name="connsiteY0" fmla="*/ 0 h 4369150"/>
                <a:gd name="connsiteX1" fmla="*/ 875900 w 4369150"/>
                <a:gd name="connsiteY1" fmla="*/ 875899 h 4369150"/>
                <a:gd name="connsiteX2" fmla="*/ 875899 w 4369150"/>
                <a:gd name="connsiteY2" fmla="*/ 3493251 h 4369150"/>
                <a:gd name="connsiteX3" fmla="*/ 3493251 w 4369150"/>
                <a:gd name="connsiteY3" fmla="*/ 3493251 h 4369150"/>
                <a:gd name="connsiteX4" fmla="*/ 4369150 w 4369150"/>
                <a:gd name="connsiteY4" fmla="*/ 4369150 h 4369150"/>
                <a:gd name="connsiteX5" fmla="*/ 0 w 4369150"/>
                <a:gd name="connsiteY5" fmla="*/ 4369150 h 436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69150" h="4369150">
                  <a:moveTo>
                    <a:pt x="0" y="0"/>
                  </a:moveTo>
                  <a:lnTo>
                    <a:pt x="875900" y="875899"/>
                  </a:lnTo>
                  <a:lnTo>
                    <a:pt x="875899" y="3493251"/>
                  </a:lnTo>
                  <a:lnTo>
                    <a:pt x="3493251" y="3493251"/>
                  </a:lnTo>
                  <a:lnTo>
                    <a:pt x="4369150" y="4369150"/>
                  </a:lnTo>
                  <a:lnTo>
                    <a:pt x="0" y="4369150"/>
                  </a:lnTo>
                  <a:close/>
                </a:path>
              </a:pathLst>
            </a:custGeom>
            <a:solidFill>
              <a:srgbClr val="5B6A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9629471" y="-57386"/>
              <a:ext cx="2620422" cy="6972537"/>
              <a:chOff x="9629471" y="-57386"/>
              <a:chExt cx="2620422" cy="6972537"/>
            </a:xfrm>
          </p:grpSpPr>
          <p:sp>
            <p:nvSpPr>
              <p:cNvPr id="45" name="任意多边形 44"/>
              <p:cNvSpPr/>
              <p:nvPr/>
            </p:nvSpPr>
            <p:spPr>
              <a:xfrm>
                <a:off x="10177462" y="5889069"/>
                <a:ext cx="2014538" cy="1007269"/>
              </a:xfrm>
              <a:custGeom>
                <a:avLst/>
                <a:gdLst>
                  <a:gd name="connsiteX0" fmla="*/ 1007269 w 2014538"/>
                  <a:gd name="connsiteY0" fmla="*/ 0 h 1007269"/>
                  <a:gd name="connsiteX1" fmla="*/ 2014538 w 2014538"/>
                  <a:gd name="connsiteY1" fmla="*/ 1007269 h 1007269"/>
                  <a:gd name="connsiteX2" fmla="*/ 0 w 2014538"/>
                  <a:gd name="connsiteY2" fmla="*/ 1007269 h 1007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14538" h="1007269">
                    <a:moveTo>
                      <a:pt x="1007269" y="0"/>
                    </a:moveTo>
                    <a:lnTo>
                      <a:pt x="2014538" y="1007269"/>
                    </a:lnTo>
                    <a:lnTo>
                      <a:pt x="0" y="1007269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任意多边形 82"/>
              <p:cNvSpPr/>
              <p:nvPr/>
            </p:nvSpPr>
            <p:spPr>
              <a:xfrm>
                <a:off x="9901083" y="2840615"/>
                <a:ext cx="2329761" cy="4074536"/>
              </a:xfrm>
              <a:custGeom>
                <a:avLst/>
                <a:gdLst>
                  <a:gd name="connsiteX0" fmla="*/ 2329761 w 2329761"/>
                  <a:gd name="connsiteY0" fmla="*/ 0 h 4074536"/>
                  <a:gd name="connsiteX1" fmla="*/ 2329761 w 2329761"/>
                  <a:gd name="connsiteY1" fmla="*/ 4074536 h 4074536"/>
                  <a:gd name="connsiteX2" fmla="*/ 1744775 w 2329761"/>
                  <a:gd name="connsiteY2" fmla="*/ 4074536 h 4074536"/>
                  <a:gd name="connsiteX3" fmla="*/ 0 w 2329761"/>
                  <a:gd name="connsiteY3" fmla="*/ 2329761 h 4074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9761" h="4074536">
                    <a:moveTo>
                      <a:pt x="2329761" y="0"/>
                    </a:moveTo>
                    <a:lnTo>
                      <a:pt x="2329761" y="4074536"/>
                    </a:lnTo>
                    <a:lnTo>
                      <a:pt x="1744775" y="4074536"/>
                    </a:lnTo>
                    <a:lnTo>
                      <a:pt x="0" y="2329761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任意多边形 80"/>
              <p:cNvSpPr/>
              <p:nvPr/>
            </p:nvSpPr>
            <p:spPr>
              <a:xfrm>
                <a:off x="10162403" y="3101936"/>
                <a:ext cx="2068440" cy="3811626"/>
              </a:xfrm>
              <a:custGeom>
                <a:avLst/>
                <a:gdLst>
                  <a:gd name="connsiteX0" fmla="*/ 2068440 w 2068440"/>
                  <a:gd name="connsiteY0" fmla="*/ 0 h 3811626"/>
                  <a:gd name="connsiteX1" fmla="*/ 2068440 w 2068440"/>
                  <a:gd name="connsiteY1" fmla="*/ 3811626 h 3811626"/>
                  <a:gd name="connsiteX2" fmla="*/ 1743186 w 2068440"/>
                  <a:gd name="connsiteY2" fmla="*/ 3811626 h 3811626"/>
                  <a:gd name="connsiteX3" fmla="*/ 0 w 2068440"/>
                  <a:gd name="connsiteY3" fmla="*/ 2068440 h 3811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68440" h="3811626">
                    <a:moveTo>
                      <a:pt x="2068440" y="0"/>
                    </a:moveTo>
                    <a:lnTo>
                      <a:pt x="2068440" y="3811626"/>
                    </a:lnTo>
                    <a:lnTo>
                      <a:pt x="1743186" y="3811626"/>
                    </a:lnTo>
                    <a:lnTo>
                      <a:pt x="0" y="2068440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任意多边形 78"/>
              <p:cNvSpPr/>
              <p:nvPr/>
            </p:nvSpPr>
            <p:spPr>
              <a:xfrm>
                <a:off x="9901084" y="-57386"/>
                <a:ext cx="2348809" cy="4093820"/>
              </a:xfrm>
              <a:custGeom>
                <a:avLst/>
                <a:gdLst>
                  <a:gd name="connsiteX0" fmla="*/ 1745011 w 2348809"/>
                  <a:gd name="connsiteY0" fmla="*/ 0 h 4093820"/>
                  <a:gd name="connsiteX1" fmla="*/ 2348809 w 2348809"/>
                  <a:gd name="connsiteY1" fmla="*/ 0 h 4093820"/>
                  <a:gd name="connsiteX2" fmla="*/ 2348809 w 2348809"/>
                  <a:gd name="connsiteY2" fmla="*/ 4093820 h 4093820"/>
                  <a:gd name="connsiteX3" fmla="*/ 0 w 2348809"/>
                  <a:gd name="connsiteY3" fmla="*/ 1745011 h 4093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48809" h="4093820">
                    <a:moveTo>
                      <a:pt x="1745011" y="0"/>
                    </a:moveTo>
                    <a:lnTo>
                      <a:pt x="2348809" y="0"/>
                    </a:lnTo>
                    <a:lnTo>
                      <a:pt x="2348809" y="4093820"/>
                    </a:lnTo>
                    <a:lnTo>
                      <a:pt x="0" y="1745011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任意多边形 76"/>
              <p:cNvSpPr/>
              <p:nvPr/>
            </p:nvSpPr>
            <p:spPr>
              <a:xfrm>
                <a:off x="10162404" y="-57149"/>
                <a:ext cx="2057866" cy="3802641"/>
              </a:xfrm>
              <a:custGeom>
                <a:avLst/>
                <a:gdLst>
                  <a:gd name="connsiteX0" fmla="*/ 1744775 w 2057866"/>
                  <a:gd name="connsiteY0" fmla="*/ 0 h 3802641"/>
                  <a:gd name="connsiteX1" fmla="*/ 2057866 w 2057866"/>
                  <a:gd name="connsiteY1" fmla="*/ 0 h 3802641"/>
                  <a:gd name="connsiteX2" fmla="*/ 2057866 w 2057866"/>
                  <a:gd name="connsiteY2" fmla="*/ 3802641 h 3802641"/>
                  <a:gd name="connsiteX3" fmla="*/ 0 w 2057866"/>
                  <a:gd name="connsiteY3" fmla="*/ 1744775 h 3802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7866" h="3802641">
                    <a:moveTo>
                      <a:pt x="1744775" y="0"/>
                    </a:moveTo>
                    <a:lnTo>
                      <a:pt x="2057866" y="0"/>
                    </a:lnTo>
                    <a:lnTo>
                      <a:pt x="2057866" y="3802641"/>
                    </a:lnTo>
                    <a:lnTo>
                      <a:pt x="0" y="1744775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任意多边形 68"/>
              <p:cNvSpPr/>
              <p:nvPr/>
            </p:nvSpPr>
            <p:spPr>
              <a:xfrm>
                <a:off x="9629471" y="857250"/>
                <a:ext cx="2601373" cy="5143500"/>
              </a:xfrm>
              <a:custGeom>
                <a:avLst/>
                <a:gdLst>
                  <a:gd name="connsiteX0" fmla="*/ 2571750 w 2601373"/>
                  <a:gd name="connsiteY0" fmla="*/ 0 h 5143500"/>
                  <a:gd name="connsiteX1" fmla="*/ 2601373 w 2601373"/>
                  <a:gd name="connsiteY1" fmla="*/ 29623 h 5143500"/>
                  <a:gd name="connsiteX2" fmla="*/ 2601373 w 2601373"/>
                  <a:gd name="connsiteY2" fmla="*/ 5113877 h 5143500"/>
                  <a:gd name="connsiteX3" fmla="*/ 2571750 w 2601373"/>
                  <a:gd name="connsiteY3" fmla="*/ 5143500 h 5143500"/>
                  <a:gd name="connsiteX4" fmla="*/ 0 w 2601373"/>
                  <a:gd name="connsiteY4" fmla="*/ 2571750 h 5143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1373" h="5143500">
                    <a:moveTo>
                      <a:pt x="2571750" y="0"/>
                    </a:moveTo>
                    <a:lnTo>
                      <a:pt x="2601373" y="29623"/>
                    </a:lnTo>
                    <a:lnTo>
                      <a:pt x="2601373" y="5113877"/>
                    </a:lnTo>
                    <a:lnTo>
                      <a:pt x="2571750" y="5143500"/>
                    </a:lnTo>
                    <a:lnTo>
                      <a:pt x="0" y="2571750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57000">
                      <a:srgbClr val="D7B26C">
                        <a:alpha val="28000"/>
                      </a:srgbClr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任意多边形 62"/>
              <p:cNvSpPr/>
              <p:nvPr/>
            </p:nvSpPr>
            <p:spPr>
              <a:xfrm>
                <a:off x="10734370" y="1962150"/>
                <a:ext cx="1466850" cy="2933700"/>
              </a:xfrm>
              <a:custGeom>
                <a:avLst/>
                <a:gdLst>
                  <a:gd name="connsiteX0" fmla="*/ 1466850 w 1466850"/>
                  <a:gd name="connsiteY0" fmla="*/ 0 h 2933700"/>
                  <a:gd name="connsiteX1" fmla="*/ 1466850 w 1466850"/>
                  <a:gd name="connsiteY1" fmla="*/ 2933700 h 2933700"/>
                  <a:gd name="connsiteX2" fmla="*/ 0 w 1466850"/>
                  <a:gd name="connsiteY2" fmla="*/ 1466850 h 2933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66850" h="2933700">
                    <a:moveTo>
                      <a:pt x="1466850" y="0"/>
                    </a:moveTo>
                    <a:lnTo>
                      <a:pt x="1466850" y="2933700"/>
                    </a:lnTo>
                    <a:lnTo>
                      <a:pt x="0" y="1466850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任意多边形 74"/>
              <p:cNvSpPr/>
              <p:nvPr/>
            </p:nvSpPr>
            <p:spPr>
              <a:xfrm>
                <a:off x="11237917" y="2465696"/>
                <a:ext cx="973877" cy="1926608"/>
              </a:xfrm>
              <a:custGeom>
                <a:avLst/>
                <a:gdLst>
                  <a:gd name="connsiteX0" fmla="*/ 963304 w 973877"/>
                  <a:gd name="connsiteY0" fmla="*/ 0 h 1926608"/>
                  <a:gd name="connsiteX1" fmla="*/ 973877 w 973877"/>
                  <a:gd name="connsiteY1" fmla="*/ 10573 h 1926608"/>
                  <a:gd name="connsiteX2" fmla="*/ 973877 w 973877"/>
                  <a:gd name="connsiteY2" fmla="*/ 1916035 h 1926608"/>
                  <a:gd name="connsiteX3" fmla="*/ 963304 w 973877"/>
                  <a:gd name="connsiteY3" fmla="*/ 1926608 h 1926608"/>
                  <a:gd name="connsiteX4" fmla="*/ 0 w 973877"/>
                  <a:gd name="connsiteY4" fmla="*/ 963304 h 192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3877" h="1926608">
                    <a:moveTo>
                      <a:pt x="963304" y="0"/>
                    </a:moveTo>
                    <a:lnTo>
                      <a:pt x="973877" y="10573"/>
                    </a:lnTo>
                    <a:lnTo>
                      <a:pt x="973877" y="1916035"/>
                    </a:lnTo>
                    <a:lnTo>
                      <a:pt x="963304" y="1926608"/>
                    </a:lnTo>
                    <a:lnTo>
                      <a:pt x="0" y="963304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57000">
                      <a:srgbClr val="D7B26C">
                        <a:alpha val="28000"/>
                      </a:srgbClr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88" name="直接连接符 87"/>
          <p:cNvCxnSpPr>
            <a:stCxn id="11" idx="2"/>
            <a:endCxn id="20" idx="2"/>
          </p:cNvCxnSpPr>
          <p:nvPr/>
        </p:nvCxnSpPr>
        <p:spPr>
          <a:xfrm flipH="1">
            <a:off x="409568" y="1452513"/>
            <a:ext cx="1" cy="3961076"/>
          </a:xfrm>
          <a:prstGeom prst="line">
            <a:avLst/>
          </a:prstGeom>
          <a:ln w="38100">
            <a:gradFill flip="none" rotWithShape="1">
              <a:gsLst>
                <a:gs pos="0">
                  <a:srgbClr val="D7B26C"/>
                </a:gs>
                <a:gs pos="47000">
                  <a:srgbClr val="D7B26C">
                    <a:alpha val="64000"/>
                  </a:srgbClr>
                </a:gs>
                <a:gs pos="79000">
                  <a:srgbClr val="D7B26C">
                    <a:alpha val="36000"/>
                  </a:srgbClr>
                </a:gs>
                <a:gs pos="25000">
                  <a:srgbClr val="D7B26C">
                    <a:alpha val="40000"/>
                  </a:srgbClr>
                </a:gs>
                <a:gs pos="100000">
                  <a:srgbClr val="D7B26C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074160" y="5007749"/>
            <a:ext cx="36652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2024.6.17</a:t>
            </a:r>
            <a:endParaRPr lang="en-US" altLang="zh-CN" sz="2800" b="1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74925" y="2714625"/>
            <a:ext cx="64985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不同数据集下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代码实现</a:t>
            </a:r>
            <a:r>
              <a:rPr lang="en-US" altLang="zh-CN" dirty="0">
                <a:sym typeface="+mn-ea"/>
              </a:rPr>
              <a:t>YOLOv8</a:t>
            </a:r>
            <a:r>
              <a:rPr lang="zh-CN" altLang="en-US" dirty="0"/>
              <a:t>语义分割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30201" y="14054"/>
            <a:ext cx="31315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数据集：</a:t>
            </a:r>
            <a:r>
              <a:rPr lang="en-US" altLang="zh-CN" dirty="0"/>
              <a:t>CIHP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247650" y="3684270"/>
            <a:ext cx="529907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>
                <a:sym typeface="+mn-ea"/>
              </a:rPr>
              <a:t>CIHP</a:t>
            </a:r>
            <a:r>
              <a:rPr lang="zh-CN" altLang="en-US" b="1">
                <a:sym typeface="+mn-ea"/>
              </a:rPr>
              <a:t>数据集类别：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1.帽子 2.头发 3.手套 4.太阳镜 5.上衣 6.连衣裙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7.外套 8.袜子9.裤子 10.躯干皮肤 11.围巾 12.裙子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13.脸 14.左臂 15.右臂 16.左腿 17.右腿 18.左鞋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 19.右鞋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1.Hat 2.Hair 3.Glove 4.Sunglasses 5.UpperClothes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6.Dress 7.Coat 8.Socks 9.Pants 10.Torso-skin 11.Scarf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12.Skirt 13.Face 14.Left-arm 15.Right-arm 16.Left-leg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17.Right-leg 18.Left-shoe 19.Right-shoe</a:t>
            </a:r>
            <a:endParaRPr lang="zh-CN" altLang="en-US" b="1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38975" y="3684270"/>
            <a:ext cx="35483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dirty="0"/>
              <a:t>CHIP</a:t>
            </a:r>
            <a:r>
              <a:rPr lang="zh-CN" altLang="en-US" sz="2000" b="1" dirty="0"/>
              <a:t>等数据集的介绍参考链接</a:t>
            </a:r>
            <a:endParaRPr lang="zh-CN" altLang="en-US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5547360" y="4229735"/>
            <a:ext cx="671068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dirty="0">
                <a:hlinkClick r:id="rId1"/>
              </a:rPr>
              <a:t>https://blog.csdn.net/wxf19940618/article/details/83661891</a:t>
            </a:r>
            <a:endParaRPr lang="en-US" altLang="zh-CN" sz="2000" dirty="0"/>
          </a:p>
          <a:p>
            <a:r>
              <a:rPr lang="en-US" altLang="zh-CN" sz="2000" dirty="0">
                <a:hlinkClick r:id="rId2"/>
              </a:rPr>
              <a:t>https://blog.csdn.net/qq_41994006/article/details/126191667</a:t>
            </a:r>
            <a:endParaRPr lang="en-US" altLang="zh-CN" sz="2000" dirty="0"/>
          </a:p>
          <a:p>
            <a:r>
              <a:rPr lang="en-US" altLang="zh-CN" sz="2000" dirty="0">
                <a:hlinkClick r:id="rId3"/>
              </a:rPr>
              <a:t>https://blog.csdn.net/weixin_41809530/article/details/120237242</a:t>
            </a:r>
            <a:endParaRPr lang="en-US" altLang="zh-CN" sz="2000" dirty="0"/>
          </a:p>
          <a:p>
            <a:r>
              <a:rPr lang="en-US" altLang="zh-CN" sz="2000" dirty="0">
                <a:hlinkClick r:id="rId4"/>
              </a:rPr>
              <a:t>https://blog.csdn.net/hyk_1996/article/details/91974621</a:t>
            </a:r>
            <a:endParaRPr lang="en-US" altLang="zh-CN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7199630" y="5892800"/>
            <a:ext cx="32270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/>
              <a:t>CHIP</a:t>
            </a:r>
            <a:r>
              <a:rPr lang="zh-CN" altLang="en-US" sz="2000" b="1"/>
              <a:t>等数据集的下载链接</a:t>
            </a:r>
            <a:endParaRPr lang="zh-CN" altLang="en-US" sz="2000" b="1"/>
          </a:p>
        </p:txBody>
      </p:sp>
      <p:sp>
        <p:nvSpPr>
          <p:cNvPr id="12" name="文本框 11"/>
          <p:cNvSpPr txBox="1"/>
          <p:nvPr/>
        </p:nvSpPr>
        <p:spPr>
          <a:xfrm>
            <a:off x="6634480" y="6324600"/>
            <a:ext cx="45370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ClrTx/>
              <a:buSzTx/>
              <a:buFontTx/>
            </a:pPr>
            <a:r>
              <a:rPr lang="en-US" altLang="zh-CN" sz="2000" dirty="0">
                <a:sym typeface="+mn-ea"/>
                <a:hlinkClick r:id="rId5"/>
              </a:rPr>
              <a:t>https://sysu-hcp.net/lip/overview.php</a:t>
            </a:r>
            <a:endParaRPr lang="en-US" altLang="zh-CN" sz="2000" dirty="0">
              <a:sym typeface="+mn-ea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6"/>
          <a:stretch>
            <a:fillRect/>
          </a:stretch>
        </p:blipFill>
        <p:spPr>
          <a:xfrm>
            <a:off x="106045" y="562610"/>
            <a:ext cx="4864735" cy="30333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7"/>
          <a:stretch>
            <a:fillRect/>
          </a:stretch>
        </p:blipFill>
        <p:spPr>
          <a:xfrm>
            <a:off x="5112068" y="893128"/>
            <a:ext cx="7038975" cy="2371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11" y="14054"/>
            <a:ext cx="31315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一、数据集介绍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259195" y="768350"/>
            <a:ext cx="542480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/>
              <a:t>human_body</a:t>
            </a:r>
            <a:r>
              <a:rPr lang="zh-CN" altLang="en-US" b="1"/>
              <a:t>数据集是从</a:t>
            </a:r>
            <a:r>
              <a:rPr lang="en-US" altLang="zh-CN" b="1"/>
              <a:t>CHIP</a:t>
            </a:r>
            <a:r>
              <a:rPr lang="zh-CN" altLang="en-US" b="1"/>
              <a:t>数据集的测试集中取了其中</a:t>
            </a:r>
            <a:r>
              <a:rPr lang="en-US" altLang="zh-CN" b="1"/>
              <a:t>100</a:t>
            </a:r>
            <a:r>
              <a:rPr lang="zh-CN" altLang="en-US" b="1"/>
              <a:t>多张图片作为训练集和验证集，且设定的类别较</a:t>
            </a:r>
            <a:r>
              <a:rPr lang="en-US" altLang="zh-CN" b="1"/>
              <a:t>CHIP</a:t>
            </a:r>
            <a:r>
              <a:rPr lang="zh-CN" altLang="en-US" b="1"/>
              <a:t>简化为：</a:t>
            </a:r>
            <a:endParaRPr lang="en-US" altLang="zh-CN" b="1"/>
          </a:p>
          <a:p>
            <a:endParaRPr lang="en-US" altLang="zh-CN" b="1"/>
          </a:p>
          <a:p>
            <a:r>
              <a:rPr lang="en-US" altLang="zh-CN" b="1"/>
              <a:t>1.</a:t>
            </a:r>
            <a:r>
              <a:rPr lang="zh-CN" altLang="en-US" b="1"/>
              <a:t>hat </a:t>
            </a:r>
            <a:r>
              <a:rPr lang="en-US" altLang="zh-CN" b="1"/>
              <a:t>2.</a:t>
            </a:r>
            <a:r>
              <a:rPr lang="zh-CN" altLang="en-US" b="1"/>
              <a:t>UpperClothes</a:t>
            </a:r>
            <a:r>
              <a:rPr lang="en-US" altLang="zh-CN" b="1"/>
              <a:t> 3.</a:t>
            </a:r>
            <a:r>
              <a:rPr lang="zh-CN" altLang="en-US" b="1"/>
              <a:t>pants</a:t>
            </a:r>
            <a:r>
              <a:rPr lang="en-US" altLang="zh-CN" b="1"/>
              <a:t> 4.</a:t>
            </a:r>
            <a:r>
              <a:rPr lang="zh-CN" altLang="en-US" b="1"/>
              <a:t>shoe </a:t>
            </a:r>
            <a:r>
              <a:rPr lang="en-US" altLang="zh-CN" b="1"/>
              <a:t>5.</a:t>
            </a:r>
            <a:r>
              <a:rPr lang="zh-CN" altLang="en-US" b="1"/>
              <a:t>skirt </a:t>
            </a:r>
            <a:r>
              <a:rPr lang="en-US" altLang="zh-CN" b="1"/>
              <a:t>6.</a:t>
            </a:r>
            <a:r>
              <a:rPr lang="zh-CN" altLang="en-US" b="1"/>
              <a:t>head</a:t>
            </a:r>
            <a:r>
              <a:rPr lang="en-US" altLang="zh-CN" b="1"/>
              <a:t> 7.</a:t>
            </a:r>
            <a:r>
              <a:rPr lang="zh-CN" altLang="en-US" b="1"/>
              <a:t>arm </a:t>
            </a:r>
            <a:r>
              <a:rPr lang="en-US" altLang="zh-CN" b="1"/>
              <a:t>8.</a:t>
            </a:r>
            <a:r>
              <a:rPr lang="zh-CN" altLang="en-US" b="1"/>
              <a:t>leg </a:t>
            </a:r>
            <a:r>
              <a:rPr lang="en-US" altLang="zh-CN" b="1"/>
              <a:t>9.</a:t>
            </a:r>
            <a:r>
              <a:rPr lang="zh-CN" altLang="en-US" b="1"/>
              <a:t>body</a:t>
            </a:r>
            <a:endParaRPr lang="zh-CN" altLang="en-US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663825"/>
            <a:ext cx="7050405" cy="3966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355" y="2663190"/>
            <a:ext cx="7052310" cy="39674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4113530" y="13970"/>
            <a:ext cx="46755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自己做的数据集：human_body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11" y="14054"/>
            <a:ext cx="31315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一、数据集介绍</a:t>
            </a:r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579755" y="768350"/>
            <a:ext cx="526161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>
                <a:sym typeface="+mn-ea"/>
              </a:rPr>
              <a:t>CIHP</a:t>
            </a:r>
            <a:r>
              <a:rPr lang="zh-CN" altLang="en-US" b="1">
                <a:sym typeface="+mn-ea"/>
              </a:rPr>
              <a:t>数据集类别：</a:t>
            </a:r>
            <a:endParaRPr lang="zh-CN" altLang="en-US" b="1">
              <a:sym typeface="+mn-ea"/>
            </a:endParaRPr>
          </a:p>
          <a:p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1.Hat 2.Hair 3.Glove 4.Sunglasses 5.UpperClothes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6.Dress 7.Coat 8.Socks 9.Pants 10.Torso-skin 11.Scarf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12.Skirt 13.Face 14.Left-arm 15.Right-arm 16.Left-leg </a:t>
            </a:r>
            <a:endParaRPr lang="zh-CN" altLang="en-US" b="1">
              <a:sym typeface="+mn-ea"/>
            </a:endParaRPr>
          </a:p>
          <a:p>
            <a:r>
              <a:rPr lang="zh-CN" altLang="en-US" b="1">
                <a:sym typeface="+mn-ea"/>
              </a:rPr>
              <a:t>17.Right-leg 18.Left-shoe 19.Right-shoe</a:t>
            </a:r>
            <a:endParaRPr lang="zh-CN" altLang="en-US" b="1"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898515" y="602615"/>
            <a:ext cx="0" cy="1932305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labe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7115" y="452755"/>
            <a:ext cx="6405245" cy="6405245"/>
          </a:xfrm>
          <a:prstGeom prst="rect">
            <a:avLst/>
          </a:prstGeom>
        </p:spPr>
      </p:pic>
      <p:pic>
        <p:nvPicPr>
          <p:cNvPr id="3" name="图片 2" descr="labe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2755"/>
            <a:ext cx="6405245" cy="64052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52470" y="0"/>
            <a:ext cx="735711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人体分割数据集</a:t>
            </a:r>
            <a:r>
              <a:rPr lang="en-US" altLang="zh-CN" sz="2000" dirty="0"/>
              <a:t>CHIP</a:t>
            </a:r>
            <a:r>
              <a:rPr lang="zh-CN" altLang="en-US" sz="2000" dirty="0"/>
              <a:t>和human_body的实例和预测框分布对比</a:t>
            </a:r>
            <a:endParaRPr lang="zh-CN" altLang="en-US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111" y="14054"/>
            <a:ext cx="31315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一、数据集介绍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874645" y="551815"/>
            <a:ext cx="106743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en-US" altLang="zh-CN" sz="2000" dirty="0"/>
              <a:t>CHIP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8669655" y="551815"/>
            <a:ext cx="183197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en-US" altLang="zh-CN" sz="2000" dirty="0"/>
              <a:t>human_body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13530" y="13970"/>
            <a:ext cx="46755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经典的分割数据集：coco128-seg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11" y="14054"/>
            <a:ext cx="31315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一、数据集介绍</a:t>
            </a:r>
            <a:endParaRPr lang="en-US" altLang="zh-CN" dirty="0"/>
          </a:p>
        </p:txBody>
      </p:sp>
      <p:pic>
        <p:nvPicPr>
          <p:cNvPr id="6" name="图片 5" descr="0000000006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500" y="3764280"/>
            <a:ext cx="4254500" cy="2964815"/>
          </a:xfrm>
          <a:prstGeom prst="rect">
            <a:avLst/>
          </a:prstGeom>
        </p:spPr>
      </p:pic>
      <p:pic>
        <p:nvPicPr>
          <p:cNvPr id="9" name="图片 8" descr="0000000002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65550"/>
            <a:ext cx="3952875" cy="2964815"/>
          </a:xfrm>
          <a:prstGeom prst="rect">
            <a:avLst/>
          </a:prstGeom>
        </p:spPr>
      </p:pic>
      <p:pic>
        <p:nvPicPr>
          <p:cNvPr id="10" name="图片 9" descr="0000000000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5" y="3764280"/>
            <a:ext cx="4452620" cy="296354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795036" y="1302534"/>
            <a:ext cx="4163470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>
                <a:hlinkClick r:id="rId4"/>
              </a:rPr>
              <a:t>https://blog.csdn.net/babbycool/article/details/123115899</a:t>
            </a:r>
            <a:endParaRPr lang="en-US" altLang="zh-CN" dirty="0">
              <a:hlinkClick r:id="rId5"/>
            </a:endParaRPr>
          </a:p>
          <a:p>
            <a:r>
              <a:rPr lang="zh-CN" altLang="en-US" dirty="0">
                <a:hlinkClick r:id="rId5"/>
              </a:rPr>
              <a:t>https://blog.csdn.net/weixin_51031772/article/details/135679015</a:t>
            </a:r>
            <a:endParaRPr lang="en-US" altLang="zh-CN" dirty="0"/>
          </a:p>
          <a:p>
            <a:r>
              <a:rPr lang="en-US" altLang="zh-CN" dirty="0">
                <a:hlinkClick r:id="rId6"/>
              </a:rPr>
              <a:t>https://blog.csdn.net/oYeZhou/article/details/112008054</a:t>
            </a:r>
            <a:endParaRPr lang="en-US" altLang="zh-CN" dirty="0"/>
          </a:p>
          <a:p>
            <a:r>
              <a:rPr lang="en-US" altLang="zh-CN" dirty="0">
                <a:hlinkClick r:id="rId7"/>
              </a:rPr>
              <a:t>https://blog.csdn.net/XDH19910113/article/details/125299757</a:t>
            </a:r>
            <a:endParaRPr lang="en-US" altLang="zh-CN" dirty="0"/>
          </a:p>
        </p:txBody>
      </p:sp>
      <p:sp>
        <p:nvSpPr>
          <p:cNvPr id="14" name="文本框 13"/>
          <p:cNvSpPr txBox="1"/>
          <p:nvPr/>
        </p:nvSpPr>
        <p:spPr>
          <a:xfrm>
            <a:off x="7795036" y="723996"/>
            <a:ext cx="40309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dirty="0"/>
              <a:t>coco128-seg</a:t>
            </a:r>
            <a:r>
              <a:rPr lang="zh-CN" altLang="en-US" sz="2000" b="1" dirty="0"/>
              <a:t>数据集的介绍参考链接</a:t>
            </a:r>
            <a:endParaRPr lang="zh-CN" altLang="en-US" sz="2000" b="1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7144871" y="546847"/>
            <a:ext cx="0" cy="3135495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393190" y="723900"/>
            <a:ext cx="45294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000" b="1" dirty="0"/>
              <a:t>coco128-seg</a:t>
            </a:r>
            <a:r>
              <a:rPr lang="zh-CN" altLang="en-US" sz="2000" b="1" dirty="0"/>
              <a:t>数据集（可以对整个人分割）</a:t>
            </a:r>
            <a:endParaRPr lang="zh-CN" altLang="en-US" sz="20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233494" y="1106727"/>
            <a:ext cx="684903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 MS COCO的全称是Microsoft Common Objects in Context，起源于微软于2014年出资标注的Microsoft COCO数据集，与ImageNet竞赛一样，被视为是计算机视觉领域最受关注和最权威的比赛之一。         COCO数据集是一个大型的、丰富的物体检测，分割和字幕数据集。这个数据集以scene understanding为目标，主要从复杂的日常场景中截取，图像中的目标通过精确的segmentation进行位置的标定。图像包括91类目标，328,000影像和2,500,000个label。目前为止有语义分割的最大数据集，提供的类别有80 类，有超过33 万张图片，其中20 万张有标注，整个数据集中个体的数目超过150 万个。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b="19918"/>
          <a:stretch>
            <a:fillRect/>
          </a:stretch>
        </p:blipFill>
        <p:spPr>
          <a:xfrm>
            <a:off x="294005" y="4118610"/>
            <a:ext cx="11457940" cy="27393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0" y="527050"/>
            <a:ext cx="12313920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/>
              <a:t>person(人)</a:t>
            </a:r>
            <a:endParaRPr lang="zh-CN" altLang="en-US" sz="1600" b="1"/>
          </a:p>
          <a:p>
            <a:r>
              <a:rPr lang="zh-CN" altLang="en-US" sz="1600" b="1"/>
              <a:t>交通工具：bicycle(自行车) </a:t>
            </a:r>
            <a:r>
              <a:rPr lang="en-US" altLang="zh-CN" sz="1600" b="1"/>
              <a:t> </a:t>
            </a:r>
            <a:r>
              <a:rPr lang="zh-CN" altLang="en-US" sz="1600" b="1"/>
              <a:t>car(汽车) </a:t>
            </a:r>
            <a:r>
              <a:rPr lang="en-US" altLang="zh-CN" sz="1600" b="1"/>
              <a:t> </a:t>
            </a:r>
            <a:r>
              <a:rPr lang="zh-CN" altLang="en-US" sz="1600" b="1"/>
              <a:t>motorbike(摩托车) </a:t>
            </a:r>
            <a:r>
              <a:rPr lang="en-US" altLang="zh-CN" sz="1600" b="1"/>
              <a:t> </a:t>
            </a:r>
            <a:r>
              <a:rPr lang="zh-CN" altLang="en-US" sz="1600" b="1"/>
              <a:t>aeroplane(飞机)</a:t>
            </a:r>
            <a:r>
              <a:rPr lang="en-US" altLang="zh-CN" sz="1600" b="1"/>
              <a:t> </a:t>
            </a:r>
            <a:r>
              <a:rPr lang="zh-CN" altLang="en-US" sz="1600" b="1"/>
              <a:t> bus(公共汽车)</a:t>
            </a:r>
            <a:r>
              <a:rPr lang="en-US" altLang="zh-CN" sz="1600" b="1"/>
              <a:t> </a:t>
            </a:r>
            <a:r>
              <a:rPr lang="zh-CN" altLang="en-US" sz="1600" b="1"/>
              <a:t> train(火车)</a:t>
            </a:r>
            <a:r>
              <a:rPr lang="en-US" altLang="zh-CN" sz="1600" b="1"/>
              <a:t> </a:t>
            </a:r>
            <a:r>
              <a:rPr lang="zh-CN" altLang="en-US" sz="1600" b="1"/>
              <a:t> truck(卡车)</a:t>
            </a:r>
            <a:r>
              <a:rPr lang="en-US" altLang="zh-CN" sz="1600" b="1"/>
              <a:t> </a:t>
            </a:r>
            <a:r>
              <a:rPr lang="zh-CN" altLang="en-US" sz="1600" b="1"/>
              <a:t> boat(船)</a:t>
            </a:r>
            <a:endParaRPr lang="zh-CN" altLang="en-US" sz="1600" b="1"/>
          </a:p>
          <a:p>
            <a:r>
              <a:rPr lang="zh-CN" altLang="en-US" sz="1600" b="1"/>
              <a:t>公共设施：traffic light(信号灯)</a:t>
            </a:r>
            <a:r>
              <a:rPr lang="en-US" altLang="zh-CN" sz="1600" b="1"/>
              <a:t> </a:t>
            </a:r>
            <a:r>
              <a:rPr lang="zh-CN" altLang="en-US" sz="1600" b="1"/>
              <a:t> fire hydrant(消防栓)</a:t>
            </a:r>
            <a:r>
              <a:rPr lang="en-US" altLang="zh-CN" sz="1600" b="1"/>
              <a:t> </a:t>
            </a:r>
            <a:r>
              <a:rPr lang="zh-CN" altLang="en-US" sz="1600" b="1"/>
              <a:t> stop sign(停车标志)</a:t>
            </a:r>
            <a:r>
              <a:rPr lang="en-US" altLang="zh-CN" sz="1600" b="1"/>
              <a:t> </a:t>
            </a:r>
            <a:r>
              <a:rPr lang="zh-CN" altLang="en-US" sz="1600" b="1"/>
              <a:t> parking meter(停车计费器)</a:t>
            </a:r>
            <a:r>
              <a:rPr lang="en-US" altLang="zh-CN" sz="1600" b="1"/>
              <a:t> </a:t>
            </a:r>
            <a:r>
              <a:rPr lang="zh-CN" altLang="en-US" sz="1600" b="1"/>
              <a:t> bench(长凳)</a:t>
            </a:r>
            <a:endParaRPr lang="zh-CN" altLang="en-US" sz="1600" b="1"/>
          </a:p>
          <a:p>
            <a:r>
              <a:rPr lang="zh-CN" altLang="en-US" sz="1600" b="1"/>
              <a:t>动物：bird(鸟) </a:t>
            </a:r>
            <a:r>
              <a:rPr lang="en-US" altLang="zh-CN" sz="1600" b="1"/>
              <a:t> </a:t>
            </a:r>
            <a:r>
              <a:rPr lang="zh-CN" altLang="en-US" sz="1600" b="1"/>
              <a:t>cat(猫)</a:t>
            </a:r>
            <a:r>
              <a:rPr lang="en-US" altLang="zh-CN" sz="1600" b="1"/>
              <a:t> </a:t>
            </a:r>
            <a:r>
              <a:rPr lang="zh-CN" altLang="en-US" sz="1600" b="1"/>
              <a:t> dog(狗)</a:t>
            </a:r>
            <a:r>
              <a:rPr lang="en-US" altLang="zh-CN" sz="1600" b="1"/>
              <a:t> </a:t>
            </a:r>
            <a:r>
              <a:rPr lang="zh-CN" altLang="en-US" sz="1600" b="1"/>
              <a:t> horse(马) </a:t>
            </a:r>
            <a:r>
              <a:rPr lang="en-US" altLang="zh-CN" sz="1600" b="1"/>
              <a:t> </a:t>
            </a:r>
            <a:r>
              <a:rPr lang="zh-CN" altLang="en-US" sz="1600" b="1"/>
              <a:t>sheep(羊)</a:t>
            </a:r>
            <a:r>
              <a:rPr lang="en-US" altLang="zh-CN" sz="1600" b="1"/>
              <a:t> </a:t>
            </a:r>
            <a:r>
              <a:rPr lang="zh-CN" altLang="en-US" sz="1600" b="1"/>
              <a:t> cow(牛) </a:t>
            </a:r>
            <a:r>
              <a:rPr lang="en-US" altLang="zh-CN" sz="1600" b="1"/>
              <a:t> </a:t>
            </a:r>
            <a:r>
              <a:rPr lang="zh-CN" altLang="en-US" sz="1600" b="1"/>
              <a:t>elephant(大象)</a:t>
            </a:r>
            <a:r>
              <a:rPr lang="en-US" altLang="zh-CN" sz="1600" b="1"/>
              <a:t> </a:t>
            </a:r>
            <a:r>
              <a:rPr lang="zh-CN" altLang="en-US" sz="1600" b="1"/>
              <a:t> bear(熊)</a:t>
            </a:r>
            <a:r>
              <a:rPr lang="en-US" altLang="zh-CN" sz="1600" b="1"/>
              <a:t> </a:t>
            </a:r>
            <a:r>
              <a:rPr lang="zh-CN" altLang="en-US" sz="1600" b="1"/>
              <a:t> zebra(斑马) </a:t>
            </a:r>
            <a:r>
              <a:rPr lang="en-US" altLang="zh-CN" sz="1600" b="1"/>
              <a:t> </a:t>
            </a:r>
            <a:r>
              <a:rPr lang="zh-CN" altLang="en-US" sz="1600" b="1"/>
              <a:t>giraffe(长颈鹿)</a:t>
            </a:r>
            <a:endParaRPr lang="zh-CN" altLang="en-US" sz="1600" b="1"/>
          </a:p>
          <a:p>
            <a:r>
              <a:rPr lang="zh-CN" altLang="en-US" sz="1600" b="1"/>
              <a:t>生活用品：backpack(背包)</a:t>
            </a:r>
            <a:r>
              <a:rPr lang="en-US" altLang="zh-CN" sz="1600" b="1"/>
              <a:t> </a:t>
            </a:r>
            <a:r>
              <a:rPr lang="zh-CN" altLang="en-US" sz="1600" b="1"/>
              <a:t> umbrella(雨伞) </a:t>
            </a:r>
            <a:r>
              <a:rPr lang="en-US" altLang="zh-CN" sz="1600" b="1"/>
              <a:t> </a:t>
            </a:r>
            <a:r>
              <a:rPr lang="zh-CN" altLang="en-US" sz="1600" b="1"/>
              <a:t>handbag(手提包)</a:t>
            </a:r>
            <a:r>
              <a:rPr lang="en-US" altLang="zh-CN" sz="1600" b="1"/>
              <a:t> </a:t>
            </a:r>
            <a:r>
              <a:rPr lang="zh-CN" altLang="en-US" sz="1600" b="1"/>
              <a:t> tie(领带) </a:t>
            </a:r>
            <a:r>
              <a:rPr lang="en-US" altLang="zh-CN" sz="1600" b="1"/>
              <a:t> </a:t>
            </a:r>
            <a:r>
              <a:rPr lang="zh-CN" altLang="en-US" sz="1600" b="1"/>
              <a:t>suitcase(手提箱)</a:t>
            </a:r>
            <a:endParaRPr lang="zh-CN" altLang="en-US" sz="1600" b="1"/>
          </a:p>
          <a:p>
            <a:r>
              <a:rPr lang="zh-CN" altLang="en-US" sz="1600" b="1"/>
              <a:t>运动装备：frisbee(飞盘) </a:t>
            </a:r>
            <a:r>
              <a:rPr lang="en-US" altLang="zh-CN" sz="1600" b="1"/>
              <a:t> </a:t>
            </a:r>
            <a:r>
              <a:rPr lang="zh-CN" altLang="en-US" sz="1600" b="1"/>
              <a:t>skis(滑雪板双脚)</a:t>
            </a:r>
            <a:r>
              <a:rPr lang="en-US" altLang="zh-CN" sz="1600" b="1"/>
              <a:t> </a:t>
            </a:r>
            <a:r>
              <a:rPr lang="zh-CN" altLang="en-US" sz="1600" b="1"/>
              <a:t> snowboard(滑雪板) </a:t>
            </a:r>
            <a:r>
              <a:rPr lang="en-US" altLang="zh-CN" sz="1600" b="1"/>
              <a:t> </a:t>
            </a:r>
            <a:r>
              <a:rPr lang="zh-CN" altLang="en-US" sz="1600" b="1"/>
              <a:t>sports ball(运动球)</a:t>
            </a:r>
            <a:r>
              <a:rPr lang="en-US" altLang="zh-CN" sz="1600" b="1"/>
              <a:t> </a:t>
            </a:r>
            <a:r>
              <a:rPr lang="zh-CN" altLang="en-US" sz="1600" b="1"/>
              <a:t> kite(风筝)</a:t>
            </a:r>
            <a:r>
              <a:rPr lang="en-US" altLang="zh-CN" sz="1600" b="1"/>
              <a:t> </a:t>
            </a:r>
            <a:r>
              <a:rPr lang="zh-CN" altLang="en-US" sz="1600" b="1"/>
              <a:t> baseball bat(棒球棒)</a:t>
            </a:r>
            <a:r>
              <a:rPr lang="en-US" altLang="zh-CN" sz="1600" b="1"/>
              <a:t> </a:t>
            </a:r>
            <a:r>
              <a:rPr lang="zh-CN" altLang="en-US" sz="1600" b="1"/>
              <a:t> baseball glove(棒球手套)</a:t>
            </a:r>
            <a:r>
              <a:rPr lang="en-US" altLang="zh-CN" sz="1600" b="1"/>
              <a:t> </a:t>
            </a:r>
            <a:r>
              <a:rPr lang="zh-CN" altLang="en-US" sz="1600" b="1"/>
              <a:t> skateboard(滑板) </a:t>
            </a:r>
            <a:r>
              <a:rPr lang="en-US" altLang="zh-CN" sz="1600" b="1"/>
              <a:t> </a:t>
            </a:r>
            <a:r>
              <a:rPr lang="zh-CN" altLang="en-US" sz="1600" b="1"/>
              <a:t>surfboard(冲浪板) </a:t>
            </a:r>
            <a:r>
              <a:rPr lang="en-US" altLang="zh-CN" sz="1600" b="1"/>
              <a:t> </a:t>
            </a:r>
            <a:r>
              <a:rPr lang="zh-CN" altLang="en-US" sz="1600" b="1"/>
              <a:t>tennis racket(网球拍)</a:t>
            </a:r>
            <a:endParaRPr lang="zh-CN" altLang="en-US" sz="1600" b="1"/>
          </a:p>
          <a:p>
            <a:r>
              <a:rPr lang="zh-CN" altLang="en-US" sz="1600" b="1"/>
              <a:t>餐具：bottle(瓶子) </a:t>
            </a:r>
            <a:r>
              <a:rPr lang="en-US" altLang="zh-CN" sz="1600" b="1"/>
              <a:t> </a:t>
            </a:r>
            <a:r>
              <a:rPr lang="zh-CN" altLang="en-US" sz="1600" b="1"/>
              <a:t>wine glass(高脚杯) </a:t>
            </a:r>
            <a:r>
              <a:rPr lang="en-US" altLang="zh-CN" sz="1600" b="1"/>
              <a:t> </a:t>
            </a:r>
            <a:r>
              <a:rPr lang="zh-CN" altLang="en-US" sz="1600" b="1"/>
              <a:t>cup(茶杯) </a:t>
            </a:r>
            <a:r>
              <a:rPr lang="en-US" altLang="zh-CN" sz="1600" b="1"/>
              <a:t> </a:t>
            </a:r>
            <a:r>
              <a:rPr lang="zh-CN" altLang="en-US" sz="1600" b="1"/>
              <a:t>fork(叉子) </a:t>
            </a:r>
            <a:r>
              <a:rPr lang="en-US" altLang="zh-CN" sz="1600" b="1"/>
              <a:t> </a:t>
            </a:r>
            <a:r>
              <a:rPr lang="zh-CN" altLang="en-US" sz="1600" b="1"/>
              <a:t>knife(刀)</a:t>
            </a:r>
            <a:r>
              <a:rPr lang="en-US" altLang="zh-CN" sz="1600" b="1"/>
              <a:t>  </a:t>
            </a:r>
            <a:r>
              <a:rPr lang="zh-CN" altLang="en-US" sz="1600" b="1"/>
              <a:t>spoon(勺子)</a:t>
            </a:r>
            <a:r>
              <a:rPr lang="en-US" altLang="zh-CN" sz="1600" b="1"/>
              <a:t> </a:t>
            </a:r>
            <a:r>
              <a:rPr lang="zh-CN" altLang="en-US" sz="1600" b="1"/>
              <a:t> bowl(碗)</a:t>
            </a:r>
            <a:endParaRPr lang="zh-CN" altLang="en-US" sz="1600" b="1"/>
          </a:p>
          <a:p>
            <a:r>
              <a:rPr lang="zh-CN" altLang="en-US" sz="1600" b="1"/>
              <a:t>水果：banana(香蕉)</a:t>
            </a:r>
            <a:r>
              <a:rPr lang="en-US" altLang="zh-CN" sz="1600" b="1"/>
              <a:t> </a:t>
            </a:r>
            <a:r>
              <a:rPr lang="zh-CN" altLang="en-US" sz="1600" b="1"/>
              <a:t> apple(苹果) </a:t>
            </a:r>
            <a:r>
              <a:rPr lang="en-US" altLang="zh-CN" sz="1600" b="1"/>
              <a:t> </a:t>
            </a:r>
            <a:r>
              <a:rPr lang="zh-CN" altLang="en-US" sz="1600" b="1"/>
              <a:t>sandwich(三明治) </a:t>
            </a:r>
            <a:r>
              <a:rPr lang="en-US" altLang="zh-CN" sz="1600" b="1"/>
              <a:t> </a:t>
            </a:r>
            <a:r>
              <a:rPr lang="zh-CN" altLang="en-US" sz="1600" b="1"/>
              <a:t>orange(橘子)</a:t>
            </a:r>
            <a:r>
              <a:rPr lang="en-US" altLang="zh-CN" sz="1600" b="1"/>
              <a:t> </a:t>
            </a:r>
            <a:r>
              <a:rPr lang="zh-CN" altLang="en-US" sz="1600" b="1"/>
              <a:t> broccoli(西兰花) </a:t>
            </a:r>
            <a:r>
              <a:rPr lang="en-US" altLang="zh-CN" sz="1600" b="1"/>
              <a:t> </a:t>
            </a:r>
            <a:r>
              <a:rPr lang="zh-CN" altLang="en-US" sz="1600" b="1"/>
              <a:t>carrot(胡萝卜)</a:t>
            </a:r>
            <a:r>
              <a:rPr lang="en-US" altLang="zh-CN" sz="1600" b="1"/>
              <a:t> </a:t>
            </a:r>
            <a:r>
              <a:rPr lang="zh-CN" altLang="en-US" sz="1600" b="1"/>
              <a:t> hot dog(热狗)</a:t>
            </a:r>
            <a:r>
              <a:rPr lang="en-US" altLang="zh-CN" sz="1600" b="1"/>
              <a:t> </a:t>
            </a:r>
            <a:r>
              <a:rPr lang="zh-CN" altLang="en-US" sz="1600" b="1"/>
              <a:t> pizza(披萨) </a:t>
            </a:r>
            <a:r>
              <a:rPr lang="en-US" altLang="zh-CN" sz="1600" b="1"/>
              <a:t> </a:t>
            </a:r>
            <a:r>
              <a:rPr lang="zh-CN" altLang="en-US" sz="1600" b="1"/>
              <a:t>donut(甜甜圈) cake(蛋糕)</a:t>
            </a:r>
            <a:endParaRPr lang="zh-CN" altLang="en-US" sz="1600" b="1"/>
          </a:p>
          <a:p>
            <a:r>
              <a:rPr lang="zh-CN" altLang="en-US" sz="1600" b="1"/>
              <a:t>家居：chair(椅子) </a:t>
            </a:r>
            <a:r>
              <a:rPr lang="en-US" altLang="zh-CN" sz="1600" b="1"/>
              <a:t> </a:t>
            </a:r>
            <a:r>
              <a:rPr lang="zh-CN" altLang="en-US" sz="1600" b="1"/>
              <a:t>sofa(沙发) </a:t>
            </a:r>
            <a:r>
              <a:rPr lang="en-US" altLang="zh-CN" sz="1600" b="1"/>
              <a:t> </a:t>
            </a:r>
            <a:r>
              <a:rPr lang="zh-CN" altLang="en-US" sz="1600" b="1"/>
              <a:t>pottedplant(盆栽植物) </a:t>
            </a:r>
            <a:r>
              <a:rPr lang="en-US" altLang="zh-CN" sz="1600" b="1"/>
              <a:t> </a:t>
            </a:r>
            <a:r>
              <a:rPr lang="zh-CN" altLang="en-US" sz="1600" b="1"/>
              <a:t>bed(床) </a:t>
            </a:r>
            <a:r>
              <a:rPr lang="en-US" altLang="zh-CN" sz="1600" b="1"/>
              <a:t> </a:t>
            </a:r>
            <a:r>
              <a:rPr lang="zh-CN" altLang="en-US" sz="1600" b="1"/>
              <a:t>diningtable(餐桌) </a:t>
            </a:r>
            <a:r>
              <a:rPr lang="en-US" altLang="zh-CN" sz="1600" b="1"/>
              <a:t> </a:t>
            </a:r>
            <a:r>
              <a:rPr lang="zh-CN" altLang="en-US" sz="1600" b="1"/>
              <a:t>toilet(厕所)</a:t>
            </a:r>
            <a:endParaRPr lang="zh-CN" altLang="en-US" sz="1600" b="1"/>
          </a:p>
          <a:p>
            <a:r>
              <a:rPr lang="zh-CN" altLang="en-US" sz="1600" b="1"/>
              <a:t>电子产品： tvmonitor(电视机) </a:t>
            </a:r>
            <a:r>
              <a:rPr lang="en-US" altLang="zh-CN" sz="1600" b="1"/>
              <a:t> </a:t>
            </a:r>
            <a:r>
              <a:rPr lang="zh-CN" altLang="en-US" sz="1600" b="1"/>
              <a:t>laptop(笔记本) </a:t>
            </a:r>
            <a:r>
              <a:rPr lang="en-US" altLang="zh-CN" sz="1600" b="1"/>
              <a:t> </a:t>
            </a:r>
            <a:r>
              <a:rPr lang="zh-CN" altLang="en-US" sz="1600" b="1"/>
              <a:t>mouse(鼠标)</a:t>
            </a:r>
            <a:r>
              <a:rPr lang="en-US" altLang="zh-CN" sz="1600" b="1"/>
              <a:t> </a:t>
            </a:r>
            <a:r>
              <a:rPr lang="zh-CN" altLang="en-US" sz="1600" b="1"/>
              <a:t> remote(遥控器) </a:t>
            </a:r>
            <a:r>
              <a:rPr lang="en-US" altLang="zh-CN" sz="1600" b="1"/>
              <a:t> </a:t>
            </a:r>
            <a:r>
              <a:rPr lang="zh-CN" altLang="en-US" sz="1600" b="1"/>
              <a:t>keyboard(键盘)</a:t>
            </a:r>
            <a:r>
              <a:rPr lang="en-US" altLang="zh-CN" sz="1600" b="1"/>
              <a:t> </a:t>
            </a:r>
            <a:r>
              <a:rPr lang="zh-CN" altLang="en-US" sz="1600" b="1"/>
              <a:t> cell phone(电话)</a:t>
            </a:r>
            <a:endParaRPr lang="zh-CN" altLang="en-US" sz="1600" b="1"/>
          </a:p>
          <a:p>
            <a:r>
              <a:rPr lang="zh-CN" altLang="en-US" sz="1600" b="1"/>
              <a:t>家用电器：microwave(微波炉)</a:t>
            </a:r>
            <a:r>
              <a:rPr lang="en-US" altLang="zh-CN" sz="1600" b="1"/>
              <a:t> </a:t>
            </a:r>
            <a:r>
              <a:rPr lang="zh-CN" altLang="en-US" sz="1600" b="1"/>
              <a:t> oven(烤箱) </a:t>
            </a:r>
            <a:r>
              <a:rPr lang="en-US" altLang="zh-CN" sz="1600" b="1"/>
              <a:t> </a:t>
            </a:r>
            <a:r>
              <a:rPr lang="zh-CN" altLang="en-US" sz="1600" b="1"/>
              <a:t>toaster(烤面包器)</a:t>
            </a:r>
            <a:r>
              <a:rPr lang="en-US" altLang="zh-CN" sz="1600" b="1"/>
              <a:t> </a:t>
            </a:r>
            <a:r>
              <a:rPr lang="zh-CN" altLang="en-US" sz="1600" b="1"/>
              <a:t> sink(水槽)</a:t>
            </a:r>
            <a:r>
              <a:rPr lang="en-US" altLang="zh-CN" sz="1600" b="1"/>
              <a:t> </a:t>
            </a:r>
            <a:r>
              <a:rPr lang="zh-CN" altLang="en-US" sz="1600" b="1"/>
              <a:t> refrigerator(冰箱)</a:t>
            </a:r>
            <a:endParaRPr lang="zh-CN" altLang="en-US" sz="1600" b="1"/>
          </a:p>
          <a:p>
            <a:r>
              <a:rPr lang="zh-CN" altLang="en-US" sz="1600" b="1"/>
              <a:t>家用产品：book(书)</a:t>
            </a:r>
            <a:r>
              <a:rPr lang="en-US" altLang="zh-CN" sz="1600" b="1"/>
              <a:t> </a:t>
            </a:r>
            <a:r>
              <a:rPr lang="zh-CN" altLang="en-US" sz="1600" b="1"/>
              <a:t> clock(闹钟) </a:t>
            </a:r>
            <a:r>
              <a:rPr lang="en-US" altLang="zh-CN" sz="1600" b="1"/>
              <a:t> </a:t>
            </a:r>
            <a:r>
              <a:rPr lang="zh-CN" altLang="en-US" sz="1600" b="1"/>
              <a:t>vase(花瓶)</a:t>
            </a:r>
            <a:r>
              <a:rPr lang="en-US" altLang="zh-CN" sz="1600" b="1"/>
              <a:t> </a:t>
            </a:r>
            <a:r>
              <a:rPr lang="zh-CN" altLang="en-US" sz="1600" b="1"/>
              <a:t> scissors(剪刀) </a:t>
            </a:r>
            <a:r>
              <a:rPr lang="en-US" altLang="zh-CN" sz="1600" b="1"/>
              <a:t> </a:t>
            </a:r>
            <a:r>
              <a:rPr lang="zh-CN" altLang="en-US" sz="1600" b="1"/>
              <a:t>teddy bear(泰迪熊) </a:t>
            </a:r>
            <a:r>
              <a:rPr lang="en-US" altLang="zh-CN" sz="1600" b="1"/>
              <a:t> </a:t>
            </a:r>
            <a:r>
              <a:rPr lang="zh-CN" altLang="en-US" sz="1600" b="1"/>
              <a:t>hair drier(吹风机) </a:t>
            </a:r>
            <a:r>
              <a:rPr lang="en-US" altLang="zh-CN" sz="1600" b="1"/>
              <a:t> </a:t>
            </a:r>
            <a:r>
              <a:rPr lang="zh-CN" altLang="en-US" sz="1600" b="1"/>
              <a:t>toothbrush(牙刷)</a:t>
            </a:r>
            <a:endParaRPr lang="zh-CN" altLang="en-US" sz="1600" b="1"/>
          </a:p>
        </p:txBody>
      </p:sp>
      <p:sp>
        <p:nvSpPr>
          <p:cNvPr id="3" name="文本框 2"/>
          <p:cNvSpPr txBox="1"/>
          <p:nvPr/>
        </p:nvSpPr>
        <p:spPr>
          <a:xfrm>
            <a:off x="111" y="14054"/>
            <a:ext cx="31315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一、数据集介绍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4113530" y="13970"/>
            <a:ext cx="46755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coco128-seg的具体类别（</a:t>
            </a:r>
            <a:r>
              <a:rPr lang="en-US" altLang="zh-CN" dirty="0"/>
              <a:t>80</a:t>
            </a:r>
            <a:r>
              <a:rPr lang="zh-CN" altLang="en-US" dirty="0"/>
              <a:t>类）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labels_correlo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835" y="838835"/>
            <a:ext cx="6019165" cy="6019165"/>
          </a:xfrm>
          <a:prstGeom prst="rect">
            <a:avLst/>
          </a:prstGeom>
        </p:spPr>
      </p:pic>
      <p:pic>
        <p:nvPicPr>
          <p:cNvPr id="3" name="图片 2" descr="labe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835"/>
            <a:ext cx="6019165" cy="60191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1" y="14054"/>
            <a:ext cx="31315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一、数据集介绍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2874645" y="0"/>
            <a:ext cx="644207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数据集</a:t>
            </a:r>
            <a:r>
              <a:rPr lang="en-US" altLang="zh-CN" dirty="0"/>
              <a:t>coco128-seg</a:t>
            </a:r>
            <a:r>
              <a:rPr lang="zh-CN" altLang="en-US" dirty="0"/>
              <a:t>的实例和预测框分布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1615" y="636270"/>
            <a:ext cx="9324340" cy="279273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4530201" y="102319"/>
            <a:ext cx="31315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二、数据集处理</a:t>
            </a:r>
            <a:endParaRPr lang="en-US" altLang="zh-CN" dirty="0"/>
          </a:p>
        </p:txBody>
      </p:sp>
      <p:pic>
        <p:nvPicPr>
          <p:cNvPr id="2" name="图片 1" descr="0000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705" y="4175760"/>
            <a:ext cx="3158490" cy="2369185"/>
          </a:xfrm>
          <a:prstGeom prst="rect">
            <a:avLst/>
          </a:prstGeom>
        </p:spPr>
      </p:pic>
      <p:pic>
        <p:nvPicPr>
          <p:cNvPr id="5" name="图片 4" descr="00000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10" y="4236085"/>
            <a:ext cx="3270885" cy="2453640"/>
          </a:xfrm>
          <a:prstGeom prst="rect">
            <a:avLst/>
          </a:prstGeom>
        </p:spPr>
      </p:pic>
      <p:pic>
        <p:nvPicPr>
          <p:cNvPr id="6" name="图片 5" descr="00000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130" y="4236085"/>
            <a:ext cx="3282315" cy="24625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06095" y="3807460"/>
            <a:ext cx="2616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b="1">
                <a:sym typeface="+mn-ea"/>
              </a:rPr>
              <a:t>Mask</a:t>
            </a:r>
            <a:r>
              <a:rPr lang="zh-CN" altLang="en-US" b="1">
                <a:sym typeface="+mn-ea"/>
              </a:rPr>
              <a:t>图片：调色板模式</a:t>
            </a:r>
            <a:endParaRPr lang="zh-CN" altLang="en-US" b="1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301490" y="3867785"/>
            <a:ext cx="23475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b="1">
                <a:sym typeface="+mn-ea"/>
              </a:rPr>
              <a:t>Mask</a:t>
            </a:r>
            <a:r>
              <a:rPr lang="zh-CN" altLang="en-US" b="1">
                <a:sym typeface="+mn-ea"/>
              </a:rPr>
              <a:t>图片：灰度模式</a:t>
            </a:r>
            <a:endParaRPr lang="zh-CN" altLang="en-US" b="1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406130" y="3807460"/>
            <a:ext cx="19608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sym typeface="+mn-ea"/>
              </a:rPr>
              <a:t>原图像</a:t>
            </a:r>
            <a:endParaRPr lang="zh-CN" altLang="en-US" b="1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2205355"/>
            <a:ext cx="6873240" cy="4549775"/>
          </a:xfrm>
          <a:prstGeom prst="rect">
            <a:avLst/>
          </a:prstGeom>
        </p:spPr>
      </p:pic>
      <p:pic>
        <p:nvPicPr>
          <p:cNvPr id="5" name="图片 4" descr="0000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1459865"/>
            <a:ext cx="2830195" cy="2123440"/>
          </a:xfrm>
          <a:prstGeom prst="rect">
            <a:avLst/>
          </a:prstGeom>
        </p:spPr>
      </p:pic>
      <p:pic>
        <p:nvPicPr>
          <p:cNvPr id="6" name="图片 5" descr="00000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05" y="4460875"/>
            <a:ext cx="2840990" cy="21316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9415" y="698500"/>
            <a:ext cx="2616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b="1">
                <a:sym typeface="+mn-ea"/>
              </a:rPr>
              <a:t>Mask</a:t>
            </a:r>
            <a:r>
              <a:rPr lang="zh-CN" altLang="en-US" b="1">
                <a:sym typeface="+mn-ea"/>
              </a:rPr>
              <a:t>图片：调色板模式</a:t>
            </a:r>
            <a:endParaRPr lang="zh-CN" altLang="en-US" b="1">
              <a:sym typeface="+mn-ea"/>
            </a:endParaRPr>
          </a:p>
          <a:p>
            <a:pPr algn="ctr"/>
            <a:r>
              <a:rPr lang="zh-CN" altLang="en-US" b="1">
                <a:sym typeface="+mn-ea"/>
              </a:rPr>
              <a:t>不同类别对应不同颜色</a:t>
            </a:r>
            <a:endParaRPr lang="zh-CN" altLang="en-US" b="1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6095" y="3699510"/>
            <a:ext cx="23475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b="1">
                <a:sym typeface="+mn-ea"/>
              </a:rPr>
              <a:t>Mask</a:t>
            </a:r>
            <a:r>
              <a:rPr lang="zh-CN" altLang="en-US" b="1">
                <a:sym typeface="+mn-ea"/>
              </a:rPr>
              <a:t>图片：灰度模式灰度值</a:t>
            </a:r>
            <a:r>
              <a:rPr lang="en-US" altLang="zh-CN" b="1">
                <a:sym typeface="+mn-ea"/>
              </a:rPr>
              <a:t>=</a:t>
            </a:r>
            <a:r>
              <a:rPr lang="zh-CN" altLang="en-US" b="1">
                <a:sym typeface="+mn-ea"/>
              </a:rPr>
              <a:t>类别序号</a:t>
            </a:r>
            <a:endParaRPr lang="en-US" altLang="zh-CN" b="1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18045" y="1762125"/>
            <a:ext cx="26777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en-US" altLang="zh-CN" b="1">
                <a:sym typeface="+mn-ea"/>
              </a:rPr>
              <a:t>json文件</a:t>
            </a:r>
            <a:endParaRPr lang="en-US" altLang="zh-CN" b="1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45915" y="808990"/>
            <a:ext cx="756475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 b="1">
                <a:sym typeface="+mn-ea"/>
              </a:rPr>
              <a:t>数据集处理步骤：先将</a:t>
            </a:r>
            <a:r>
              <a:rPr lang="en-US" altLang="zh-CN" sz="2000" b="1">
                <a:sym typeface="+mn-ea"/>
              </a:rPr>
              <a:t>Mask</a:t>
            </a:r>
            <a:r>
              <a:rPr lang="zh-CN" altLang="en-US" sz="2000" b="1">
                <a:sym typeface="+mn-ea"/>
              </a:rPr>
              <a:t>图片转为对应的</a:t>
            </a:r>
            <a:r>
              <a:rPr lang="en-US" altLang="zh-CN" sz="2000" b="1">
                <a:sym typeface="+mn-ea"/>
              </a:rPr>
              <a:t>json</a:t>
            </a:r>
            <a:r>
              <a:rPr lang="zh-CN" altLang="en-US" sz="2000" b="1">
                <a:sym typeface="+mn-ea"/>
              </a:rPr>
              <a:t>文件，然后将</a:t>
            </a:r>
            <a:r>
              <a:rPr lang="en-US" altLang="zh-CN" sz="2000" b="1">
                <a:sym typeface="+mn-ea"/>
              </a:rPr>
              <a:t>json</a:t>
            </a:r>
            <a:r>
              <a:rPr lang="zh-CN" altLang="en-US" sz="2000" b="1">
                <a:sym typeface="+mn-ea"/>
              </a:rPr>
              <a:t>文件转为对应的</a:t>
            </a:r>
            <a:r>
              <a:rPr lang="en-US" altLang="zh-CN" sz="2000" b="1">
                <a:sym typeface="+mn-ea"/>
              </a:rPr>
              <a:t>txt</a:t>
            </a:r>
            <a:r>
              <a:rPr lang="zh-CN" altLang="en-US" sz="2000" b="1">
                <a:sym typeface="+mn-ea"/>
              </a:rPr>
              <a:t>文件，最后将数据集划分为训练集和验证集。</a:t>
            </a:r>
            <a:endParaRPr lang="zh-CN" altLang="en-US" sz="2000" b="1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30201" y="102319"/>
            <a:ext cx="313159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二、数据集处理</a:t>
            </a:r>
            <a:endParaRPr lang="en-US" altLang="zh-CN" dirty="0"/>
          </a:p>
        </p:txBody>
      </p:sp>
      <p:pic>
        <p:nvPicPr>
          <p:cNvPr id="10" name="图片 1"/>
          <p:cNvPicPr>
            <a:picLocks noChangeAspect="1"/>
          </p:cNvPicPr>
          <p:nvPr/>
        </p:nvPicPr>
        <p:blipFill>
          <a:blip r:embed="rId4"/>
          <a:srcRect l="22415" t="21485" r="62541" b="25448"/>
          <a:stretch>
            <a:fillRect/>
          </a:stretch>
        </p:blipFill>
        <p:spPr>
          <a:xfrm>
            <a:off x="3188335" y="2205355"/>
            <a:ext cx="2178050" cy="432181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3015615" y="1762125"/>
            <a:ext cx="26777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调色板</a:t>
            </a:r>
            <a:endParaRPr lang="zh-CN" altLang="en-US" b="1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sults"/>
          <p:cNvPicPr>
            <a:picLocks noChangeAspect="1"/>
          </p:cNvPicPr>
          <p:nvPr/>
        </p:nvPicPr>
        <p:blipFill>
          <a:blip r:embed="rId1"/>
          <a:srcRect r="50427"/>
          <a:stretch>
            <a:fillRect/>
          </a:stretch>
        </p:blipFill>
        <p:spPr>
          <a:xfrm>
            <a:off x="2642870" y="374650"/>
            <a:ext cx="9084945" cy="61087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138016" y="187"/>
            <a:ext cx="19167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三、训练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0" y="2691765"/>
            <a:ext cx="277177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自己制作的人体分割</a:t>
            </a:r>
            <a:endParaRPr lang="zh-CN" altLang="en-US" sz="2000" dirty="0"/>
          </a:p>
          <a:p>
            <a:r>
              <a:rPr lang="zh-CN" altLang="en-US" sz="2000" dirty="0"/>
              <a:t>数据集</a:t>
            </a:r>
            <a:r>
              <a:rPr lang="en-US" altLang="zh-CN" sz="2000" dirty="0"/>
              <a:t>human_body</a:t>
            </a:r>
            <a:endParaRPr lang="en-US" altLang="zh-CN" sz="2000" dirty="0"/>
          </a:p>
          <a:p>
            <a:r>
              <a:rPr lang="zh-CN" altLang="en-US" sz="2000" dirty="0"/>
              <a:t>训练的损失函数曲线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38016" y="187"/>
            <a:ext cx="19167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三、训练</a:t>
            </a:r>
            <a:endParaRPr lang="zh-CN" altLang="en-US" dirty="0"/>
          </a:p>
        </p:txBody>
      </p:sp>
      <p:pic>
        <p:nvPicPr>
          <p:cNvPr id="3" name="图片 2" descr="results smooth lo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085" y="1252855"/>
            <a:ext cx="10972800" cy="54864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977640" y="461645"/>
            <a:ext cx="423608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人体分割数据集</a:t>
            </a:r>
            <a:r>
              <a:rPr lang="en-US" altLang="zh-CN" sz="2000" dirty="0"/>
              <a:t>CHIP</a:t>
            </a:r>
            <a:endParaRPr lang="en-US" altLang="zh-CN" sz="2000" dirty="0"/>
          </a:p>
          <a:p>
            <a:r>
              <a:rPr lang="zh-CN" altLang="en-US" sz="2000" dirty="0"/>
              <a:t>训练的损失函数曲线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results"/>
          <p:cNvPicPr>
            <a:picLocks noChangeAspect="1"/>
          </p:cNvPicPr>
          <p:nvPr/>
        </p:nvPicPr>
        <p:blipFill>
          <a:blip r:embed="rId1"/>
          <a:srcRect l="51177"/>
          <a:stretch>
            <a:fillRect/>
          </a:stretch>
        </p:blipFill>
        <p:spPr>
          <a:xfrm>
            <a:off x="2707005" y="544195"/>
            <a:ext cx="9049385" cy="61785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38016" y="187"/>
            <a:ext cx="19167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三、训练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0" y="2691765"/>
            <a:ext cx="277177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自己制作的人体分割</a:t>
            </a:r>
            <a:endParaRPr lang="zh-CN" altLang="en-US" sz="2000" dirty="0"/>
          </a:p>
          <a:p>
            <a:r>
              <a:rPr lang="zh-CN" altLang="en-US" sz="2000" dirty="0"/>
              <a:t>数据集</a:t>
            </a:r>
            <a:r>
              <a:rPr lang="en-US" altLang="zh-CN" sz="2000" dirty="0"/>
              <a:t>human_body</a:t>
            </a:r>
            <a:endParaRPr lang="en-US" altLang="zh-CN" sz="2000" dirty="0"/>
          </a:p>
          <a:p>
            <a:r>
              <a:rPr lang="zh-CN" altLang="en-US" sz="2000" dirty="0"/>
              <a:t>训练的指标曲线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38016" y="187"/>
            <a:ext cx="19167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三、训练</a:t>
            </a:r>
            <a:endParaRPr lang="zh-CN" altLang="en-US" dirty="0"/>
          </a:p>
        </p:txBody>
      </p:sp>
      <p:pic>
        <p:nvPicPr>
          <p:cNvPr id="4" name="图片 3" descr="results smooth indicato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235" y="1253490"/>
            <a:ext cx="10972800" cy="54864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977640" y="504190"/>
            <a:ext cx="423608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人体分割数据集</a:t>
            </a:r>
            <a:r>
              <a:rPr lang="en-US" altLang="zh-CN" sz="2000" dirty="0"/>
              <a:t>human_body</a:t>
            </a:r>
            <a:endParaRPr lang="en-US" altLang="zh-CN" sz="2000" dirty="0"/>
          </a:p>
          <a:p>
            <a:r>
              <a:rPr lang="zh-CN" altLang="en-US" sz="2000" dirty="0"/>
              <a:t>训练的指标曲线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00250"/>
            <a:ext cx="12192000" cy="4064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38016" y="259902"/>
            <a:ext cx="19167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三、训练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977640" y="919480"/>
            <a:ext cx="423608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经典分割数据集</a:t>
            </a:r>
            <a:r>
              <a:rPr lang="en-US" altLang="zh-CN" sz="2000" dirty="0"/>
              <a:t>COCO128-seg</a:t>
            </a:r>
            <a:endParaRPr lang="en-US" altLang="zh-CN" sz="2000" dirty="0"/>
          </a:p>
          <a:p>
            <a:r>
              <a:rPr lang="zh-CN" altLang="en-US" sz="2000" dirty="0"/>
              <a:t>所有曲线总结（训练</a:t>
            </a:r>
            <a:r>
              <a:rPr lang="en-US" altLang="zh-CN" sz="2000" dirty="0"/>
              <a:t>1000</a:t>
            </a:r>
            <a:r>
              <a:rPr lang="zh-CN" altLang="en-US" sz="2000" dirty="0"/>
              <a:t>轮）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10410"/>
            <a:ext cx="12192000" cy="4064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38016" y="170367"/>
            <a:ext cx="19167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三、训练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391410" y="919480"/>
            <a:ext cx="741045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经典分割数据集</a:t>
            </a:r>
            <a:r>
              <a:rPr lang="en-US" altLang="zh-CN" sz="2000" dirty="0"/>
              <a:t>COCO128-seg</a:t>
            </a:r>
            <a:endParaRPr lang="en-US" altLang="zh-CN" sz="2000" dirty="0"/>
          </a:p>
          <a:p>
            <a:r>
              <a:rPr lang="zh-CN" altLang="en-US" sz="2000" dirty="0"/>
              <a:t>所有曲线总结（训练</a:t>
            </a:r>
            <a:r>
              <a:rPr lang="en-US" altLang="zh-CN" sz="2000" dirty="0"/>
              <a:t>3000</a:t>
            </a:r>
            <a:r>
              <a:rPr lang="zh-CN" altLang="en-US" sz="2000" dirty="0"/>
              <a:t>轮，但在</a:t>
            </a:r>
            <a:r>
              <a:rPr lang="en-US" altLang="zh-CN" sz="2000" dirty="0"/>
              <a:t>1145</a:t>
            </a:r>
            <a:r>
              <a:rPr lang="zh-CN" altLang="en-US" sz="2000" dirty="0"/>
              <a:t>轮后启动了过早停止训练）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onfusion_matrix_normaliz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66420" y="0"/>
            <a:ext cx="914273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1036" t="59682" r="58782" b="10181"/>
          <a:stretch>
            <a:fillRect/>
          </a:stretch>
        </p:blipFill>
        <p:spPr>
          <a:xfrm>
            <a:off x="7805420" y="1510665"/>
            <a:ext cx="4386580" cy="23501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41881" t="59682" r="24358" b="10181"/>
          <a:stretch>
            <a:fillRect/>
          </a:stretch>
        </p:blipFill>
        <p:spPr>
          <a:xfrm>
            <a:off x="7285355" y="3936365"/>
            <a:ext cx="4906645" cy="23501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040726" y="187"/>
            <a:ext cx="19167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三、训练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880985" y="589280"/>
            <a:ext cx="423608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人体分割数据集</a:t>
            </a:r>
            <a:r>
              <a:rPr lang="en-US" altLang="zh-CN" sz="2000" dirty="0"/>
              <a:t>human_body</a:t>
            </a:r>
            <a:endParaRPr lang="en-US" altLang="zh-CN" sz="2000" dirty="0"/>
          </a:p>
          <a:p>
            <a:r>
              <a:rPr lang="zh-CN" altLang="en-US" sz="2000" dirty="0"/>
              <a:t>各个类别的指标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BoxPR_cur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85725"/>
            <a:ext cx="7248525" cy="4832350"/>
          </a:xfrm>
          <a:prstGeom prst="rect">
            <a:avLst/>
          </a:prstGeom>
        </p:spPr>
      </p:pic>
      <p:pic>
        <p:nvPicPr>
          <p:cNvPr id="5" name="图片 4" descr="MaskPR_cur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475" y="2025650"/>
            <a:ext cx="7248525" cy="48323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275801" y="187"/>
            <a:ext cx="19167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三、训练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633335" y="560705"/>
            <a:ext cx="423608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人体分割数据集</a:t>
            </a:r>
            <a:r>
              <a:rPr lang="en-US" altLang="zh-CN" sz="2000" dirty="0"/>
              <a:t>human_body</a:t>
            </a:r>
            <a:endParaRPr lang="en-US" altLang="zh-CN" sz="2000" dirty="0"/>
          </a:p>
          <a:p>
            <a:r>
              <a:rPr lang="zh-CN" altLang="en-US" sz="2000" dirty="0"/>
              <a:t>的</a:t>
            </a:r>
            <a:r>
              <a:rPr lang="en-US" altLang="zh-CN" sz="2000" dirty="0"/>
              <a:t>PR</a:t>
            </a:r>
            <a:r>
              <a:rPr lang="zh-CN" altLang="en-US" sz="2000" dirty="0"/>
              <a:t>曲线</a:t>
            </a:r>
            <a:endParaRPr lang="zh-CN" altLang="en-US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1119505" y="4738370"/>
            <a:ext cx="272478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预测框</a:t>
            </a:r>
            <a:r>
              <a:rPr lang="en-US" altLang="zh-CN" sz="2000" dirty="0"/>
              <a:t>bbox</a:t>
            </a:r>
            <a:r>
              <a:rPr lang="zh-CN" altLang="en-US" sz="2000" dirty="0"/>
              <a:t>的</a:t>
            </a:r>
            <a:r>
              <a:rPr lang="en-US" altLang="zh-CN" sz="2000" dirty="0"/>
              <a:t>PR</a:t>
            </a:r>
            <a:r>
              <a:rPr lang="zh-CN" altLang="en-US" sz="2000" dirty="0"/>
              <a:t>曲线</a:t>
            </a:r>
            <a:endParaRPr lang="zh-CN" altLang="en-US" sz="2000" dirty="0"/>
          </a:p>
        </p:txBody>
      </p:sp>
      <p:sp>
        <p:nvSpPr>
          <p:cNvPr id="14" name="文本框 13"/>
          <p:cNvSpPr txBox="1"/>
          <p:nvPr/>
        </p:nvSpPr>
        <p:spPr>
          <a:xfrm>
            <a:off x="8388985" y="1626870"/>
            <a:ext cx="272478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en-US" altLang="zh-CN" sz="2000" dirty="0"/>
              <a:t>mask</a:t>
            </a:r>
            <a:r>
              <a:rPr lang="zh-CN" altLang="en-US" sz="2000" dirty="0"/>
              <a:t>的</a:t>
            </a:r>
            <a:r>
              <a:rPr lang="en-US" altLang="zh-CN" sz="2000" dirty="0"/>
              <a:t>PR</a:t>
            </a:r>
            <a:r>
              <a:rPr lang="zh-CN" altLang="en-US" sz="2000" dirty="0"/>
              <a:t>曲线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onfusion_matrix_normalized"/>
          <p:cNvPicPr>
            <a:picLocks noChangeAspect="1"/>
          </p:cNvPicPr>
          <p:nvPr/>
        </p:nvPicPr>
        <p:blipFill>
          <a:blip r:embed="rId1"/>
          <a:srcRect l="9042" r="8451"/>
          <a:stretch>
            <a:fillRect/>
          </a:stretch>
        </p:blipFill>
        <p:spPr>
          <a:xfrm>
            <a:off x="1593215" y="0"/>
            <a:ext cx="7544435" cy="6858000"/>
          </a:xfrm>
          <a:prstGeom prst="rect">
            <a:avLst/>
          </a:prstGeom>
        </p:spPr>
      </p:pic>
      <p:pic>
        <p:nvPicPr>
          <p:cNvPr id="3" name="图片 2" descr="2024-06-10 10-07-58屏幕截图"/>
          <p:cNvPicPr>
            <a:picLocks noChangeAspect="1"/>
          </p:cNvPicPr>
          <p:nvPr/>
        </p:nvPicPr>
        <p:blipFill>
          <a:blip r:embed="rId2"/>
          <a:srcRect l="5135" t="15561" r="60120" b="4786"/>
          <a:stretch>
            <a:fillRect/>
          </a:stretch>
        </p:blipFill>
        <p:spPr>
          <a:xfrm>
            <a:off x="8164830" y="0"/>
            <a:ext cx="4027170" cy="3637915"/>
          </a:xfrm>
          <a:prstGeom prst="rect">
            <a:avLst/>
          </a:prstGeom>
        </p:spPr>
      </p:pic>
      <p:pic>
        <p:nvPicPr>
          <p:cNvPr id="4" name="图片 3" descr="2024-06-10 10-07-58屏幕截图"/>
          <p:cNvPicPr>
            <a:picLocks noChangeAspect="1"/>
          </p:cNvPicPr>
          <p:nvPr/>
        </p:nvPicPr>
        <p:blipFill>
          <a:blip r:embed="rId2"/>
          <a:srcRect l="42474" t="15561" r="20927" b="4786"/>
          <a:stretch>
            <a:fillRect/>
          </a:stretch>
        </p:blipFill>
        <p:spPr>
          <a:xfrm>
            <a:off x="8164830" y="3637915"/>
            <a:ext cx="4027170" cy="34531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31" y="187"/>
            <a:ext cx="19167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三、训练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0" y="3611245"/>
            <a:ext cx="173164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人体分割数据</a:t>
            </a:r>
            <a:endParaRPr lang="zh-CN" altLang="en-US" sz="2000" dirty="0"/>
          </a:p>
          <a:p>
            <a:r>
              <a:rPr lang="en-US" altLang="zh-CN" sz="2000" dirty="0"/>
              <a:t>CHIP</a:t>
            </a:r>
            <a:endParaRPr lang="en-US" altLang="zh-CN" sz="2000" dirty="0"/>
          </a:p>
          <a:p>
            <a:r>
              <a:rPr lang="zh-CN" altLang="en-US" sz="2000" dirty="0"/>
              <a:t>各个类别指标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MaskPR_cur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1205" y="2528570"/>
            <a:ext cx="6492875" cy="4329430"/>
          </a:xfrm>
          <a:prstGeom prst="rect">
            <a:avLst/>
          </a:prstGeom>
        </p:spPr>
      </p:pic>
      <p:pic>
        <p:nvPicPr>
          <p:cNvPr id="2" name="图片 1" descr="BoxPR_curve"/>
          <p:cNvPicPr>
            <a:picLocks noChangeAspect="1"/>
          </p:cNvPicPr>
          <p:nvPr/>
        </p:nvPicPr>
        <p:blipFill>
          <a:blip r:embed="rId2"/>
          <a:srcRect r="2754"/>
          <a:stretch>
            <a:fillRect/>
          </a:stretch>
        </p:blipFill>
        <p:spPr>
          <a:xfrm>
            <a:off x="-122555" y="0"/>
            <a:ext cx="6300470" cy="43205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633335" y="560705"/>
            <a:ext cx="423608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人体分割数据集</a:t>
            </a:r>
            <a:r>
              <a:rPr lang="en-US" altLang="zh-CN" sz="2000" dirty="0"/>
              <a:t>CHIP</a:t>
            </a:r>
            <a:endParaRPr lang="en-US" altLang="zh-CN" sz="2000" dirty="0"/>
          </a:p>
          <a:p>
            <a:r>
              <a:rPr lang="zh-CN" altLang="en-US" sz="2000" dirty="0"/>
              <a:t>的</a:t>
            </a:r>
            <a:r>
              <a:rPr lang="en-US" altLang="zh-CN" sz="2000" dirty="0"/>
              <a:t>PR</a:t>
            </a:r>
            <a:r>
              <a:rPr lang="zh-CN" altLang="en-US" sz="2000" dirty="0"/>
              <a:t>曲线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10275801" y="187"/>
            <a:ext cx="19167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三、训练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119505" y="4738370"/>
            <a:ext cx="272478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预测框</a:t>
            </a:r>
            <a:r>
              <a:rPr lang="en-US" altLang="zh-CN" sz="2000" dirty="0"/>
              <a:t>bbox</a:t>
            </a:r>
            <a:r>
              <a:rPr lang="zh-CN" altLang="en-US" sz="2000" dirty="0"/>
              <a:t>的</a:t>
            </a:r>
            <a:r>
              <a:rPr lang="en-US" altLang="zh-CN" sz="2000" dirty="0"/>
              <a:t>PR</a:t>
            </a:r>
            <a:r>
              <a:rPr lang="zh-CN" altLang="en-US" sz="2000" dirty="0"/>
              <a:t>曲线</a:t>
            </a:r>
            <a:endParaRPr lang="zh-CN" altLang="en-US" sz="2000" dirty="0"/>
          </a:p>
        </p:txBody>
      </p:sp>
      <p:sp>
        <p:nvSpPr>
          <p:cNvPr id="14" name="文本框 13"/>
          <p:cNvSpPr txBox="1"/>
          <p:nvPr/>
        </p:nvSpPr>
        <p:spPr>
          <a:xfrm>
            <a:off x="8388985" y="1626870"/>
            <a:ext cx="272478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en-US" altLang="zh-CN" sz="2000" dirty="0"/>
              <a:t>mask</a:t>
            </a:r>
            <a:r>
              <a:rPr lang="zh-CN" altLang="en-US" sz="2000" dirty="0"/>
              <a:t>的</a:t>
            </a:r>
            <a:r>
              <a:rPr lang="en-US" altLang="zh-CN" sz="2000" dirty="0"/>
              <a:t>PR</a:t>
            </a:r>
            <a:r>
              <a:rPr lang="zh-CN" altLang="en-US" sz="2000" dirty="0"/>
              <a:t>曲线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onfusion_matrix_normalized"/>
          <p:cNvPicPr>
            <a:picLocks noChangeAspect="1"/>
          </p:cNvPicPr>
          <p:nvPr/>
        </p:nvPicPr>
        <p:blipFill>
          <a:blip r:embed="rId1"/>
          <a:srcRect l="8014" r="9521"/>
          <a:stretch>
            <a:fillRect/>
          </a:stretch>
        </p:blipFill>
        <p:spPr>
          <a:xfrm>
            <a:off x="4651375" y="0"/>
            <a:ext cx="7540625" cy="6858000"/>
          </a:xfrm>
          <a:prstGeom prst="rect">
            <a:avLst/>
          </a:prstGeom>
        </p:spPr>
      </p:pic>
      <p:pic>
        <p:nvPicPr>
          <p:cNvPr id="3" name="图片 2" descr="2024-06-06 09-31-53屏幕截图"/>
          <p:cNvPicPr>
            <a:picLocks noChangeAspect="1"/>
          </p:cNvPicPr>
          <p:nvPr/>
        </p:nvPicPr>
        <p:blipFill>
          <a:blip r:embed="rId2"/>
          <a:srcRect l="5391" t="2976" r="58833" b="59127"/>
          <a:stretch>
            <a:fillRect/>
          </a:stretch>
        </p:blipFill>
        <p:spPr>
          <a:xfrm>
            <a:off x="0" y="1568450"/>
            <a:ext cx="4361815" cy="2474595"/>
          </a:xfrm>
          <a:prstGeom prst="rect">
            <a:avLst/>
          </a:prstGeom>
        </p:spPr>
      </p:pic>
      <p:pic>
        <p:nvPicPr>
          <p:cNvPr id="4" name="图片 3" descr="2024-06-06 09-31-53屏幕截图"/>
          <p:cNvPicPr>
            <a:picLocks noChangeAspect="1"/>
          </p:cNvPicPr>
          <p:nvPr/>
        </p:nvPicPr>
        <p:blipFill>
          <a:blip r:embed="rId2"/>
          <a:srcRect l="44000" t="2976" r="18370" b="59127"/>
          <a:stretch>
            <a:fillRect/>
          </a:stretch>
        </p:blipFill>
        <p:spPr>
          <a:xfrm>
            <a:off x="0" y="4236720"/>
            <a:ext cx="4587875" cy="247459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31" y="187"/>
            <a:ext cx="19167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三、训练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404495" y="553720"/>
            <a:ext cx="377952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经典分割数据集</a:t>
            </a:r>
            <a:r>
              <a:rPr lang="en-US" altLang="zh-CN" sz="2000" dirty="0"/>
              <a:t>COCO128-seg</a:t>
            </a:r>
            <a:endParaRPr lang="en-US" altLang="zh-CN" sz="2000" dirty="0"/>
          </a:p>
          <a:p>
            <a:r>
              <a:rPr lang="zh-CN" altLang="en-US" sz="2000" dirty="0"/>
              <a:t>各个类别指标（只显示一部分）（</a:t>
            </a:r>
            <a:r>
              <a:rPr lang="en-US" altLang="zh-CN" sz="2000" dirty="0"/>
              <a:t>3000epochs</a:t>
            </a:r>
            <a:r>
              <a:rPr lang="zh-CN" altLang="en-US" sz="2000" dirty="0"/>
              <a:t>）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7633335" y="560705"/>
            <a:ext cx="423608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经典分割数据集</a:t>
            </a:r>
            <a:r>
              <a:rPr lang="en-US" altLang="zh-CN" sz="2000" dirty="0"/>
              <a:t>coco128-seg</a:t>
            </a:r>
            <a:endParaRPr lang="en-US" altLang="zh-CN" sz="2000" dirty="0"/>
          </a:p>
          <a:p>
            <a:r>
              <a:rPr lang="zh-CN" altLang="en-US" sz="2000" dirty="0"/>
              <a:t>的</a:t>
            </a:r>
            <a:r>
              <a:rPr lang="en-US" altLang="zh-CN" sz="2000" dirty="0"/>
              <a:t>PR</a:t>
            </a:r>
            <a:r>
              <a:rPr lang="zh-CN" altLang="en-US" sz="2000" dirty="0"/>
              <a:t>曲线（</a:t>
            </a:r>
            <a:r>
              <a:rPr lang="en-US" altLang="zh-CN" sz="2000" dirty="0"/>
              <a:t>3000epochs</a:t>
            </a:r>
            <a:r>
              <a:rPr lang="zh-CN" altLang="en-US" sz="2000" dirty="0"/>
              <a:t>）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10275801" y="187"/>
            <a:ext cx="19167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三、训练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119505" y="5137150"/>
            <a:ext cx="272478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预测框</a:t>
            </a:r>
            <a:r>
              <a:rPr lang="en-US" altLang="zh-CN" sz="2000" dirty="0"/>
              <a:t>bbox</a:t>
            </a:r>
            <a:r>
              <a:rPr lang="zh-CN" altLang="en-US" sz="2000" dirty="0"/>
              <a:t>的</a:t>
            </a:r>
            <a:r>
              <a:rPr lang="en-US" altLang="zh-CN" sz="2000" dirty="0"/>
              <a:t>PR</a:t>
            </a:r>
            <a:r>
              <a:rPr lang="zh-CN" altLang="en-US" sz="2000" dirty="0"/>
              <a:t>曲线</a:t>
            </a:r>
            <a:endParaRPr lang="zh-CN" altLang="en-US" sz="2000" dirty="0"/>
          </a:p>
        </p:txBody>
      </p:sp>
      <p:sp>
        <p:nvSpPr>
          <p:cNvPr id="14" name="文本框 13"/>
          <p:cNvSpPr txBox="1"/>
          <p:nvPr/>
        </p:nvSpPr>
        <p:spPr>
          <a:xfrm>
            <a:off x="8388985" y="1447165"/>
            <a:ext cx="272478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en-US" altLang="zh-CN" sz="2000" dirty="0"/>
              <a:t>mask</a:t>
            </a:r>
            <a:r>
              <a:rPr lang="zh-CN" altLang="en-US" sz="2000" dirty="0"/>
              <a:t>的</a:t>
            </a:r>
            <a:r>
              <a:rPr lang="en-US" altLang="zh-CN" sz="2000" dirty="0"/>
              <a:t>PR</a:t>
            </a:r>
            <a:r>
              <a:rPr lang="zh-CN" altLang="en-US" sz="2000" dirty="0"/>
              <a:t>曲线</a:t>
            </a:r>
            <a:endParaRPr lang="zh-CN" altLang="en-US" sz="2000" dirty="0"/>
          </a:p>
        </p:txBody>
      </p:sp>
      <p:pic>
        <p:nvPicPr>
          <p:cNvPr id="5" name="图片 4" descr="BoxPR_cur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65365" cy="4911090"/>
          </a:xfrm>
          <a:prstGeom prst="rect">
            <a:avLst/>
          </a:prstGeom>
        </p:spPr>
      </p:pic>
      <p:pic>
        <p:nvPicPr>
          <p:cNvPr id="4" name="图片 3" descr="MaskPR_cur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635" y="1946910"/>
            <a:ext cx="7365365" cy="49110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val_batch0_labels"/>
          <p:cNvPicPr>
            <a:picLocks noChangeAspect="1"/>
          </p:cNvPicPr>
          <p:nvPr/>
        </p:nvPicPr>
        <p:blipFill>
          <a:blip r:embed="rId1"/>
          <a:srcRect r="18824"/>
          <a:stretch>
            <a:fillRect/>
          </a:stretch>
        </p:blipFill>
        <p:spPr>
          <a:xfrm>
            <a:off x="779780" y="0"/>
            <a:ext cx="5567045" cy="6858000"/>
          </a:xfrm>
          <a:prstGeom prst="rect">
            <a:avLst/>
          </a:prstGeom>
        </p:spPr>
      </p:pic>
      <p:pic>
        <p:nvPicPr>
          <p:cNvPr id="9" name="图片 8" descr="val_batch0_pred"/>
          <p:cNvPicPr>
            <a:picLocks noChangeAspect="1"/>
          </p:cNvPicPr>
          <p:nvPr/>
        </p:nvPicPr>
        <p:blipFill>
          <a:blip r:embed="rId2"/>
          <a:srcRect r="14769"/>
          <a:stretch>
            <a:fillRect/>
          </a:stretch>
        </p:blipFill>
        <p:spPr>
          <a:xfrm>
            <a:off x="6346825" y="0"/>
            <a:ext cx="5845175" cy="6858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155440" y="5624830"/>
            <a:ext cx="21913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/>
              <a:t>标签</a:t>
            </a:r>
            <a:endParaRPr lang="zh-CN" altLang="en-US" b="1"/>
          </a:p>
        </p:txBody>
      </p:sp>
      <p:sp>
        <p:nvSpPr>
          <p:cNvPr id="12" name="文本框 11"/>
          <p:cNvSpPr txBox="1"/>
          <p:nvPr/>
        </p:nvSpPr>
        <p:spPr>
          <a:xfrm>
            <a:off x="10000615" y="5624830"/>
            <a:ext cx="21913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/>
              <a:t>预测结果</a:t>
            </a:r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-97790" y="2321560"/>
            <a:ext cx="114173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人体分割</a:t>
            </a:r>
            <a:endParaRPr lang="zh-CN" altLang="en-US" b="1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数据集</a:t>
            </a:r>
            <a:endParaRPr lang="zh-CN" altLang="en-US" b="1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human</a:t>
            </a:r>
            <a:endParaRPr lang="zh-CN" altLang="en-US" b="1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_body</a:t>
            </a:r>
            <a:endParaRPr lang="zh-CN" altLang="en-US" b="1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497830" y="208915"/>
            <a:ext cx="193230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四、推理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val_batch2_labe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0"/>
            <a:ext cx="12192000" cy="64008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99615" y="0"/>
            <a:ext cx="27920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人体分割数据集</a:t>
            </a:r>
            <a:r>
              <a:rPr lang="zh-CN" altLang="en-US" b="1">
                <a:sym typeface="+mn-ea"/>
              </a:rPr>
              <a:t>CHIP</a:t>
            </a:r>
            <a:endParaRPr lang="zh-CN" altLang="en-US" b="1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0" y="0"/>
            <a:ext cx="193230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四、推理</a:t>
            </a:r>
            <a:endParaRPr lang="zh-CN" altLang="en-US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5820410" y="0"/>
            <a:ext cx="27920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标签</a:t>
            </a:r>
            <a:endParaRPr lang="zh-CN" altLang="en-US" b="1"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val_batch2_pr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0"/>
            <a:ext cx="12192000" cy="64008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99615" y="0"/>
            <a:ext cx="27920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人体分割数据集</a:t>
            </a:r>
            <a:r>
              <a:rPr lang="zh-CN" altLang="en-US" b="1">
                <a:sym typeface="+mn-ea"/>
              </a:rPr>
              <a:t>CHIP</a:t>
            </a:r>
            <a:endParaRPr lang="zh-CN" altLang="en-US" b="1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0" y="0"/>
            <a:ext cx="193230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sz="2000" dirty="0"/>
              <a:t>四、推理</a:t>
            </a:r>
            <a:endParaRPr lang="zh-CN" altLang="en-US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5820410" y="0"/>
            <a:ext cx="27920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ym typeface="+mn-ea"/>
              </a:rPr>
              <a:t>预测结果</a:t>
            </a:r>
            <a:endParaRPr lang="zh-CN" altLang="en-US" b="1"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val_batch1_labe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8495" y="0"/>
            <a:ext cx="8993505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7480" y="2162175"/>
            <a:ext cx="27920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>
                <a:sym typeface="+mn-ea"/>
              </a:rPr>
              <a:t>经典分割数据集</a:t>
            </a:r>
            <a:endParaRPr lang="zh-CN" altLang="en-US" sz="2000" b="1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2000" b="1">
                <a:sym typeface="+mn-ea"/>
              </a:rPr>
              <a:t>coco128-seg</a:t>
            </a:r>
            <a:endParaRPr lang="en-US" altLang="zh-CN" sz="2000" b="1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7375" y="878205"/>
            <a:ext cx="19323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四、推理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57480" y="3627120"/>
            <a:ext cx="27920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000" b="1">
                <a:sym typeface="+mn-ea"/>
              </a:rPr>
              <a:t>标签</a:t>
            </a:r>
            <a:endParaRPr lang="zh-CN" altLang="en-US" sz="2000" b="1"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57480" y="2162175"/>
            <a:ext cx="27920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>
                <a:sym typeface="+mn-ea"/>
              </a:rPr>
              <a:t>经典分割数据集</a:t>
            </a:r>
            <a:endParaRPr lang="zh-CN" altLang="en-US" sz="2000" b="1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2000" b="1">
                <a:sym typeface="+mn-ea"/>
              </a:rPr>
              <a:t>coco128-seg</a:t>
            </a:r>
            <a:endParaRPr lang="en-US" altLang="zh-CN" sz="2000" b="1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87375" y="878205"/>
            <a:ext cx="19323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</a:lstStyle>
          <a:p>
            <a:r>
              <a:rPr lang="zh-CN" altLang="en-US" dirty="0"/>
              <a:t>四、推理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57480" y="3627120"/>
            <a:ext cx="27920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000" b="1">
                <a:sym typeface="+mn-ea"/>
              </a:rPr>
              <a:t>预测结果</a:t>
            </a:r>
            <a:endParaRPr lang="zh-CN" altLang="en-US" sz="2000" b="1">
              <a:sym typeface="+mn-ea"/>
            </a:endParaRPr>
          </a:p>
        </p:txBody>
      </p:sp>
      <p:pic>
        <p:nvPicPr>
          <p:cNvPr id="3" name="图片 2" descr="val_batch1_pr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8495" y="0"/>
            <a:ext cx="89935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318784" y="-438150"/>
            <a:ext cx="2054282" cy="7742402"/>
            <a:chOff x="-318759" y="-438055"/>
            <a:chExt cx="2054231" cy="7742211"/>
          </a:xfrm>
        </p:grpSpPr>
        <p:grpSp>
          <p:nvGrpSpPr>
            <p:cNvPr id="3" name="组合 2"/>
            <p:cNvGrpSpPr/>
            <p:nvPr/>
          </p:nvGrpSpPr>
          <p:grpSpPr>
            <a:xfrm>
              <a:off x="-318758" y="-438055"/>
              <a:ext cx="2054230" cy="1341411"/>
              <a:chOff x="-318758" y="-438055"/>
              <a:chExt cx="2054230" cy="1341411"/>
            </a:xfrm>
          </p:grpSpPr>
          <p:sp>
            <p:nvSpPr>
              <p:cNvPr id="7" name="任意多边形 6"/>
              <p:cNvSpPr/>
              <p:nvPr/>
            </p:nvSpPr>
            <p:spPr>
              <a:xfrm rot="2700000">
                <a:off x="103782" y="-728333"/>
                <a:ext cx="1209149" cy="2054230"/>
              </a:xfrm>
              <a:custGeom>
                <a:avLst/>
                <a:gdLst>
                  <a:gd name="connsiteX0" fmla="*/ 579225 w 1209149"/>
                  <a:gd name="connsiteY0" fmla="*/ 629924 h 2054230"/>
                  <a:gd name="connsiteX1" fmla="*/ 1209149 w 1209149"/>
                  <a:gd name="connsiteY1" fmla="*/ 0 h 2054230"/>
                  <a:gd name="connsiteX2" fmla="*/ 1209149 w 1209149"/>
                  <a:gd name="connsiteY2" fmla="*/ 2054230 h 2054230"/>
                  <a:gd name="connsiteX3" fmla="*/ 629924 w 1209149"/>
                  <a:gd name="connsiteY3" fmla="*/ 2054230 h 2054230"/>
                  <a:gd name="connsiteX4" fmla="*/ 0 w 1209149"/>
                  <a:gd name="connsiteY4" fmla="*/ 1424306 h 2054230"/>
                  <a:gd name="connsiteX5" fmla="*/ 579225 w 1209149"/>
                  <a:gd name="connsiteY5" fmla="*/ 1424306 h 2054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9149" h="2054230">
                    <a:moveTo>
                      <a:pt x="579225" y="629924"/>
                    </a:moveTo>
                    <a:lnTo>
                      <a:pt x="1209149" y="0"/>
                    </a:lnTo>
                    <a:lnTo>
                      <a:pt x="1209149" y="2054230"/>
                    </a:lnTo>
                    <a:lnTo>
                      <a:pt x="629924" y="2054230"/>
                    </a:lnTo>
                    <a:lnTo>
                      <a:pt x="0" y="1424306"/>
                    </a:lnTo>
                    <a:lnTo>
                      <a:pt x="579225" y="1424306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任意多边形 7"/>
              <p:cNvSpPr/>
              <p:nvPr/>
            </p:nvSpPr>
            <p:spPr>
              <a:xfrm rot="2700000">
                <a:off x="28669" y="-657766"/>
                <a:ext cx="1072529" cy="1511952"/>
              </a:xfrm>
              <a:custGeom>
                <a:avLst/>
                <a:gdLst>
                  <a:gd name="connsiteX0" fmla="*/ 0 w 1072529"/>
                  <a:gd name="connsiteY0" fmla="*/ 1072529 h 1511952"/>
                  <a:gd name="connsiteX1" fmla="*/ 1072529 w 1072529"/>
                  <a:gd name="connsiteY1" fmla="*/ 0 h 1511952"/>
                  <a:gd name="connsiteX2" fmla="*/ 1072529 w 1072529"/>
                  <a:gd name="connsiteY2" fmla="*/ 1511952 h 1511952"/>
                  <a:gd name="connsiteX3" fmla="*/ 439424 w 1072529"/>
                  <a:gd name="connsiteY3" fmla="*/ 1511952 h 1511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2529" h="1511952">
                    <a:moveTo>
                      <a:pt x="0" y="1072529"/>
                    </a:moveTo>
                    <a:lnTo>
                      <a:pt x="1072529" y="0"/>
                    </a:lnTo>
                    <a:lnTo>
                      <a:pt x="1072529" y="1511952"/>
                    </a:lnTo>
                    <a:lnTo>
                      <a:pt x="439424" y="1511952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67000">
                      <a:srgbClr val="D7B26C">
                        <a:alpha val="40000"/>
                      </a:srgbClr>
                    </a:gs>
                    <a:gs pos="100000">
                      <a:srgbClr val="D7B26C">
                        <a:alpha val="65000"/>
                      </a:srgb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 flipV="1">
              <a:off x="-318759" y="5962745"/>
              <a:ext cx="2054230" cy="1341411"/>
              <a:chOff x="-318758" y="-438055"/>
              <a:chExt cx="2054230" cy="1341411"/>
            </a:xfrm>
          </p:grpSpPr>
          <p:sp>
            <p:nvSpPr>
              <p:cNvPr id="5" name="任意多边形 4"/>
              <p:cNvSpPr/>
              <p:nvPr/>
            </p:nvSpPr>
            <p:spPr>
              <a:xfrm rot="2700000">
                <a:off x="103782" y="-728333"/>
                <a:ext cx="1209149" cy="2054230"/>
              </a:xfrm>
              <a:custGeom>
                <a:avLst/>
                <a:gdLst>
                  <a:gd name="connsiteX0" fmla="*/ 579225 w 1209149"/>
                  <a:gd name="connsiteY0" fmla="*/ 629924 h 2054230"/>
                  <a:gd name="connsiteX1" fmla="*/ 1209149 w 1209149"/>
                  <a:gd name="connsiteY1" fmla="*/ 0 h 2054230"/>
                  <a:gd name="connsiteX2" fmla="*/ 1209149 w 1209149"/>
                  <a:gd name="connsiteY2" fmla="*/ 2054230 h 2054230"/>
                  <a:gd name="connsiteX3" fmla="*/ 629924 w 1209149"/>
                  <a:gd name="connsiteY3" fmla="*/ 2054230 h 2054230"/>
                  <a:gd name="connsiteX4" fmla="*/ 0 w 1209149"/>
                  <a:gd name="connsiteY4" fmla="*/ 1424306 h 2054230"/>
                  <a:gd name="connsiteX5" fmla="*/ 579225 w 1209149"/>
                  <a:gd name="connsiteY5" fmla="*/ 1424306 h 2054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9149" h="2054230">
                    <a:moveTo>
                      <a:pt x="579225" y="629924"/>
                    </a:moveTo>
                    <a:lnTo>
                      <a:pt x="1209149" y="0"/>
                    </a:lnTo>
                    <a:lnTo>
                      <a:pt x="1209149" y="2054230"/>
                    </a:lnTo>
                    <a:lnTo>
                      <a:pt x="629924" y="2054230"/>
                    </a:lnTo>
                    <a:lnTo>
                      <a:pt x="0" y="1424306"/>
                    </a:lnTo>
                    <a:lnTo>
                      <a:pt x="579225" y="1424306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任意多边形 5"/>
              <p:cNvSpPr/>
              <p:nvPr/>
            </p:nvSpPr>
            <p:spPr>
              <a:xfrm rot="2700000">
                <a:off x="28669" y="-657766"/>
                <a:ext cx="1072529" cy="1511952"/>
              </a:xfrm>
              <a:custGeom>
                <a:avLst/>
                <a:gdLst>
                  <a:gd name="connsiteX0" fmla="*/ 0 w 1072529"/>
                  <a:gd name="connsiteY0" fmla="*/ 1072529 h 1511952"/>
                  <a:gd name="connsiteX1" fmla="*/ 1072529 w 1072529"/>
                  <a:gd name="connsiteY1" fmla="*/ 0 h 1511952"/>
                  <a:gd name="connsiteX2" fmla="*/ 1072529 w 1072529"/>
                  <a:gd name="connsiteY2" fmla="*/ 1511952 h 1511952"/>
                  <a:gd name="connsiteX3" fmla="*/ 439424 w 1072529"/>
                  <a:gd name="connsiteY3" fmla="*/ 1511952 h 1511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2529" h="1511952">
                    <a:moveTo>
                      <a:pt x="0" y="1072529"/>
                    </a:moveTo>
                    <a:lnTo>
                      <a:pt x="1072529" y="0"/>
                    </a:lnTo>
                    <a:lnTo>
                      <a:pt x="1072529" y="1511952"/>
                    </a:lnTo>
                    <a:lnTo>
                      <a:pt x="439424" y="1511952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67000">
                      <a:srgbClr val="D7B26C">
                        <a:alpha val="40000"/>
                      </a:srgbClr>
                    </a:gs>
                    <a:gs pos="100000">
                      <a:srgbClr val="D7B26C">
                        <a:alpha val="65000"/>
                      </a:srgb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9629471" y="-57386"/>
            <a:ext cx="4744029" cy="6972537"/>
            <a:chOff x="9629471" y="-57386"/>
            <a:chExt cx="4744029" cy="6972537"/>
          </a:xfrm>
        </p:grpSpPr>
        <p:sp>
          <p:nvSpPr>
            <p:cNvPr id="10" name="任意多边形 9"/>
            <p:cNvSpPr/>
            <p:nvPr/>
          </p:nvSpPr>
          <p:spPr>
            <a:xfrm rot="2700000">
              <a:off x="10004350" y="1244426"/>
              <a:ext cx="4369150" cy="4369150"/>
            </a:xfrm>
            <a:custGeom>
              <a:avLst/>
              <a:gdLst>
                <a:gd name="connsiteX0" fmla="*/ 0 w 4369150"/>
                <a:gd name="connsiteY0" fmla="*/ 0 h 4369150"/>
                <a:gd name="connsiteX1" fmla="*/ 875900 w 4369150"/>
                <a:gd name="connsiteY1" fmla="*/ 875899 h 4369150"/>
                <a:gd name="connsiteX2" fmla="*/ 875899 w 4369150"/>
                <a:gd name="connsiteY2" fmla="*/ 3493251 h 4369150"/>
                <a:gd name="connsiteX3" fmla="*/ 3493251 w 4369150"/>
                <a:gd name="connsiteY3" fmla="*/ 3493251 h 4369150"/>
                <a:gd name="connsiteX4" fmla="*/ 4369150 w 4369150"/>
                <a:gd name="connsiteY4" fmla="*/ 4369150 h 4369150"/>
                <a:gd name="connsiteX5" fmla="*/ 0 w 4369150"/>
                <a:gd name="connsiteY5" fmla="*/ 4369150 h 436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69150" h="4369150">
                  <a:moveTo>
                    <a:pt x="0" y="0"/>
                  </a:moveTo>
                  <a:lnTo>
                    <a:pt x="875900" y="875899"/>
                  </a:lnTo>
                  <a:lnTo>
                    <a:pt x="875899" y="3493251"/>
                  </a:lnTo>
                  <a:lnTo>
                    <a:pt x="3493251" y="3493251"/>
                  </a:lnTo>
                  <a:lnTo>
                    <a:pt x="4369150" y="4369150"/>
                  </a:lnTo>
                  <a:lnTo>
                    <a:pt x="0" y="4369150"/>
                  </a:lnTo>
                  <a:close/>
                </a:path>
              </a:pathLst>
            </a:custGeom>
            <a:solidFill>
              <a:srgbClr val="5B6A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9629471" y="-57386"/>
              <a:ext cx="2620422" cy="6972537"/>
              <a:chOff x="9629471" y="-57386"/>
              <a:chExt cx="2620422" cy="6972537"/>
            </a:xfrm>
          </p:grpSpPr>
          <p:sp>
            <p:nvSpPr>
              <p:cNvPr id="12" name="任意多边形 11"/>
              <p:cNvSpPr/>
              <p:nvPr/>
            </p:nvSpPr>
            <p:spPr>
              <a:xfrm>
                <a:off x="10177462" y="5889069"/>
                <a:ext cx="2014538" cy="1007269"/>
              </a:xfrm>
              <a:custGeom>
                <a:avLst/>
                <a:gdLst>
                  <a:gd name="connsiteX0" fmla="*/ 1007269 w 2014538"/>
                  <a:gd name="connsiteY0" fmla="*/ 0 h 1007269"/>
                  <a:gd name="connsiteX1" fmla="*/ 2014538 w 2014538"/>
                  <a:gd name="connsiteY1" fmla="*/ 1007269 h 1007269"/>
                  <a:gd name="connsiteX2" fmla="*/ 0 w 2014538"/>
                  <a:gd name="connsiteY2" fmla="*/ 1007269 h 1007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14538" h="1007269">
                    <a:moveTo>
                      <a:pt x="1007269" y="0"/>
                    </a:moveTo>
                    <a:lnTo>
                      <a:pt x="2014538" y="1007269"/>
                    </a:lnTo>
                    <a:lnTo>
                      <a:pt x="0" y="1007269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任意多边形 12"/>
              <p:cNvSpPr/>
              <p:nvPr/>
            </p:nvSpPr>
            <p:spPr>
              <a:xfrm>
                <a:off x="9901083" y="2840615"/>
                <a:ext cx="2329761" cy="4074536"/>
              </a:xfrm>
              <a:custGeom>
                <a:avLst/>
                <a:gdLst>
                  <a:gd name="connsiteX0" fmla="*/ 2329761 w 2329761"/>
                  <a:gd name="connsiteY0" fmla="*/ 0 h 4074536"/>
                  <a:gd name="connsiteX1" fmla="*/ 2329761 w 2329761"/>
                  <a:gd name="connsiteY1" fmla="*/ 4074536 h 4074536"/>
                  <a:gd name="connsiteX2" fmla="*/ 1744775 w 2329761"/>
                  <a:gd name="connsiteY2" fmla="*/ 4074536 h 4074536"/>
                  <a:gd name="connsiteX3" fmla="*/ 0 w 2329761"/>
                  <a:gd name="connsiteY3" fmla="*/ 2329761 h 4074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9761" h="4074536">
                    <a:moveTo>
                      <a:pt x="2329761" y="0"/>
                    </a:moveTo>
                    <a:lnTo>
                      <a:pt x="2329761" y="4074536"/>
                    </a:lnTo>
                    <a:lnTo>
                      <a:pt x="1744775" y="4074536"/>
                    </a:lnTo>
                    <a:lnTo>
                      <a:pt x="0" y="2329761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任意多边形 13"/>
              <p:cNvSpPr/>
              <p:nvPr/>
            </p:nvSpPr>
            <p:spPr>
              <a:xfrm>
                <a:off x="10162403" y="3101936"/>
                <a:ext cx="2068440" cy="3811626"/>
              </a:xfrm>
              <a:custGeom>
                <a:avLst/>
                <a:gdLst>
                  <a:gd name="connsiteX0" fmla="*/ 2068440 w 2068440"/>
                  <a:gd name="connsiteY0" fmla="*/ 0 h 3811626"/>
                  <a:gd name="connsiteX1" fmla="*/ 2068440 w 2068440"/>
                  <a:gd name="connsiteY1" fmla="*/ 3811626 h 3811626"/>
                  <a:gd name="connsiteX2" fmla="*/ 1743186 w 2068440"/>
                  <a:gd name="connsiteY2" fmla="*/ 3811626 h 3811626"/>
                  <a:gd name="connsiteX3" fmla="*/ 0 w 2068440"/>
                  <a:gd name="connsiteY3" fmla="*/ 2068440 h 3811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68440" h="3811626">
                    <a:moveTo>
                      <a:pt x="2068440" y="0"/>
                    </a:moveTo>
                    <a:lnTo>
                      <a:pt x="2068440" y="3811626"/>
                    </a:lnTo>
                    <a:lnTo>
                      <a:pt x="1743186" y="3811626"/>
                    </a:lnTo>
                    <a:lnTo>
                      <a:pt x="0" y="2068440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9901084" y="-57386"/>
                <a:ext cx="2348809" cy="4093820"/>
              </a:xfrm>
              <a:custGeom>
                <a:avLst/>
                <a:gdLst>
                  <a:gd name="connsiteX0" fmla="*/ 1745011 w 2348809"/>
                  <a:gd name="connsiteY0" fmla="*/ 0 h 4093820"/>
                  <a:gd name="connsiteX1" fmla="*/ 2348809 w 2348809"/>
                  <a:gd name="connsiteY1" fmla="*/ 0 h 4093820"/>
                  <a:gd name="connsiteX2" fmla="*/ 2348809 w 2348809"/>
                  <a:gd name="connsiteY2" fmla="*/ 4093820 h 4093820"/>
                  <a:gd name="connsiteX3" fmla="*/ 0 w 2348809"/>
                  <a:gd name="connsiteY3" fmla="*/ 1745011 h 4093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48809" h="4093820">
                    <a:moveTo>
                      <a:pt x="1745011" y="0"/>
                    </a:moveTo>
                    <a:lnTo>
                      <a:pt x="2348809" y="0"/>
                    </a:lnTo>
                    <a:lnTo>
                      <a:pt x="2348809" y="4093820"/>
                    </a:lnTo>
                    <a:lnTo>
                      <a:pt x="0" y="1745011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任意多边形 15"/>
              <p:cNvSpPr/>
              <p:nvPr/>
            </p:nvSpPr>
            <p:spPr>
              <a:xfrm>
                <a:off x="10162404" y="-57149"/>
                <a:ext cx="2057866" cy="3802641"/>
              </a:xfrm>
              <a:custGeom>
                <a:avLst/>
                <a:gdLst>
                  <a:gd name="connsiteX0" fmla="*/ 1744775 w 2057866"/>
                  <a:gd name="connsiteY0" fmla="*/ 0 h 3802641"/>
                  <a:gd name="connsiteX1" fmla="*/ 2057866 w 2057866"/>
                  <a:gd name="connsiteY1" fmla="*/ 0 h 3802641"/>
                  <a:gd name="connsiteX2" fmla="*/ 2057866 w 2057866"/>
                  <a:gd name="connsiteY2" fmla="*/ 3802641 h 3802641"/>
                  <a:gd name="connsiteX3" fmla="*/ 0 w 2057866"/>
                  <a:gd name="connsiteY3" fmla="*/ 1744775 h 3802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7866" h="3802641">
                    <a:moveTo>
                      <a:pt x="1744775" y="0"/>
                    </a:moveTo>
                    <a:lnTo>
                      <a:pt x="2057866" y="0"/>
                    </a:lnTo>
                    <a:lnTo>
                      <a:pt x="2057866" y="3802641"/>
                    </a:lnTo>
                    <a:lnTo>
                      <a:pt x="0" y="1744775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31000">
                      <a:srgbClr val="D7B26C">
                        <a:alpha val="27000"/>
                      </a:srgbClr>
                    </a:gs>
                    <a:gs pos="65000">
                      <a:srgbClr val="D7B26C"/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任意多边形 16"/>
              <p:cNvSpPr/>
              <p:nvPr/>
            </p:nvSpPr>
            <p:spPr>
              <a:xfrm>
                <a:off x="9629471" y="857250"/>
                <a:ext cx="2601373" cy="5143500"/>
              </a:xfrm>
              <a:custGeom>
                <a:avLst/>
                <a:gdLst>
                  <a:gd name="connsiteX0" fmla="*/ 2571750 w 2601373"/>
                  <a:gd name="connsiteY0" fmla="*/ 0 h 5143500"/>
                  <a:gd name="connsiteX1" fmla="*/ 2601373 w 2601373"/>
                  <a:gd name="connsiteY1" fmla="*/ 29623 h 5143500"/>
                  <a:gd name="connsiteX2" fmla="*/ 2601373 w 2601373"/>
                  <a:gd name="connsiteY2" fmla="*/ 5113877 h 5143500"/>
                  <a:gd name="connsiteX3" fmla="*/ 2571750 w 2601373"/>
                  <a:gd name="connsiteY3" fmla="*/ 5143500 h 5143500"/>
                  <a:gd name="connsiteX4" fmla="*/ 0 w 2601373"/>
                  <a:gd name="connsiteY4" fmla="*/ 2571750 h 5143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1373" h="5143500">
                    <a:moveTo>
                      <a:pt x="2571750" y="0"/>
                    </a:moveTo>
                    <a:lnTo>
                      <a:pt x="2601373" y="29623"/>
                    </a:lnTo>
                    <a:lnTo>
                      <a:pt x="2601373" y="5113877"/>
                    </a:lnTo>
                    <a:lnTo>
                      <a:pt x="2571750" y="5143500"/>
                    </a:lnTo>
                    <a:lnTo>
                      <a:pt x="0" y="2571750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57000">
                      <a:srgbClr val="D7B26C">
                        <a:alpha val="28000"/>
                      </a:srgbClr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任意多边形 17"/>
              <p:cNvSpPr/>
              <p:nvPr/>
            </p:nvSpPr>
            <p:spPr>
              <a:xfrm>
                <a:off x="10734370" y="1962150"/>
                <a:ext cx="1466850" cy="2933700"/>
              </a:xfrm>
              <a:custGeom>
                <a:avLst/>
                <a:gdLst>
                  <a:gd name="connsiteX0" fmla="*/ 1466850 w 1466850"/>
                  <a:gd name="connsiteY0" fmla="*/ 0 h 2933700"/>
                  <a:gd name="connsiteX1" fmla="*/ 1466850 w 1466850"/>
                  <a:gd name="connsiteY1" fmla="*/ 2933700 h 2933700"/>
                  <a:gd name="connsiteX2" fmla="*/ 0 w 1466850"/>
                  <a:gd name="connsiteY2" fmla="*/ 1466850 h 2933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66850" h="2933700">
                    <a:moveTo>
                      <a:pt x="1466850" y="0"/>
                    </a:moveTo>
                    <a:lnTo>
                      <a:pt x="1466850" y="2933700"/>
                    </a:lnTo>
                    <a:lnTo>
                      <a:pt x="0" y="1466850"/>
                    </a:lnTo>
                    <a:close/>
                  </a:path>
                </a:pathLst>
              </a:custGeom>
              <a:solidFill>
                <a:srgbClr val="5B6A7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任意多边形 18"/>
              <p:cNvSpPr/>
              <p:nvPr/>
            </p:nvSpPr>
            <p:spPr>
              <a:xfrm>
                <a:off x="11237917" y="2465696"/>
                <a:ext cx="973877" cy="1926608"/>
              </a:xfrm>
              <a:custGeom>
                <a:avLst/>
                <a:gdLst>
                  <a:gd name="connsiteX0" fmla="*/ 963304 w 973877"/>
                  <a:gd name="connsiteY0" fmla="*/ 0 h 1926608"/>
                  <a:gd name="connsiteX1" fmla="*/ 973877 w 973877"/>
                  <a:gd name="connsiteY1" fmla="*/ 10573 h 1926608"/>
                  <a:gd name="connsiteX2" fmla="*/ 973877 w 973877"/>
                  <a:gd name="connsiteY2" fmla="*/ 1916035 h 1926608"/>
                  <a:gd name="connsiteX3" fmla="*/ 963304 w 973877"/>
                  <a:gd name="connsiteY3" fmla="*/ 1926608 h 1926608"/>
                  <a:gd name="connsiteX4" fmla="*/ 0 w 973877"/>
                  <a:gd name="connsiteY4" fmla="*/ 963304 h 192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3877" h="1926608">
                    <a:moveTo>
                      <a:pt x="963304" y="0"/>
                    </a:moveTo>
                    <a:lnTo>
                      <a:pt x="973877" y="10573"/>
                    </a:lnTo>
                    <a:lnTo>
                      <a:pt x="973877" y="1916035"/>
                    </a:lnTo>
                    <a:lnTo>
                      <a:pt x="963304" y="1926608"/>
                    </a:lnTo>
                    <a:lnTo>
                      <a:pt x="0" y="963304"/>
                    </a:lnTo>
                    <a:close/>
                  </a:path>
                </a:pathLst>
              </a:custGeom>
              <a:noFill/>
              <a:ln w="57150">
                <a:gradFill flip="none" rotWithShape="1">
                  <a:gsLst>
                    <a:gs pos="0">
                      <a:srgbClr val="D7B26C"/>
                    </a:gs>
                    <a:gs pos="57000">
                      <a:srgbClr val="D7B26C">
                        <a:alpha val="28000"/>
                      </a:srgbClr>
                    </a:gs>
                    <a:gs pos="100000">
                      <a:srgbClr val="D7B26C">
                        <a:alpha val="0"/>
                      </a:srgb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20" name="直接连接符 19"/>
          <p:cNvCxnSpPr>
            <a:stCxn id="7" idx="2"/>
            <a:endCxn id="5" idx="2"/>
          </p:cNvCxnSpPr>
          <p:nvPr/>
        </p:nvCxnSpPr>
        <p:spPr>
          <a:xfrm flipH="1">
            <a:off x="409568" y="1452513"/>
            <a:ext cx="1" cy="3961076"/>
          </a:xfrm>
          <a:prstGeom prst="line">
            <a:avLst/>
          </a:prstGeom>
          <a:ln w="38100">
            <a:gradFill flip="none" rotWithShape="1">
              <a:gsLst>
                <a:gs pos="0">
                  <a:srgbClr val="D7B26C"/>
                </a:gs>
                <a:gs pos="47000">
                  <a:srgbClr val="D7B26C">
                    <a:alpha val="64000"/>
                  </a:srgbClr>
                </a:gs>
                <a:gs pos="79000">
                  <a:srgbClr val="D7B26C">
                    <a:alpha val="36000"/>
                  </a:srgbClr>
                </a:gs>
                <a:gs pos="25000">
                  <a:srgbClr val="D7B26C">
                    <a:alpha val="40000"/>
                  </a:srgbClr>
                </a:gs>
                <a:gs pos="100000">
                  <a:srgbClr val="D7B26C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632960" y="2829560"/>
            <a:ext cx="29260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谢谢！</a:t>
            </a:r>
            <a:endParaRPr lang="zh-CN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zRiNGE2YjVjMjBmNWEwZWU3YTRiYzc0MzA3MmZhYWU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3578</Words>
  <Application>WPS 演示</Application>
  <PresentationFormat>宽屏</PresentationFormat>
  <Paragraphs>226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Times New Roman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时之天空</cp:lastModifiedBy>
  <cp:revision>556</cp:revision>
  <dcterms:created xsi:type="dcterms:W3CDTF">2023-09-17T02:11:00Z</dcterms:created>
  <dcterms:modified xsi:type="dcterms:W3CDTF">2026-04-19T23:52:11Z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09D9A0CEE6E8432A8CE06DE6C004B31B_12</vt:lpwstr>
  </property>
  <property fmtid="{D5CDD505-2E9C-101B-9397-08002B2CF9AE}" pid="3" name="KSOProductBuildVer">
    <vt:lpwstr>2052-12.1.0.25865</vt:lpwstr>
  </property>
</Properties>
</file>