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7" r:id="rId3"/>
    <p:sldId id="445" r:id="rId4"/>
    <p:sldId id="442" r:id="rId5"/>
    <p:sldId id="447" r:id="rId6"/>
    <p:sldId id="449" r:id="rId7"/>
    <p:sldId id="443" r:id="rId8"/>
    <p:sldId id="448" r:id="rId9"/>
    <p:sldId id="455" r:id="rId10"/>
    <p:sldId id="456" r:id="rId12"/>
    <p:sldId id="457" r:id="rId13"/>
    <p:sldId id="437" r:id="rId14"/>
    <p:sldId id="438" r:id="rId15"/>
    <p:sldId id="273" r:id="rId16"/>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BA6627C-7C07-4C92-89A3-C6743F8FF652}">
          <p14:sldIdLst>
            <p14:sldId id="257"/>
            <p14:sldId id="445"/>
            <p14:sldId id="442"/>
            <p14:sldId id="447"/>
            <p14:sldId id="449"/>
            <p14:sldId id="443"/>
            <p14:sldId id="448"/>
            <p14:sldId id="455"/>
            <p14:sldId id="456"/>
            <p14:sldId id="457"/>
            <p14:sldId id="437"/>
            <p14:sldId id="438"/>
            <p14:sldId id="273"/>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3524345723@qq.com"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FF0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05" autoAdjust="0"/>
    <p:restoredTop sz="95090" autoAdjust="0"/>
  </p:normalViewPr>
  <p:slideViewPr>
    <p:cSldViewPr snapToGrid="0">
      <p:cViewPr varScale="1">
        <p:scale>
          <a:sx n="85" d="100"/>
          <a:sy n="85" d="100"/>
        </p:scale>
        <p:origin x="52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3.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xml"/><Relationship Id="rId4" Type="http://schemas.openxmlformats.org/officeDocument/2006/relationships/hyperlink" Target="https://blog.csdn.net/m0_68212477/article/details/136838679" TargetMode="External"/><Relationship Id="rId3" Type="http://schemas.openxmlformats.org/officeDocument/2006/relationships/hyperlink" Target="https://blog.csdn.net/zsj540070/article/details/136382041" TargetMode="Externa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blog.csdn.net/weixin_65621206/article/details/136251082" TargetMode="External"/><Relationship Id="rId3" Type="http://schemas.openxmlformats.org/officeDocument/2006/relationships/hyperlink" Target="https://blog.csdn.net/weixin_43636051/article/details/108604602" TargetMode="External"/><Relationship Id="rId2" Type="http://schemas.openxmlformats.org/officeDocument/2006/relationships/hyperlink" Target="https://blog.csdn.net/mighty13/article/details/113616772" TargetMode="Externa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blog.csdn.net/weixin_46566149/article/details/136367700&#13;" TargetMode="Externa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318784" y="-438150"/>
            <a:ext cx="2054282" cy="7742402"/>
            <a:chOff x="-318759" y="-438055"/>
            <a:chExt cx="2054231" cy="7742211"/>
          </a:xfrm>
        </p:grpSpPr>
        <p:grpSp>
          <p:nvGrpSpPr>
            <p:cNvPr id="18" name="组合 17"/>
            <p:cNvGrpSpPr/>
            <p:nvPr/>
          </p:nvGrpSpPr>
          <p:grpSpPr>
            <a:xfrm>
              <a:off x="-318758" y="-438055"/>
              <a:ext cx="2054230" cy="1341411"/>
              <a:chOff x="-318758" y="-438055"/>
              <a:chExt cx="2054230" cy="1341411"/>
            </a:xfrm>
          </p:grpSpPr>
          <p:sp>
            <p:nvSpPr>
              <p:cNvPr id="11" name="任意多边形 10"/>
              <p:cNvSpPr/>
              <p:nvPr/>
            </p:nvSpPr>
            <p:spPr>
              <a:xfrm rot="2700000">
                <a:off x="103782" y="-728333"/>
                <a:ext cx="1209149" cy="2054230"/>
              </a:xfrm>
              <a:custGeom>
                <a:avLst/>
                <a:gdLst>
                  <a:gd name="connsiteX0" fmla="*/ 579225 w 1209149"/>
                  <a:gd name="connsiteY0" fmla="*/ 629924 h 2054230"/>
                  <a:gd name="connsiteX1" fmla="*/ 1209149 w 1209149"/>
                  <a:gd name="connsiteY1" fmla="*/ 0 h 2054230"/>
                  <a:gd name="connsiteX2" fmla="*/ 1209149 w 1209149"/>
                  <a:gd name="connsiteY2" fmla="*/ 2054230 h 2054230"/>
                  <a:gd name="connsiteX3" fmla="*/ 629924 w 1209149"/>
                  <a:gd name="connsiteY3" fmla="*/ 2054230 h 2054230"/>
                  <a:gd name="connsiteX4" fmla="*/ 0 w 1209149"/>
                  <a:gd name="connsiteY4" fmla="*/ 1424306 h 2054230"/>
                  <a:gd name="connsiteX5" fmla="*/ 579225 w 1209149"/>
                  <a:gd name="connsiteY5" fmla="*/ 1424306 h 2054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149" h="2054230">
                    <a:moveTo>
                      <a:pt x="579225" y="629924"/>
                    </a:moveTo>
                    <a:lnTo>
                      <a:pt x="1209149" y="0"/>
                    </a:lnTo>
                    <a:lnTo>
                      <a:pt x="1209149" y="2054230"/>
                    </a:lnTo>
                    <a:lnTo>
                      <a:pt x="629924" y="2054230"/>
                    </a:lnTo>
                    <a:lnTo>
                      <a:pt x="0" y="1424306"/>
                    </a:lnTo>
                    <a:lnTo>
                      <a:pt x="579225" y="1424306"/>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任意多边形 12"/>
              <p:cNvSpPr/>
              <p:nvPr/>
            </p:nvSpPr>
            <p:spPr>
              <a:xfrm rot="2700000">
                <a:off x="28669" y="-657766"/>
                <a:ext cx="1072529" cy="1511952"/>
              </a:xfrm>
              <a:custGeom>
                <a:avLst/>
                <a:gdLst>
                  <a:gd name="connsiteX0" fmla="*/ 0 w 1072529"/>
                  <a:gd name="connsiteY0" fmla="*/ 1072529 h 1511952"/>
                  <a:gd name="connsiteX1" fmla="*/ 1072529 w 1072529"/>
                  <a:gd name="connsiteY1" fmla="*/ 0 h 1511952"/>
                  <a:gd name="connsiteX2" fmla="*/ 1072529 w 1072529"/>
                  <a:gd name="connsiteY2" fmla="*/ 1511952 h 1511952"/>
                  <a:gd name="connsiteX3" fmla="*/ 439424 w 1072529"/>
                  <a:gd name="connsiteY3" fmla="*/ 1511952 h 1511952"/>
                </a:gdLst>
                <a:ahLst/>
                <a:cxnLst>
                  <a:cxn ang="0">
                    <a:pos x="connsiteX0" y="connsiteY0"/>
                  </a:cxn>
                  <a:cxn ang="0">
                    <a:pos x="connsiteX1" y="connsiteY1"/>
                  </a:cxn>
                  <a:cxn ang="0">
                    <a:pos x="connsiteX2" y="connsiteY2"/>
                  </a:cxn>
                  <a:cxn ang="0">
                    <a:pos x="connsiteX3" y="connsiteY3"/>
                  </a:cxn>
                </a:cxnLst>
                <a:rect l="l" t="t" r="r" b="b"/>
                <a:pathLst>
                  <a:path w="1072529" h="1511952">
                    <a:moveTo>
                      <a:pt x="0" y="1072529"/>
                    </a:moveTo>
                    <a:lnTo>
                      <a:pt x="1072529" y="0"/>
                    </a:lnTo>
                    <a:lnTo>
                      <a:pt x="1072529" y="1511952"/>
                    </a:lnTo>
                    <a:lnTo>
                      <a:pt x="439424" y="1511952"/>
                    </a:lnTo>
                    <a:close/>
                  </a:path>
                </a:pathLst>
              </a:custGeom>
              <a:noFill/>
              <a:ln w="57150">
                <a:gradFill flip="none" rotWithShape="1">
                  <a:gsLst>
                    <a:gs pos="0">
                      <a:srgbClr val="D7B26C"/>
                    </a:gs>
                    <a:gs pos="67000">
                      <a:srgbClr val="D7B26C">
                        <a:alpha val="40000"/>
                      </a:srgbClr>
                    </a:gs>
                    <a:gs pos="100000">
                      <a:srgbClr val="D7B26C">
                        <a:alpha val="6500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flipV="1">
              <a:off x="-318759" y="5962745"/>
              <a:ext cx="2054230" cy="1341411"/>
              <a:chOff x="-318758" y="-438055"/>
              <a:chExt cx="2054230" cy="1341411"/>
            </a:xfrm>
          </p:grpSpPr>
          <p:sp>
            <p:nvSpPr>
              <p:cNvPr id="20" name="任意多边形 19"/>
              <p:cNvSpPr/>
              <p:nvPr/>
            </p:nvSpPr>
            <p:spPr>
              <a:xfrm rot="2700000">
                <a:off x="103782" y="-728333"/>
                <a:ext cx="1209149" cy="2054230"/>
              </a:xfrm>
              <a:custGeom>
                <a:avLst/>
                <a:gdLst>
                  <a:gd name="connsiteX0" fmla="*/ 579225 w 1209149"/>
                  <a:gd name="connsiteY0" fmla="*/ 629924 h 2054230"/>
                  <a:gd name="connsiteX1" fmla="*/ 1209149 w 1209149"/>
                  <a:gd name="connsiteY1" fmla="*/ 0 h 2054230"/>
                  <a:gd name="connsiteX2" fmla="*/ 1209149 w 1209149"/>
                  <a:gd name="connsiteY2" fmla="*/ 2054230 h 2054230"/>
                  <a:gd name="connsiteX3" fmla="*/ 629924 w 1209149"/>
                  <a:gd name="connsiteY3" fmla="*/ 2054230 h 2054230"/>
                  <a:gd name="connsiteX4" fmla="*/ 0 w 1209149"/>
                  <a:gd name="connsiteY4" fmla="*/ 1424306 h 2054230"/>
                  <a:gd name="connsiteX5" fmla="*/ 579225 w 1209149"/>
                  <a:gd name="connsiteY5" fmla="*/ 1424306 h 2054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149" h="2054230">
                    <a:moveTo>
                      <a:pt x="579225" y="629924"/>
                    </a:moveTo>
                    <a:lnTo>
                      <a:pt x="1209149" y="0"/>
                    </a:lnTo>
                    <a:lnTo>
                      <a:pt x="1209149" y="2054230"/>
                    </a:lnTo>
                    <a:lnTo>
                      <a:pt x="629924" y="2054230"/>
                    </a:lnTo>
                    <a:lnTo>
                      <a:pt x="0" y="1424306"/>
                    </a:lnTo>
                    <a:lnTo>
                      <a:pt x="579225" y="1424306"/>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任意多边形 20"/>
              <p:cNvSpPr/>
              <p:nvPr/>
            </p:nvSpPr>
            <p:spPr>
              <a:xfrm rot="2700000">
                <a:off x="28669" y="-657766"/>
                <a:ext cx="1072529" cy="1511952"/>
              </a:xfrm>
              <a:custGeom>
                <a:avLst/>
                <a:gdLst>
                  <a:gd name="connsiteX0" fmla="*/ 0 w 1072529"/>
                  <a:gd name="connsiteY0" fmla="*/ 1072529 h 1511952"/>
                  <a:gd name="connsiteX1" fmla="*/ 1072529 w 1072529"/>
                  <a:gd name="connsiteY1" fmla="*/ 0 h 1511952"/>
                  <a:gd name="connsiteX2" fmla="*/ 1072529 w 1072529"/>
                  <a:gd name="connsiteY2" fmla="*/ 1511952 h 1511952"/>
                  <a:gd name="connsiteX3" fmla="*/ 439424 w 1072529"/>
                  <a:gd name="connsiteY3" fmla="*/ 1511952 h 1511952"/>
                </a:gdLst>
                <a:ahLst/>
                <a:cxnLst>
                  <a:cxn ang="0">
                    <a:pos x="connsiteX0" y="connsiteY0"/>
                  </a:cxn>
                  <a:cxn ang="0">
                    <a:pos x="connsiteX1" y="connsiteY1"/>
                  </a:cxn>
                  <a:cxn ang="0">
                    <a:pos x="connsiteX2" y="connsiteY2"/>
                  </a:cxn>
                  <a:cxn ang="0">
                    <a:pos x="connsiteX3" y="connsiteY3"/>
                  </a:cxn>
                </a:cxnLst>
                <a:rect l="l" t="t" r="r" b="b"/>
                <a:pathLst>
                  <a:path w="1072529" h="1511952">
                    <a:moveTo>
                      <a:pt x="0" y="1072529"/>
                    </a:moveTo>
                    <a:lnTo>
                      <a:pt x="1072529" y="0"/>
                    </a:lnTo>
                    <a:lnTo>
                      <a:pt x="1072529" y="1511952"/>
                    </a:lnTo>
                    <a:lnTo>
                      <a:pt x="439424" y="1511952"/>
                    </a:lnTo>
                    <a:close/>
                  </a:path>
                </a:pathLst>
              </a:custGeom>
              <a:noFill/>
              <a:ln w="57150">
                <a:gradFill flip="none" rotWithShape="1">
                  <a:gsLst>
                    <a:gs pos="0">
                      <a:srgbClr val="D7B26C"/>
                    </a:gs>
                    <a:gs pos="67000">
                      <a:srgbClr val="D7B26C">
                        <a:alpha val="40000"/>
                      </a:srgbClr>
                    </a:gs>
                    <a:gs pos="100000">
                      <a:srgbClr val="D7B26C">
                        <a:alpha val="6500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9" name="组合 88"/>
          <p:cNvGrpSpPr/>
          <p:nvPr/>
        </p:nvGrpSpPr>
        <p:grpSpPr>
          <a:xfrm>
            <a:off x="9629471" y="-57386"/>
            <a:ext cx="4744029" cy="6972537"/>
            <a:chOff x="9629471" y="-57386"/>
            <a:chExt cx="4744029" cy="6972537"/>
          </a:xfrm>
        </p:grpSpPr>
        <p:sp>
          <p:nvSpPr>
            <p:cNvPr id="61" name="任意多边形 60"/>
            <p:cNvSpPr/>
            <p:nvPr/>
          </p:nvSpPr>
          <p:spPr>
            <a:xfrm rot="2700000">
              <a:off x="10004350" y="1244426"/>
              <a:ext cx="4369150" cy="4369150"/>
            </a:xfrm>
            <a:custGeom>
              <a:avLst/>
              <a:gdLst>
                <a:gd name="connsiteX0" fmla="*/ 0 w 4369150"/>
                <a:gd name="connsiteY0" fmla="*/ 0 h 4369150"/>
                <a:gd name="connsiteX1" fmla="*/ 875900 w 4369150"/>
                <a:gd name="connsiteY1" fmla="*/ 875899 h 4369150"/>
                <a:gd name="connsiteX2" fmla="*/ 875899 w 4369150"/>
                <a:gd name="connsiteY2" fmla="*/ 3493251 h 4369150"/>
                <a:gd name="connsiteX3" fmla="*/ 3493251 w 4369150"/>
                <a:gd name="connsiteY3" fmla="*/ 3493251 h 4369150"/>
                <a:gd name="connsiteX4" fmla="*/ 4369150 w 4369150"/>
                <a:gd name="connsiteY4" fmla="*/ 4369150 h 4369150"/>
                <a:gd name="connsiteX5" fmla="*/ 0 w 4369150"/>
                <a:gd name="connsiteY5" fmla="*/ 4369150 h 436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69150" h="4369150">
                  <a:moveTo>
                    <a:pt x="0" y="0"/>
                  </a:moveTo>
                  <a:lnTo>
                    <a:pt x="875900" y="875899"/>
                  </a:lnTo>
                  <a:lnTo>
                    <a:pt x="875899" y="3493251"/>
                  </a:lnTo>
                  <a:lnTo>
                    <a:pt x="3493251" y="3493251"/>
                  </a:lnTo>
                  <a:lnTo>
                    <a:pt x="4369150" y="4369150"/>
                  </a:lnTo>
                  <a:lnTo>
                    <a:pt x="0" y="4369150"/>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84" name="组合 83"/>
            <p:cNvGrpSpPr/>
            <p:nvPr/>
          </p:nvGrpSpPr>
          <p:grpSpPr>
            <a:xfrm>
              <a:off x="9629471" y="-57386"/>
              <a:ext cx="2620422" cy="6972537"/>
              <a:chOff x="9629471" y="-57386"/>
              <a:chExt cx="2620422" cy="6972537"/>
            </a:xfrm>
          </p:grpSpPr>
          <p:sp>
            <p:nvSpPr>
              <p:cNvPr id="45" name="任意多边形 44"/>
              <p:cNvSpPr/>
              <p:nvPr/>
            </p:nvSpPr>
            <p:spPr>
              <a:xfrm>
                <a:off x="10177462" y="5889069"/>
                <a:ext cx="2014538" cy="1007269"/>
              </a:xfrm>
              <a:custGeom>
                <a:avLst/>
                <a:gdLst>
                  <a:gd name="connsiteX0" fmla="*/ 1007269 w 2014538"/>
                  <a:gd name="connsiteY0" fmla="*/ 0 h 1007269"/>
                  <a:gd name="connsiteX1" fmla="*/ 2014538 w 2014538"/>
                  <a:gd name="connsiteY1" fmla="*/ 1007269 h 1007269"/>
                  <a:gd name="connsiteX2" fmla="*/ 0 w 2014538"/>
                  <a:gd name="connsiteY2" fmla="*/ 1007269 h 1007269"/>
                </a:gdLst>
                <a:ahLst/>
                <a:cxnLst>
                  <a:cxn ang="0">
                    <a:pos x="connsiteX0" y="connsiteY0"/>
                  </a:cxn>
                  <a:cxn ang="0">
                    <a:pos x="connsiteX1" y="connsiteY1"/>
                  </a:cxn>
                  <a:cxn ang="0">
                    <a:pos x="connsiteX2" y="connsiteY2"/>
                  </a:cxn>
                </a:cxnLst>
                <a:rect l="l" t="t" r="r" b="b"/>
                <a:pathLst>
                  <a:path w="2014538" h="1007269">
                    <a:moveTo>
                      <a:pt x="1007269" y="0"/>
                    </a:moveTo>
                    <a:lnTo>
                      <a:pt x="2014538" y="1007269"/>
                    </a:lnTo>
                    <a:lnTo>
                      <a:pt x="0" y="1007269"/>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82"/>
              <p:cNvSpPr/>
              <p:nvPr/>
            </p:nvSpPr>
            <p:spPr>
              <a:xfrm>
                <a:off x="9901083" y="2840615"/>
                <a:ext cx="2329761" cy="4074536"/>
              </a:xfrm>
              <a:custGeom>
                <a:avLst/>
                <a:gdLst>
                  <a:gd name="connsiteX0" fmla="*/ 2329761 w 2329761"/>
                  <a:gd name="connsiteY0" fmla="*/ 0 h 4074536"/>
                  <a:gd name="connsiteX1" fmla="*/ 2329761 w 2329761"/>
                  <a:gd name="connsiteY1" fmla="*/ 4074536 h 4074536"/>
                  <a:gd name="connsiteX2" fmla="*/ 1744775 w 2329761"/>
                  <a:gd name="connsiteY2" fmla="*/ 4074536 h 4074536"/>
                  <a:gd name="connsiteX3" fmla="*/ 0 w 2329761"/>
                  <a:gd name="connsiteY3" fmla="*/ 2329761 h 4074536"/>
                </a:gdLst>
                <a:ahLst/>
                <a:cxnLst>
                  <a:cxn ang="0">
                    <a:pos x="connsiteX0" y="connsiteY0"/>
                  </a:cxn>
                  <a:cxn ang="0">
                    <a:pos x="connsiteX1" y="connsiteY1"/>
                  </a:cxn>
                  <a:cxn ang="0">
                    <a:pos x="connsiteX2" y="connsiteY2"/>
                  </a:cxn>
                  <a:cxn ang="0">
                    <a:pos x="connsiteX3" y="connsiteY3"/>
                  </a:cxn>
                </a:cxnLst>
                <a:rect l="l" t="t" r="r" b="b"/>
                <a:pathLst>
                  <a:path w="2329761" h="4074536">
                    <a:moveTo>
                      <a:pt x="2329761" y="0"/>
                    </a:moveTo>
                    <a:lnTo>
                      <a:pt x="2329761" y="4074536"/>
                    </a:lnTo>
                    <a:lnTo>
                      <a:pt x="1744775" y="4074536"/>
                    </a:lnTo>
                    <a:lnTo>
                      <a:pt x="0" y="2329761"/>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80"/>
              <p:cNvSpPr/>
              <p:nvPr/>
            </p:nvSpPr>
            <p:spPr>
              <a:xfrm>
                <a:off x="10162403" y="3101936"/>
                <a:ext cx="2068440" cy="3811626"/>
              </a:xfrm>
              <a:custGeom>
                <a:avLst/>
                <a:gdLst>
                  <a:gd name="connsiteX0" fmla="*/ 2068440 w 2068440"/>
                  <a:gd name="connsiteY0" fmla="*/ 0 h 3811626"/>
                  <a:gd name="connsiteX1" fmla="*/ 2068440 w 2068440"/>
                  <a:gd name="connsiteY1" fmla="*/ 3811626 h 3811626"/>
                  <a:gd name="connsiteX2" fmla="*/ 1743186 w 2068440"/>
                  <a:gd name="connsiteY2" fmla="*/ 3811626 h 3811626"/>
                  <a:gd name="connsiteX3" fmla="*/ 0 w 2068440"/>
                  <a:gd name="connsiteY3" fmla="*/ 2068440 h 3811626"/>
                </a:gdLst>
                <a:ahLst/>
                <a:cxnLst>
                  <a:cxn ang="0">
                    <a:pos x="connsiteX0" y="connsiteY0"/>
                  </a:cxn>
                  <a:cxn ang="0">
                    <a:pos x="connsiteX1" y="connsiteY1"/>
                  </a:cxn>
                  <a:cxn ang="0">
                    <a:pos x="connsiteX2" y="connsiteY2"/>
                  </a:cxn>
                  <a:cxn ang="0">
                    <a:pos x="connsiteX3" y="connsiteY3"/>
                  </a:cxn>
                </a:cxnLst>
                <a:rect l="l" t="t" r="r" b="b"/>
                <a:pathLst>
                  <a:path w="2068440" h="3811626">
                    <a:moveTo>
                      <a:pt x="2068440" y="0"/>
                    </a:moveTo>
                    <a:lnTo>
                      <a:pt x="2068440" y="3811626"/>
                    </a:lnTo>
                    <a:lnTo>
                      <a:pt x="1743186" y="3811626"/>
                    </a:lnTo>
                    <a:lnTo>
                      <a:pt x="0" y="2068440"/>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78"/>
              <p:cNvSpPr/>
              <p:nvPr/>
            </p:nvSpPr>
            <p:spPr>
              <a:xfrm>
                <a:off x="9901084" y="-57386"/>
                <a:ext cx="2348809" cy="4093820"/>
              </a:xfrm>
              <a:custGeom>
                <a:avLst/>
                <a:gdLst>
                  <a:gd name="connsiteX0" fmla="*/ 1745011 w 2348809"/>
                  <a:gd name="connsiteY0" fmla="*/ 0 h 4093820"/>
                  <a:gd name="connsiteX1" fmla="*/ 2348809 w 2348809"/>
                  <a:gd name="connsiteY1" fmla="*/ 0 h 4093820"/>
                  <a:gd name="connsiteX2" fmla="*/ 2348809 w 2348809"/>
                  <a:gd name="connsiteY2" fmla="*/ 4093820 h 4093820"/>
                  <a:gd name="connsiteX3" fmla="*/ 0 w 2348809"/>
                  <a:gd name="connsiteY3" fmla="*/ 1745011 h 4093820"/>
                </a:gdLst>
                <a:ahLst/>
                <a:cxnLst>
                  <a:cxn ang="0">
                    <a:pos x="connsiteX0" y="connsiteY0"/>
                  </a:cxn>
                  <a:cxn ang="0">
                    <a:pos x="connsiteX1" y="connsiteY1"/>
                  </a:cxn>
                  <a:cxn ang="0">
                    <a:pos x="connsiteX2" y="connsiteY2"/>
                  </a:cxn>
                  <a:cxn ang="0">
                    <a:pos x="connsiteX3" y="connsiteY3"/>
                  </a:cxn>
                </a:cxnLst>
                <a:rect l="l" t="t" r="r" b="b"/>
                <a:pathLst>
                  <a:path w="2348809" h="4093820">
                    <a:moveTo>
                      <a:pt x="1745011" y="0"/>
                    </a:moveTo>
                    <a:lnTo>
                      <a:pt x="2348809" y="0"/>
                    </a:lnTo>
                    <a:lnTo>
                      <a:pt x="2348809" y="4093820"/>
                    </a:lnTo>
                    <a:lnTo>
                      <a:pt x="0" y="1745011"/>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p:nvSpPr>
            <p:spPr>
              <a:xfrm>
                <a:off x="10162404" y="-57149"/>
                <a:ext cx="2057866" cy="3802641"/>
              </a:xfrm>
              <a:custGeom>
                <a:avLst/>
                <a:gdLst>
                  <a:gd name="connsiteX0" fmla="*/ 1744775 w 2057866"/>
                  <a:gd name="connsiteY0" fmla="*/ 0 h 3802641"/>
                  <a:gd name="connsiteX1" fmla="*/ 2057866 w 2057866"/>
                  <a:gd name="connsiteY1" fmla="*/ 0 h 3802641"/>
                  <a:gd name="connsiteX2" fmla="*/ 2057866 w 2057866"/>
                  <a:gd name="connsiteY2" fmla="*/ 3802641 h 3802641"/>
                  <a:gd name="connsiteX3" fmla="*/ 0 w 2057866"/>
                  <a:gd name="connsiteY3" fmla="*/ 1744775 h 3802641"/>
                </a:gdLst>
                <a:ahLst/>
                <a:cxnLst>
                  <a:cxn ang="0">
                    <a:pos x="connsiteX0" y="connsiteY0"/>
                  </a:cxn>
                  <a:cxn ang="0">
                    <a:pos x="connsiteX1" y="connsiteY1"/>
                  </a:cxn>
                  <a:cxn ang="0">
                    <a:pos x="connsiteX2" y="connsiteY2"/>
                  </a:cxn>
                  <a:cxn ang="0">
                    <a:pos x="connsiteX3" y="connsiteY3"/>
                  </a:cxn>
                </a:cxnLst>
                <a:rect l="l" t="t" r="r" b="b"/>
                <a:pathLst>
                  <a:path w="2057866" h="3802641">
                    <a:moveTo>
                      <a:pt x="1744775" y="0"/>
                    </a:moveTo>
                    <a:lnTo>
                      <a:pt x="2057866" y="0"/>
                    </a:lnTo>
                    <a:lnTo>
                      <a:pt x="2057866" y="3802641"/>
                    </a:lnTo>
                    <a:lnTo>
                      <a:pt x="0" y="1744775"/>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68"/>
              <p:cNvSpPr/>
              <p:nvPr/>
            </p:nvSpPr>
            <p:spPr>
              <a:xfrm>
                <a:off x="9629471" y="857250"/>
                <a:ext cx="2601373" cy="5143500"/>
              </a:xfrm>
              <a:custGeom>
                <a:avLst/>
                <a:gdLst>
                  <a:gd name="connsiteX0" fmla="*/ 2571750 w 2601373"/>
                  <a:gd name="connsiteY0" fmla="*/ 0 h 5143500"/>
                  <a:gd name="connsiteX1" fmla="*/ 2601373 w 2601373"/>
                  <a:gd name="connsiteY1" fmla="*/ 29623 h 5143500"/>
                  <a:gd name="connsiteX2" fmla="*/ 2601373 w 2601373"/>
                  <a:gd name="connsiteY2" fmla="*/ 5113877 h 5143500"/>
                  <a:gd name="connsiteX3" fmla="*/ 2571750 w 2601373"/>
                  <a:gd name="connsiteY3" fmla="*/ 5143500 h 5143500"/>
                  <a:gd name="connsiteX4" fmla="*/ 0 w 2601373"/>
                  <a:gd name="connsiteY4" fmla="*/ 257175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73" h="5143500">
                    <a:moveTo>
                      <a:pt x="2571750" y="0"/>
                    </a:moveTo>
                    <a:lnTo>
                      <a:pt x="2601373" y="29623"/>
                    </a:lnTo>
                    <a:lnTo>
                      <a:pt x="2601373" y="5113877"/>
                    </a:lnTo>
                    <a:lnTo>
                      <a:pt x="2571750" y="5143500"/>
                    </a:lnTo>
                    <a:lnTo>
                      <a:pt x="0" y="2571750"/>
                    </a:lnTo>
                    <a:close/>
                  </a:path>
                </a:pathLst>
              </a:custGeom>
              <a:noFill/>
              <a:ln w="57150">
                <a:gradFill flip="none" rotWithShape="1">
                  <a:gsLst>
                    <a:gs pos="0">
                      <a:srgbClr val="D7B26C"/>
                    </a:gs>
                    <a:gs pos="57000">
                      <a:srgbClr val="D7B26C">
                        <a:alpha val="28000"/>
                      </a:srgbClr>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a:xfrm>
                <a:off x="10734370" y="1962150"/>
                <a:ext cx="1466850" cy="2933700"/>
              </a:xfrm>
              <a:custGeom>
                <a:avLst/>
                <a:gdLst>
                  <a:gd name="connsiteX0" fmla="*/ 1466850 w 1466850"/>
                  <a:gd name="connsiteY0" fmla="*/ 0 h 2933700"/>
                  <a:gd name="connsiteX1" fmla="*/ 1466850 w 1466850"/>
                  <a:gd name="connsiteY1" fmla="*/ 2933700 h 2933700"/>
                  <a:gd name="connsiteX2" fmla="*/ 0 w 1466850"/>
                  <a:gd name="connsiteY2" fmla="*/ 1466850 h 2933700"/>
                </a:gdLst>
                <a:ahLst/>
                <a:cxnLst>
                  <a:cxn ang="0">
                    <a:pos x="connsiteX0" y="connsiteY0"/>
                  </a:cxn>
                  <a:cxn ang="0">
                    <a:pos x="connsiteX1" y="connsiteY1"/>
                  </a:cxn>
                  <a:cxn ang="0">
                    <a:pos x="connsiteX2" y="connsiteY2"/>
                  </a:cxn>
                </a:cxnLst>
                <a:rect l="l" t="t" r="r" b="b"/>
                <a:pathLst>
                  <a:path w="1466850" h="2933700">
                    <a:moveTo>
                      <a:pt x="1466850" y="0"/>
                    </a:moveTo>
                    <a:lnTo>
                      <a:pt x="1466850" y="2933700"/>
                    </a:lnTo>
                    <a:lnTo>
                      <a:pt x="0" y="1466850"/>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p:nvSpPr>
            <p:spPr>
              <a:xfrm>
                <a:off x="11237917" y="2465696"/>
                <a:ext cx="973877" cy="1926608"/>
              </a:xfrm>
              <a:custGeom>
                <a:avLst/>
                <a:gdLst>
                  <a:gd name="connsiteX0" fmla="*/ 963304 w 973877"/>
                  <a:gd name="connsiteY0" fmla="*/ 0 h 1926608"/>
                  <a:gd name="connsiteX1" fmla="*/ 973877 w 973877"/>
                  <a:gd name="connsiteY1" fmla="*/ 10573 h 1926608"/>
                  <a:gd name="connsiteX2" fmla="*/ 973877 w 973877"/>
                  <a:gd name="connsiteY2" fmla="*/ 1916035 h 1926608"/>
                  <a:gd name="connsiteX3" fmla="*/ 963304 w 973877"/>
                  <a:gd name="connsiteY3" fmla="*/ 1926608 h 1926608"/>
                  <a:gd name="connsiteX4" fmla="*/ 0 w 973877"/>
                  <a:gd name="connsiteY4" fmla="*/ 963304 h 192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877" h="1926608">
                    <a:moveTo>
                      <a:pt x="963304" y="0"/>
                    </a:moveTo>
                    <a:lnTo>
                      <a:pt x="973877" y="10573"/>
                    </a:lnTo>
                    <a:lnTo>
                      <a:pt x="973877" y="1916035"/>
                    </a:lnTo>
                    <a:lnTo>
                      <a:pt x="963304" y="1926608"/>
                    </a:lnTo>
                    <a:lnTo>
                      <a:pt x="0" y="963304"/>
                    </a:lnTo>
                    <a:close/>
                  </a:path>
                </a:pathLst>
              </a:custGeom>
              <a:noFill/>
              <a:ln w="57150">
                <a:gradFill flip="none" rotWithShape="1">
                  <a:gsLst>
                    <a:gs pos="0">
                      <a:srgbClr val="D7B26C"/>
                    </a:gs>
                    <a:gs pos="57000">
                      <a:srgbClr val="D7B26C">
                        <a:alpha val="28000"/>
                      </a:srgbClr>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88" name="直接连接符 87"/>
          <p:cNvCxnSpPr>
            <a:stCxn id="11" idx="2"/>
            <a:endCxn id="20" idx="2"/>
          </p:cNvCxnSpPr>
          <p:nvPr/>
        </p:nvCxnSpPr>
        <p:spPr>
          <a:xfrm flipH="1">
            <a:off x="409568" y="1452513"/>
            <a:ext cx="1" cy="3961076"/>
          </a:xfrm>
          <a:prstGeom prst="line">
            <a:avLst/>
          </a:prstGeom>
          <a:ln w="38100">
            <a:gradFill flip="none" rotWithShape="1">
              <a:gsLst>
                <a:gs pos="0">
                  <a:srgbClr val="D7B26C"/>
                </a:gs>
                <a:gs pos="47000">
                  <a:srgbClr val="D7B26C">
                    <a:alpha val="64000"/>
                  </a:srgbClr>
                </a:gs>
                <a:gs pos="79000">
                  <a:srgbClr val="D7B26C">
                    <a:alpha val="36000"/>
                  </a:srgbClr>
                </a:gs>
                <a:gs pos="25000">
                  <a:srgbClr val="D7B26C">
                    <a:alpha val="40000"/>
                  </a:srgbClr>
                </a:gs>
                <a:gs pos="100000">
                  <a:srgbClr val="D7B26C"/>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074160" y="5007749"/>
            <a:ext cx="3665220" cy="521970"/>
          </a:xfrm>
          <a:prstGeom prst="rect">
            <a:avLst/>
          </a:prstGeom>
          <a:noFill/>
        </p:spPr>
        <p:txBody>
          <a:bodyPr wrap="square" rtlCol="0">
            <a:spAutoFit/>
          </a:bodyPr>
          <a:lstStyle/>
          <a:p>
            <a:pPr algn="ctr"/>
            <a:r>
              <a:rPr lang="en-US" altLang="zh-CN" sz="2800" b="1" dirty="0">
                <a:latin typeface="Times New Roman" panose="02020603050405020304" charset="0"/>
                <a:ea typeface="微软雅黑" panose="020B0503020204020204" charset="-122"/>
                <a:cs typeface="Times New Roman" panose="02020603050405020304" charset="0"/>
              </a:rPr>
              <a:t>2024.6.17</a:t>
            </a:r>
            <a:endParaRPr lang="en-US" altLang="zh-CN" sz="2800" b="1" dirty="0">
              <a:latin typeface="Times New Roman" panose="02020603050405020304" charset="0"/>
              <a:ea typeface="微软雅黑" panose="020B0503020204020204" charset="-122"/>
              <a:cs typeface="Times New Roman" panose="02020603050405020304" charset="0"/>
            </a:endParaRPr>
          </a:p>
        </p:txBody>
      </p:sp>
      <p:sp>
        <p:nvSpPr>
          <p:cNvPr id="6" name="文本框 5"/>
          <p:cNvSpPr txBox="1"/>
          <p:nvPr/>
        </p:nvSpPr>
        <p:spPr>
          <a:xfrm>
            <a:off x="2285365" y="2289175"/>
            <a:ext cx="7243445" cy="1198880"/>
          </a:xfrm>
          <a:prstGeom prst="rect">
            <a:avLst/>
          </a:prstGeom>
          <a:noFill/>
        </p:spPr>
        <p:txBody>
          <a:bodyPr wrap="square" rtlCol="0">
            <a:spAutoFit/>
          </a:bodyPr>
          <a:lstStyle>
            <a:defPPr>
              <a:defRPr lang="zh-CN"/>
            </a:defPPr>
            <a:lvl1pPr algn="ctr">
              <a:defRPr sz="4000" b="1">
                <a:latin typeface="微软雅黑" panose="020B0503020204020204" charset="-122"/>
                <a:ea typeface="微软雅黑" panose="020B0503020204020204" charset="-122"/>
              </a:defRPr>
            </a:lvl1pPr>
          </a:lstStyle>
          <a:p>
            <a:r>
              <a:rPr lang="zh-CN" altLang="en-US" sz="3600" dirty="0">
                <a:sym typeface="+mn-ea"/>
              </a:rPr>
              <a:t>基于</a:t>
            </a:r>
            <a:r>
              <a:rPr lang="en-US" altLang="zh-CN" sz="3600" dirty="0">
                <a:sym typeface="+mn-ea"/>
              </a:rPr>
              <a:t>YOLOv8</a:t>
            </a:r>
            <a:r>
              <a:rPr lang="zh-CN" altLang="en-US" sz="3600" dirty="0"/>
              <a:t>语义分割结果</a:t>
            </a:r>
            <a:endParaRPr lang="zh-CN" altLang="en-US" sz="3600" dirty="0"/>
          </a:p>
          <a:p>
            <a:r>
              <a:rPr lang="zh-CN" altLang="en-US" sz="3600" dirty="0"/>
              <a:t>实现对指定多个类别打码</a:t>
            </a:r>
            <a:endParaRPr lang="zh-CN" altLang="en-US" sz="3600" dirty="0"/>
          </a:p>
        </p:txBody>
      </p:sp>
      <p:sp>
        <p:nvSpPr>
          <p:cNvPr id="5" name="文本框 4"/>
          <p:cNvSpPr txBox="1"/>
          <p:nvPr/>
        </p:nvSpPr>
        <p:spPr>
          <a:xfrm>
            <a:off x="2212975" y="3960495"/>
            <a:ext cx="7221855" cy="574675"/>
          </a:xfrm>
          <a:prstGeom prst="rect">
            <a:avLst/>
          </a:prstGeom>
          <a:noFill/>
        </p:spPr>
        <p:txBody>
          <a:bodyPr wrap="square" rtlCol="0" anchor="t">
            <a:noAutofit/>
          </a:bodyPr>
          <a:lstStyle>
            <a:defPPr>
              <a:defRPr lang="zh-CN"/>
            </a:defPPr>
            <a:lvl1pPr algn="ctr">
              <a:defRPr sz="4000" b="1">
                <a:latin typeface="微软雅黑" panose="020B0503020204020204" charset="-122"/>
                <a:ea typeface="微软雅黑" panose="020B0503020204020204" charset="-122"/>
              </a:defRPr>
            </a:lvl1pPr>
          </a:lstStyle>
          <a:p>
            <a:pPr lvl="0" algn="ctr">
              <a:buClrTx/>
              <a:buSzTx/>
              <a:buFontTx/>
            </a:pPr>
            <a:r>
              <a:rPr lang="zh-CN" altLang="en-US" sz="2800" dirty="0">
                <a:sym typeface="+mn-ea"/>
              </a:rPr>
              <a:t>可应对于不同数据集和打码模式的补充</a:t>
            </a:r>
            <a:endParaRPr lang="zh-CN" altLang="en-US" sz="2800" dirty="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81355"/>
            <a:ext cx="12192000" cy="6776645"/>
          </a:xfrm>
          <a:prstGeom prst="rect">
            <a:avLst/>
          </a:prstGeom>
        </p:spPr>
      </p:pic>
      <p:sp>
        <p:nvSpPr>
          <p:cNvPr id="4" name="文本框 3"/>
          <p:cNvSpPr txBox="1"/>
          <p:nvPr/>
        </p:nvSpPr>
        <p:spPr>
          <a:xfrm>
            <a:off x="8615082" y="543020"/>
            <a:ext cx="3487271" cy="3293209"/>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indent="457200" algn="just"/>
            <a:r>
              <a:rPr lang="zh-CN" altLang="en-US" sz="1600" dirty="0"/>
              <a:t>对分割结果打码的总体流程，可以分为核心模块、图像替换模块两大部分，同时有</a:t>
            </a:r>
            <a:r>
              <a:rPr lang="en-US" altLang="zh-CN" sz="1600" dirty="0"/>
              <a:t>3</a:t>
            </a:r>
            <a:r>
              <a:rPr lang="zh-CN" altLang="en-US" sz="1600" dirty="0"/>
              <a:t>种不同的打码模式。</a:t>
            </a:r>
            <a:endParaRPr lang="en-US" altLang="zh-CN" sz="1600" dirty="0"/>
          </a:p>
          <a:p>
            <a:pPr indent="457200" algn="just"/>
            <a:endParaRPr lang="en-US" altLang="zh-CN" sz="1600" dirty="0"/>
          </a:p>
          <a:p>
            <a:pPr indent="457200" algn="just"/>
            <a:r>
              <a:rPr lang="zh-CN" altLang="en-US" sz="1600" dirty="0"/>
              <a:t>其中，核心模块中总共有三个步骤：通过打码模块得到只有（需要打码的）掩膜部分的打码图像；对原图像去掉掩膜部分后的图像；对打码的图像和去掉掩膜的图像进行拼接。</a:t>
            </a:r>
            <a:endParaRPr lang="en-US" altLang="zh-CN" sz="1600" dirty="0"/>
          </a:p>
          <a:p>
            <a:pPr indent="457200" algn="just"/>
            <a:endParaRPr lang="en-US" altLang="zh-CN" sz="1600" dirty="0"/>
          </a:p>
          <a:p>
            <a:pPr indent="457200" algn="just"/>
            <a:r>
              <a:rPr lang="zh-CN" altLang="en-US" sz="1600" dirty="0"/>
              <a:t>经过核心模块后，只需将未打码的图像替换成打码图像，并加上推理结果中的预测框和掩膜即可。</a:t>
            </a:r>
            <a:endParaRPr lang="en-US" altLang="zh-CN" sz="1600" dirty="0"/>
          </a:p>
        </p:txBody>
      </p:sp>
      <p:sp>
        <p:nvSpPr>
          <p:cNvPr id="5" name="文本框 4"/>
          <p:cNvSpPr txBox="1"/>
          <p:nvPr/>
        </p:nvSpPr>
        <p:spPr>
          <a:xfrm>
            <a:off x="9735670" y="0"/>
            <a:ext cx="2572871" cy="46166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一、打码的流程</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93869" y="0"/>
            <a:ext cx="6942320" cy="6858000"/>
          </a:xfrm>
          <a:prstGeom prst="rect">
            <a:avLst/>
          </a:prstGeom>
        </p:spPr>
      </p:pic>
      <p:sp>
        <p:nvSpPr>
          <p:cNvPr id="3" name="Rectangle 1"/>
          <p:cNvSpPr>
            <a:spLocks noChangeArrowheads="1"/>
          </p:cNvSpPr>
          <p:nvPr/>
        </p:nvSpPr>
        <p:spPr bwMode="auto">
          <a:xfrm>
            <a:off x="444171" y="2121770"/>
            <a:ext cx="3738286" cy="2308324"/>
          </a:xfrm>
          <a:prstGeom prst="rect">
            <a:avLst/>
          </a:prstGeom>
          <a:noFill/>
        </p:spPr>
        <p:txBody>
          <a:bodyPr wrap="square">
            <a:spAutoFit/>
          </a:bodyPr>
          <a:lstStyle/>
          <a:p>
            <a:r>
              <a:rPr lang="zh-CN" altLang="en-US" sz="1600" b="1" dirty="0">
                <a:latin typeface="Times New Roman" panose="02020603050405020304" charset="0"/>
                <a:ea typeface="微软雅黑" panose="020B0503020204020204" charset="-122"/>
                <a:cs typeface="Times New Roman" panose="02020603050405020304" charset="0"/>
              </a:rPr>
              <a:t>具体的打码模式如下：</a:t>
            </a:r>
            <a:endParaRPr lang="en-US" altLang="zh-CN" sz="1600" b="1" dirty="0">
              <a:latin typeface="Times New Roman" panose="02020603050405020304" charset="0"/>
              <a:ea typeface="微软雅黑" panose="020B0503020204020204" charset="-122"/>
              <a:cs typeface="Times New Roman" panose="02020603050405020304" charset="0"/>
            </a:endParaRPr>
          </a:p>
          <a:p>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0：需要打码的类别均以类似于新闻上的方式打码（通过最临近插值，形成块状马赛克效果）。</a:t>
            </a:r>
            <a:br>
              <a:rPr lang="zh-CN" altLang="zh-CN" sz="1600" b="1" dirty="0">
                <a:latin typeface="Times New Roman" panose="02020603050405020304" charset="0"/>
                <a:ea typeface="微软雅黑" panose="020B0503020204020204" charset="-122"/>
                <a:cs typeface="Times New Roman" panose="02020603050405020304" charset="0"/>
              </a:rPr>
            </a:br>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1：需要打码的类别均打上同一种颜色的码，例如打码区域全白、全红等。</a:t>
            </a:r>
            <a:br>
              <a:rPr lang="zh-CN" altLang="zh-CN" sz="1600" b="1" dirty="0">
                <a:latin typeface="Times New Roman" panose="02020603050405020304" charset="0"/>
                <a:ea typeface="微软雅黑" panose="020B0503020204020204" charset="-122"/>
                <a:cs typeface="Times New Roman" panose="02020603050405020304" charset="0"/>
              </a:rPr>
            </a:br>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2：需要打码的不同类别根据指定类别颜色进行打码。</a:t>
            </a:r>
            <a:endParaRPr lang="zh-CN" altLang="zh-CN" sz="1600" b="1" dirty="0">
              <a:latin typeface="Times New Roman" panose="02020603050405020304" charset="0"/>
              <a:ea typeface="微软雅黑" panose="020B0503020204020204" charset="-122"/>
              <a:cs typeface="Times New Roman" panose="02020603050405020304" charset="0"/>
            </a:endParaRPr>
          </a:p>
        </p:txBody>
      </p:sp>
      <p:sp>
        <p:nvSpPr>
          <p:cNvPr id="4" name="Rectangle 1"/>
          <p:cNvSpPr>
            <a:spLocks noChangeArrowheads="1"/>
          </p:cNvSpPr>
          <p:nvPr/>
        </p:nvSpPr>
        <p:spPr bwMode="auto">
          <a:xfrm>
            <a:off x="444171" y="1082096"/>
            <a:ext cx="3738285" cy="830997"/>
          </a:xfrm>
          <a:prstGeom prst="rect">
            <a:avLst/>
          </a:prstGeom>
          <a:noFill/>
        </p:spPr>
        <p:txBody>
          <a:bodyPr wrap="square">
            <a:spAutoFit/>
          </a:bodyPr>
          <a:lstStyle/>
          <a:p>
            <a:r>
              <a:rPr lang="zh-CN" altLang="en-US" sz="1600" b="1" dirty="0">
                <a:latin typeface="Times New Roman" panose="02020603050405020304" charset="0"/>
                <a:ea typeface="微软雅黑" panose="020B0503020204020204" charset="-122"/>
                <a:cs typeface="Times New Roman" panose="02020603050405020304" charset="0"/>
              </a:rPr>
              <a:t>打码模块：可根据不同的打码模式执行不同的流程，得到具有不同打码效果的打码后的图像。</a:t>
            </a:r>
            <a:endParaRPr lang="zh-CN" altLang="zh-CN" sz="1600" b="1" dirty="0">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1098175" y="35236"/>
            <a:ext cx="2572871" cy="46166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一、打码的流程</a:t>
            </a:r>
            <a:endParaRPr lang="zh-CN" altLang="en-US" dirty="0"/>
          </a:p>
        </p:txBody>
      </p:sp>
      <p:sp>
        <p:nvSpPr>
          <p:cNvPr id="6" name="Rectangle 1"/>
          <p:cNvSpPr>
            <a:spLocks noChangeArrowheads="1"/>
          </p:cNvSpPr>
          <p:nvPr/>
        </p:nvSpPr>
        <p:spPr bwMode="auto">
          <a:xfrm>
            <a:off x="444172" y="4776563"/>
            <a:ext cx="3738285" cy="1323439"/>
          </a:xfrm>
          <a:prstGeom prst="rect">
            <a:avLst/>
          </a:prstGeom>
          <a:noFill/>
        </p:spPr>
        <p:txBody>
          <a:bodyPr wrap="square">
            <a:spAutoFit/>
          </a:bodyPr>
          <a:lstStyle/>
          <a:p>
            <a:pPr algn="just"/>
            <a:r>
              <a:rPr lang="zh-CN" altLang="en-US" sz="1600" b="1" dirty="0">
                <a:latin typeface="Times New Roman" panose="02020603050405020304" charset="0"/>
                <a:ea typeface="微软雅黑" panose="020B0503020204020204" charset="-122"/>
                <a:cs typeface="Times New Roman" panose="02020603050405020304" charset="0"/>
              </a:rPr>
              <a:t>对于模式</a:t>
            </a:r>
            <a:r>
              <a:rPr lang="en-US" altLang="zh-CN" sz="1600" b="1" dirty="0">
                <a:latin typeface="Times New Roman" panose="02020603050405020304" charset="0"/>
                <a:ea typeface="微软雅黑" panose="020B0503020204020204" charset="-122"/>
                <a:cs typeface="Times New Roman" panose="02020603050405020304" charset="0"/>
              </a:rPr>
              <a:t>0</a:t>
            </a:r>
            <a:r>
              <a:rPr lang="zh-CN" altLang="en-US" sz="1600" b="1" dirty="0">
                <a:latin typeface="Times New Roman" panose="02020603050405020304" charset="0"/>
                <a:ea typeface="微软雅黑" panose="020B0503020204020204" charset="-122"/>
                <a:cs typeface="Times New Roman" panose="02020603050405020304" charset="0"/>
              </a:rPr>
              <a:t>，需要先对整个图像打码、再抠图，得到打码后的图像；对应模式</a:t>
            </a:r>
            <a:r>
              <a:rPr lang="en-US" altLang="zh-CN" sz="1600" b="1" dirty="0">
                <a:latin typeface="Times New Roman" panose="02020603050405020304" charset="0"/>
                <a:ea typeface="微软雅黑" panose="020B0503020204020204" charset="-122"/>
                <a:cs typeface="Times New Roman" panose="02020603050405020304" charset="0"/>
              </a:rPr>
              <a:t>1</a:t>
            </a:r>
            <a:r>
              <a:rPr lang="zh-CN" altLang="en-US" sz="1600" b="1" dirty="0">
                <a:latin typeface="Times New Roman" panose="02020603050405020304" charset="0"/>
                <a:ea typeface="微软雅黑" panose="020B0503020204020204" charset="-122"/>
                <a:cs typeface="Times New Roman" panose="02020603050405020304" charset="0"/>
              </a:rPr>
              <a:t>和</a:t>
            </a:r>
            <a:r>
              <a:rPr lang="en-US" altLang="zh-CN" sz="1600" b="1" dirty="0">
                <a:latin typeface="Times New Roman" panose="02020603050405020304" charset="0"/>
                <a:ea typeface="微软雅黑" panose="020B0503020204020204" charset="-122"/>
                <a:cs typeface="Times New Roman" panose="02020603050405020304" charset="0"/>
              </a:rPr>
              <a:t>2</a:t>
            </a:r>
            <a:r>
              <a:rPr lang="zh-CN" altLang="en-US" sz="1600" b="1" dirty="0">
                <a:latin typeface="Times New Roman" panose="02020603050405020304" charset="0"/>
                <a:ea typeface="微软雅黑" panose="020B0503020204020204" charset="-122"/>
                <a:cs typeface="Times New Roman" panose="02020603050405020304" charset="0"/>
              </a:rPr>
              <a:t>，需要先对原图像抠图，再根据模式要求，对抠图区域上色（打码），得到打码图像。</a:t>
            </a:r>
            <a:endParaRPr lang="zh-CN" altLang="zh-CN" sz="1600" b="1" dirty="0">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a:spLocks noChangeArrowheads="1"/>
          </p:cNvSpPr>
          <p:nvPr/>
        </p:nvSpPr>
        <p:spPr bwMode="auto">
          <a:xfrm>
            <a:off x="1176601" y="651290"/>
            <a:ext cx="5100920" cy="646331"/>
          </a:xfrm>
          <a:prstGeom prst="rect">
            <a:avLst/>
          </a:prstGeom>
          <a:noFill/>
        </p:spPr>
        <p:txBody>
          <a:bodyPr wrap="square">
            <a:spAutoFit/>
          </a:bodyPr>
          <a:lstStyle/>
          <a:p>
            <a:pPr algn="just"/>
            <a:r>
              <a:rPr lang="zh-CN" altLang="en-US" b="1" dirty="0">
                <a:latin typeface="Times New Roman" panose="02020603050405020304" charset="0"/>
                <a:ea typeface="微软雅黑" panose="020B0503020204020204" charset="-122"/>
                <a:cs typeface="Times New Roman" panose="02020603050405020304" charset="0"/>
              </a:rPr>
              <a:t>在代码中，对于模式</a:t>
            </a:r>
            <a:r>
              <a:rPr lang="en-US" altLang="zh-CN" b="1" dirty="0">
                <a:latin typeface="Times New Roman" panose="02020603050405020304" charset="0"/>
                <a:ea typeface="微软雅黑" panose="020B0503020204020204" charset="-122"/>
                <a:cs typeface="Times New Roman" panose="02020603050405020304" charset="0"/>
              </a:rPr>
              <a:t>0</a:t>
            </a:r>
            <a:r>
              <a:rPr lang="zh-CN" altLang="en-US" b="1" dirty="0">
                <a:latin typeface="Times New Roman" panose="02020603050405020304" charset="0"/>
                <a:ea typeface="微软雅黑" panose="020B0503020204020204" charset="-122"/>
                <a:cs typeface="Times New Roman" panose="02020603050405020304" charset="0"/>
              </a:rPr>
              <a:t>，可以调整马赛克块的大小。</a:t>
            </a:r>
            <a:endParaRPr lang="en-US" altLang="zh-CN" b="1" dirty="0">
              <a:latin typeface="Times New Roman" panose="02020603050405020304" charset="0"/>
              <a:ea typeface="微软雅黑" panose="020B0503020204020204" charset="-122"/>
              <a:cs typeface="Times New Roman" panose="02020603050405020304" charset="0"/>
            </a:endParaRPr>
          </a:p>
          <a:p>
            <a:pPr algn="just"/>
            <a:r>
              <a:rPr lang="zh-CN" altLang="en-US" b="1" dirty="0">
                <a:latin typeface="Times New Roman" panose="02020603050405020304" charset="0"/>
                <a:ea typeface="微软雅黑" panose="020B0503020204020204" charset="-122"/>
                <a:cs typeface="Times New Roman" panose="02020603050405020304" charset="0"/>
              </a:rPr>
              <a:t>对于模式</a:t>
            </a:r>
            <a:r>
              <a:rPr lang="en-US" altLang="zh-CN" b="1" dirty="0">
                <a:latin typeface="Times New Roman" panose="02020603050405020304" charset="0"/>
                <a:ea typeface="微软雅黑" panose="020B0503020204020204" charset="-122"/>
                <a:cs typeface="Times New Roman" panose="02020603050405020304" charset="0"/>
              </a:rPr>
              <a:t>1</a:t>
            </a:r>
            <a:r>
              <a:rPr lang="zh-CN" altLang="en-US" b="1" dirty="0">
                <a:latin typeface="Times New Roman" panose="02020603050405020304" charset="0"/>
                <a:ea typeface="微软雅黑" panose="020B0503020204020204" charset="-122"/>
                <a:cs typeface="Times New Roman" panose="02020603050405020304" charset="0"/>
              </a:rPr>
              <a:t>和</a:t>
            </a:r>
            <a:r>
              <a:rPr lang="en-US" altLang="zh-CN" b="1" dirty="0">
                <a:latin typeface="Times New Roman" panose="02020603050405020304" charset="0"/>
                <a:ea typeface="微软雅黑" panose="020B0503020204020204" charset="-122"/>
                <a:cs typeface="Times New Roman" panose="02020603050405020304" charset="0"/>
              </a:rPr>
              <a:t>2</a:t>
            </a:r>
            <a:r>
              <a:rPr lang="zh-CN" altLang="en-US" b="1" dirty="0">
                <a:latin typeface="Times New Roman" panose="02020603050405020304" charset="0"/>
                <a:ea typeface="微软雅黑" panose="020B0503020204020204" charset="-122"/>
                <a:cs typeface="Times New Roman" panose="02020603050405020304" charset="0"/>
              </a:rPr>
              <a:t>，可以颜色的设置方式如下。</a:t>
            </a:r>
            <a:endParaRPr lang="zh-CN" altLang="zh-CN" b="1" dirty="0">
              <a:latin typeface="Times New Roman" panose="02020603050405020304" charset="0"/>
              <a:ea typeface="微软雅黑" panose="020B0503020204020204" charset="-122"/>
              <a:cs typeface="Times New Roman" panose="02020603050405020304" charset="0"/>
            </a:endParaRPr>
          </a:p>
        </p:txBody>
      </p:sp>
      <p:sp>
        <p:nvSpPr>
          <p:cNvPr id="3" name="文本框 2"/>
          <p:cNvSpPr txBox="1"/>
          <p:nvPr/>
        </p:nvSpPr>
        <p:spPr>
          <a:xfrm>
            <a:off x="4468905" y="0"/>
            <a:ext cx="2572871" cy="46166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一、打码的流程</a:t>
            </a:r>
            <a:endParaRPr lang="zh-CN" altLang="en-US" dirty="0"/>
          </a:p>
        </p:txBody>
      </p:sp>
      <p:cxnSp>
        <p:nvCxnSpPr>
          <p:cNvPr id="5" name="直接连接符 4"/>
          <p:cNvCxnSpPr/>
          <p:nvPr/>
        </p:nvCxnSpPr>
        <p:spPr>
          <a:xfrm>
            <a:off x="8116890" y="663673"/>
            <a:ext cx="0" cy="619461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1"/>
          <a:stretch>
            <a:fillRect/>
          </a:stretch>
        </p:blipFill>
        <p:spPr>
          <a:xfrm>
            <a:off x="4389352" y="3195006"/>
            <a:ext cx="2637076" cy="3639671"/>
          </a:xfrm>
          <a:prstGeom prst="rect">
            <a:avLst/>
          </a:prstGeom>
        </p:spPr>
      </p:pic>
      <p:cxnSp>
        <p:nvCxnSpPr>
          <p:cNvPr id="8" name="直接连接符 7"/>
          <p:cNvCxnSpPr/>
          <p:nvPr/>
        </p:nvCxnSpPr>
        <p:spPr>
          <a:xfrm>
            <a:off x="0" y="3143457"/>
            <a:ext cx="8116570" cy="127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Rectangle 1"/>
          <p:cNvSpPr>
            <a:spLocks noChangeArrowheads="1"/>
          </p:cNvSpPr>
          <p:nvPr/>
        </p:nvSpPr>
        <p:spPr bwMode="auto">
          <a:xfrm>
            <a:off x="821040" y="3350399"/>
            <a:ext cx="2477287" cy="923330"/>
          </a:xfrm>
          <a:prstGeom prst="rect">
            <a:avLst/>
          </a:prstGeom>
          <a:noFill/>
        </p:spPr>
        <p:txBody>
          <a:bodyPr wrap="square">
            <a:spAutoFit/>
          </a:bodyPr>
          <a:lstStyle/>
          <a:p>
            <a:pPr algn="ctr"/>
            <a:r>
              <a:rPr lang="zh-CN" altLang="en-US" b="1" dirty="0">
                <a:latin typeface="Times New Roman" panose="02020603050405020304" charset="0"/>
                <a:ea typeface="微软雅黑" panose="020B0503020204020204" charset="-122"/>
                <a:cs typeface="Times New Roman" panose="02020603050405020304" charset="0"/>
              </a:rPr>
              <a:t>默认的</a:t>
            </a:r>
            <a:r>
              <a:rPr lang="en-US" altLang="zh-CN" b="1" dirty="0">
                <a:latin typeface="Times New Roman" panose="02020603050405020304" charset="0"/>
                <a:ea typeface="微软雅黑" panose="020B0503020204020204" charset="-122"/>
                <a:cs typeface="Times New Roman" panose="02020603050405020304" charset="0"/>
              </a:rPr>
              <a:t>8</a:t>
            </a:r>
            <a:r>
              <a:rPr lang="zh-CN" altLang="en-US" b="1" dirty="0">
                <a:latin typeface="Times New Roman" panose="02020603050405020304" charset="0"/>
                <a:ea typeface="微软雅黑" panose="020B0503020204020204" charset="-122"/>
                <a:cs typeface="Times New Roman" panose="02020603050405020304" charset="0"/>
              </a:rPr>
              <a:t>种基本颜色</a:t>
            </a:r>
            <a:endParaRPr lang="en-US" altLang="zh-CN" b="1" dirty="0">
              <a:latin typeface="Times New Roman" panose="02020603050405020304" charset="0"/>
              <a:ea typeface="微软雅黑" panose="020B0503020204020204" charset="-122"/>
              <a:cs typeface="Times New Roman" panose="02020603050405020304" charset="0"/>
            </a:endParaRPr>
          </a:p>
          <a:p>
            <a:pPr algn="ctr"/>
            <a:r>
              <a:rPr lang="zh-CN" altLang="en-US" b="1" dirty="0">
                <a:latin typeface="Times New Roman" panose="02020603050405020304" charset="0"/>
                <a:ea typeface="微软雅黑" panose="020B0503020204020204" charset="-122"/>
                <a:cs typeface="Times New Roman" panose="02020603050405020304" charset="0"/>
              </a:rPr>
              <a:t>及其对应颜色编码</a:t>
            </a:r>
            <a:endParaRPr lang="en-US" altLang="zh-CN" b="1" dirty="0">
              <a:latin typeface="Times New Roman" panose="02020603050405020304" charset="0"/>
              <a:ea typeface="微软雅黑" panose="020B0503020204020204" charset="-122"/>
              <a:cs typeface="Times New Roman" panose="02020603050405020304" charset="0"/>
            </a:endParaRPr>
          </a:p>
          <a:p>
            <a:pPr algn="ctr"/>
            <a:r>
              <a:rPr lang="zh-CN" altLang="en-US" b="1" dirty="0">
                <a:latin typeface="Times New Roman" panose="02020603050405020304" charset="0"/>
                <a:ea typeface="微软雅黑" panose="020B0503020204020204" charset="-122"/>
                <a:cs typeface="Times New Roman" panose="02020603050405020304" charset="0"/>
              </a:rPr>
              <a:t>（使用时需要</a:t>
            </a:r>
            <a:r>
              <a:rPr lang="en-US" altLang="zh-CN" b="1" dirty="0">
                <a:latin typeface="Times New Roman" panose="02020603050405020304" charset="0"/>
                <a:ea typeface="微软雅黑" panose="020B0503020204020204" charset="-122"/>
                <a:cs typeface="Times New Roman" panose="02020603050405020304" charset="0"/>
              </a:rPr>
              <a:t>*255</a:t>
            </a:r>
            <a:r>
              <a:rPr lang="zh-CN" altLang="en-US" b="1" dirty="0">
                <a:latin typeface="Times New Roman" panose="02020603050405020304" charset="0"/>
                <a:ea typeface="微软雅黑" panose="020B0503020204020204" charset="-122"/>
                <a:cs typeface="Times New Roman" panose="02020603050405020304" charset="0"/>
              </a:rPr>
              <a:t>）</a:t>
            </a:r>
            <a:endParaRPr lang="zh-CN" altLang="zh-CN" b="1" dirty="0">
              <a:latin typeface="Times New Roman" panose="02020603050405020304" charset="0"/>
              <a:ea typeface="微软雅黑" panose="020B0503020204020204" charset="-122"/>
              <a:cs typeface="Times New Roman" panose="02020603050405020304" charset="0"/>
            </a:endParaRPr>
          </a:p>
        </p:txBody>
      </p:sp>
      <p:cxnSp>
        <p:nvCxnSpPr>
          <p:cNvPr id="12" name="直接连接符 11"/>
          <p:cNvCxnSpPr/>
          <p:nvPr/>
        </p:nvCxnSpPr>
        <p:spPr>
          <a:xfrm>
            <a:off x="8116255" y="4637434"/>
            <a:ext cx="4075430" cy="114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Rectangle 1"/>
          <p:cNvSpPr>
            <a:spLocks noChangeArrowheads="1"/>
          </p:cNvSpPr>
          <p:nvPr/>
        </p:nvSpPr>
        <p:spPr bwMode="auto">
          <a:xfrm>
            <a:off x="5016500" y="1421130"/>
            <a:ext cx="3093720" cy="1476375"/>
          </a:xfrm>
          <a:prstGeom prst="rect">
            <a:avLst/>
          </a:prstGeom>
          <a:noFill/>
        </p:spPr>
        <p:txBody>
          <a:bodyPr wrap="square">
            <a:spAutoFit/>
          </a:bodyPr>
          <a:lstStyle/>
          <a:p>
            <a:r>
              <a:rPr lang="en-US" altLang="zh-CN" b="1" dirty="0">
                <a:latin typeface="Times New Roman" panose="02020603050405020304" charset="0"/>
                <a:ea typeface="微软雅黑" panose="020B0503020204020204" charset="-122"/>
                <a:cs typeface="Times New Roman" panose="02020603050405020304" charset="0"/>
              </a:rPr>
              <a:t>RGB</a:t>
            </a:r>
            <a:r>
              <a:rPr lang="zh-CN" altLang="en-US" b="1" dirty="0">
                <a:latin typeface="Times New Roman" panose="02020603050405020304" charset="0"/>
                <a:ea typeface="微软雅黑" panose="020B0503020204020204" charset="-122"/>
                <a:cs typeface="Times New Roman" panose="02020603050405020304" charset="0"/>
              </a:rPr>
              <a:t>列表：如</a:t>
            </a:r>
            <a:r>
              <a:rPr lang="en-US" altLang="zh-CN" b="1" dirty="0">
                <a:latin typeface="Times New Roman" panose="02020603050405020304" charset="0"/>
                <a:ea typeface="微软雅黑" panose="020B0503020204020204" charset="-122"/>
                <a:cs typeface="Times New Roman" panose="02020603050405020304" charset="0"/>
              </a:rPr>
              <a:t>[255, 255, 255]</a:t>
            </a:r>
            <a:r>
              <a:rPr lang="zh-CN" altLang="en-US" b="1" dirty="0">
                <a:latin typeface="Times New Roman" panose="02020603050405020304" charset="0"/>
                <a:ea typeface="微软雅黑" panose="020B0503020204020204" charset="-122"/>
                <a:cs typeface="Times New Roman" panose="02020603050405020304" charset="0"/>
              </a:rPr>
              <a:t>。</a:t>
            </a:r>
            <a:endParaRPr lang="en-US" altLang="zh-CN" b="1" dirty="0">
              <a:latin typeface="Times New Roman" panose="02020603050405020304" charset="0"/>
              <a:ea typeface="微软雅黑" panose="020B0503020204020204" charset="-122"/>
              <a:cs typeface="Times New Roman" panose="02020603050405020304" charset="0"/>
            </a:endParaRPr>
          </a:p>
          <a:p>
            <a:r>
              <a:rPr lang="en-US" altLang="zh-CN" b="1" dirty="0">
                <a:latin typeface="Times New Roman" panose="02020603050405020304" charset="0"/>
                <a:ea typeface="微软雅黑" panose="020B0503020204020204" charset="-122"/>
                <a:cs typeface="Times New Roman" panose="02020603050405020304" charset="0"/>
              </a:rPr>
              <a:t>RGB16</a:t>
            </a:r>
            <a:r>
              <a:rPr lang="zh-CN" altLang="en-US" b="1" dirty="0">
                <a:latin typeface="Times New Roman" panose="02020603050405020304" charset="0"/>
                <a:ea typeface="微软雅黑" panose="020B0503020204020204" charset="-122"/>
                <a:cs typeface="Times New Roman" panose="02020603050405020304" charset="0"/>
              </a:rPr>
              <a:t>进制字符串模式：</a:t>
            </a:r>
            <a:endParaRPr lang="en-US" altLang="zh-CN" b="1" dirty="0">
              <a:latin typeface="Times New Roman" panose="02020603050405020304" charset="0"/>
              <a:ea typeface="微软雅黑" panose="020B0503020204020204" charset="-122"/>
              <a:cs typeface="Times New Roman" panose="02020603050405020304" charset="0"/>
            </a:endParaRPr>
          </a:p>
          <a:p>
            <a:r>
              <a:rPr lang="zh-CN" altLang="zh-CN" b="1" dirty="0">
                <a:latin typeface="Times New Roman" panose="02020603050405020304" charset="0"/>
                <a:ea typeface="微软雅黑" panose="020B0503020204020204" charset="-122"/>
                <a:cs typeface="Times New Roman" panose="02020603050405020304" charset="0"/>
              </a:rPr>
              <a:t>#??????</a:t>
            </a:r>
            <a:r>
              <a:rPr lang="zh-CN" altLang="en-US" b="1" dirty="0">
                <a:latin typeface="Times New Roman" panose="02020603050405020304" charset="0"/>
                <a:ea typeface="微软雅黑" panose="020B0503020204020204" charset="-122"/>
                <a:cs typeface="Times New Roman" panose="02020603050405020304" charset="0"/>
              </a:rPr>
              <a:t>，</a:t>
            </a:r>
            <a:r>
              <a:rPr lang="zh-CN" altLang="zh-CN" b="1" dirty="0">
                <a:latin typeface="Times New Roman" panose="02020603050405020304" charset="0"/>
                <a:ea typeface="微软雅黑" panose="020B0503020204020204" charset="-122"/>
                <a:cs typeface="Times New Roman" panose="02020603050405020304" charset="0"/>
              </a:rPr>
              <a:t>如#FF0000</a:t>
            </a:r>
            <a:endParaRPr lang="en-US" altLang="zh-CN" b="1" dirty="0">
              <a:latin typeface="Times New Roman" panose="02020603050405020304" charset="0"/>
              <a:ea typeface="微软雅黑" panose="020B0503020204020204" charset="-122"/>
              <a:cs typeface="Times New Roman" panose="02020603050405020304" charset="0"/>
            </a:endParaRPr>
          </a:p>
          <a:p>
            <a:r>
              <a:rPr lang="en-US" altLang="zh-CN" b="1" dirty="0">
                <a:latin typeface="Times New Roman" panose="02020603050405020304" charset="0"/>
                <a:ea typeface="微软雅黑" panose="020B0503020204020204" charset="-122"/>
                <a:cs typeface="Times New Roman" panose="02020603050405020304" charset="0"/>
              </a:rPr>
              <a:t>(</a:t>
            </a:r>
            <a:r>
              <a:rPr lang="zh-CN" altLang="zh-CN" b="1" dirty="0">
                <a:latin typeface="Times New Roman" panose="02020603050405020304" charset="0"/>
                <a:ea typeface="微软雅黑" panose="020B0503020204020204" charset="-122"/>
                <a:cs typeface="Times New Roman" panose="02020603050405020304" charset="0"/>
              </a:rPr>
              <a:t>#不要漏</a:t>
            </a:r>
            <a:r>
              <a:rPr lang="en-US" altLang="zh-CN" b="1" dirty="0">
                <a:latin typeface="Times New Roman" panose="02020603050405020304" charset="0"/>
                <a:ea typeface="微软雅黑" panose="020B0503020204020204" charset="-122"/>
                <a:cs typeface="Times New Roman" panose="02020603050405020304" charset="0"/>
              </a:rPr>
              <a:t>, ?</a:t>
            </a:r>
            <a:r>
              <a:rPr lang="zh-CN" altLang="zh-CN" b="1" dirty="0">
                <a:latin typeface="Times New Roman" panose="02020603050405020304" charset="0"/>
                <a:ea typeface="微软雅黑" panose="020B0503020204020204" charset="-122"/>
                <a:cs typeface="Times New Roman" panose="02020603050405020304" charset="0"/>
              </a:rPr>
              <a:t>=0,1,2,...,9,A,B,C,</a:t>
            </a:r>
            <a:endParaRPr lang="zh-CN" altLang="zh-CN" b="1" dirty="0">
              <a:latin typeface="Times New Roman" panose="02020603050405020304" charset="0"/>
              <a:ea typeface="微软雅黑" panose="020B0503020204020204" charset="-122"/>
              <a:cs typeface="Times New Roman" panose="02020603050405020304" charset="0"/>
            </a:endParaRPr>
          </a:p>
          <a:p>
            <a:r>
              <a:rPr lang="zh-CN" altLang="zh-CN" b="1" dirty="0">
                <a:latin typeface="Times New Roman" panose="02020603050405020304" charset="0"/>
                <a:ea typeface="微软雅黑" panose="020B0503020204020204" charset="-122"/>
                <a:cs typeface="Times New Roman" panose="02020603050405020304" charset="0"/>
              </a:rPr>
              <a:t>D,E,F</a:t>
            </a:r>
            <a:r>
              <a:rPr lang="en-US" altLang="zh-CN" b="1" dirty="0">
                <a:latin typeface="Times New Roman" panose="02020603050405020304" charset="0"/>
                <a:ea typeface="微软雅黑" panose="020B0503020204020204" charset="-122"/>
                <a:cs typeface="Times New Roman" panose="02020603050405020304" charset="0"/>
              </a:rPr>
              <a:t>)</a:t>
            </a:r>
            <a:r>
              <a:rPr lang="zh-CN" altLang="zh-CN" b="1" dirty="0">
                <a:latin typeface="Times New Roman" panose="02020603050405020304" charset="0"/>
                <a:ea typeface="微软雅黑" panose="020B0503020204020204" charset="-122"/>
                <a:cs typeface="Times New Roman" panose="02020603050405020304" charset="0"/>
              </a:rPr>
              <a:t>。</a:t>
            </a:r>
            <a:endParaRPr lang="zh-CN" altLang="zh-CN" b="1" dirty="0">
              <a:latin typeface="Times New Roman" panose="02020603050405020304" charset="0"/>
              <a:ea typeface="微软雅黑" panose="020B0503020204020204" charset="-122"/>
              <a:cs typeface="Times New Roman" panose="02020603050405020304" charset="0"/>
            </a:endParaRPr>
          </a:p>
        </p:txBody>
      </p:sp>
      <p:pic>
        <p:nvPicPr>
          <p:cNvPr id="2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32" t="12941" r="49807" b="14706"/>
          <a:stretch>
            <a:fillRect/>
          </a:stretch>
        </p:blipFill>
        <p:spPr bwMode="auto">
          <a:xfrm>
            <a:off x="247334" y="4457401"/>
            <a:ext cx="3624700" cy="68211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471" t="12941" r="1469" b="14706"/>
          <a:stretch>
            <a:fillRect/>
          </a:stretch>
        </p:blipFill>
        <p:spPr bwMode="auto">
          <a:xfrm>
            <a:off x="271978" y="5305750"/>
            <a:ext cx="3624700" cy="682117"/>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p:cNvSpPr txBox="1"/>
          <p:nvPr/>
        </p:nvSpPr>
        <p:spPr>
          <a:xfrm>
            <a:off x="8443621" y="706985"/>
            <a:ext cx="3393174" cy="646331"/>
          </a:xfrm>
          <a:prstGeom prst="rect">
            <a:avLst/>
          </a:prstGeom>
          <a:noFill/>
        </p:spPr>
        <p:txBody>
          <a:bodyPr wrap="square">
            <a:spAutoFit/>
          </a:bodyPr>
          <a:lstStyle>
            <a:defPPr>
              <a:defRPr lang="zh-CN"/>
            </a:defPPr>
            <a:lvl1pPr algn="just">
              <a:defRPr b="1">
                <a:latin typeface="Times New Roman" panose="02020603050405020304" charset="0"/>
                <a:ea typeface="微软雅黑" panose="020B0503020204020204" charset="-122"/>
                <a:cs typeface="Times New Roman" panose="02020603050405020304" charset="0"/>
              </a:defRPr>
            </a:lvl1pPr>
          </a:lstStyle>
          <a:p>
            <a:pPr algn="ctr"/>
            <a:r>
              <a:rPr lang="zh-CN" altLang="en-US" dirty="0"/>
              <a:t>默认掩膜颜色表</a:t>
            </a:r>
            <a:endParaRPr lang="en-US" altLang="zh-CN" dirty="0"/>
          </a:p>
          <a:p>
            <a:pPr algn="ctr"/>
            <a:r>
              <a:rPr lang="zh-CN" altLang="en-US" dirty="0"/>
              <a:t>（可以在</a:t>
            </a:r>
            <a:r>
              <a:rPr lang="en-US" altLang="zh-CN" dirty="0"/>
              <a:t>plotting.py</a:t>
            </a:r>
            <a:r>
              <a:rPr lang="zh-CN" altLang="en-US" dirty="0"/>
              <a:t>里找到） </a:t>
            </a:r>
            <a:endParaRPr lang="en-US" altLang="zh-CN" dirty="0"/>
          </a:p>
        </p:txBody>
      </p:sp>
      <p:sp>
        <p:nvSpPr>
          <p:cNvPr id="29" name="Rectangle 3"/>
          <p:cNvSpPr>
            <a:spLocks noChangeArrowheads="1"/>
          </p:cNvSpPr>
          <p:nvPr/>
        </p:nvSpPr>
        <p:spPr bwMode="auto">
          <a:xfrm>
            <a:off x="8618230" y="1410909"/>
            <a:ext cx="3072135" cy="2862322"/>
          </a:xfrm>
          <a:prstGeom prst="rect">
            <a:avLst/>
          </a:prstGeom>
          <a:noFill/>
        </p:spPr>
        <p:txBody>
          <a:bodyPr wrap="square">
            <a:spAutoFit/>
          </a:bodyPr>
          <a:lstStyle/>
          <a:p>
            <a:pPr algn="just"/>
            <a:r>
              <a:rPr lang="zh-CN" altLang="zh-CN" b="1" dirty="0">
                <a:latin typeface="Times New Roman" panose="02020603050405020304" charset="0"/>
                <a:ea typeface="微软雅黑" panose="020B0503020204020204" charset="-122"/>
                <a:cs typeface="Times New Roman" panose="02020603050405020304" charset="0"/>
              </a:rPr>
              <a:t>“#FF3838”, “#FF9D97”, “#FF701F”, “#FFB21D”, “#CFD231”, “#48F90A”, “#92CC17”, “#3DDB86”, “#1A9334”, “#00D4BB”,</a:t>
            </a:r>
            <a:br>
              <a:rPr lang="zh-CN" altLang="zh-CN" b="1" dirty="0">
                <a:latin typeface="Times New Roman" panose="02020603050405020304" charset="0"/>
                <a:ea typeface="微软雅黑" panose="020B0503020204020204" charset="-122"/>
                <a:cs typeface="Times New Roman" panose="02020603050405020304" charset="0"/>
              </a:rPr>
            </a:br>
            <a:r>
              <a:rPr lang="zh-CN" altLang="zh-CN" b="1" dirty="0">
                <a:latin typeface="Times New Roman" panose="02020603050405020304" charset="0"/>
                <a:ea typeface="微软雅黑" panose="020B0503020204020204" charset="-122"/>
                <a:cs typeface="Times New Roman" panose="02020603050405020304" charset="0"/>
              </a:rPr>
              <a:t>“#2C99A8”, “#00C2FF”, “#344593”, “#6473FF”, “#0018EC”, “#8438FF”, “#520085”, “#CB38FF”, “#FF95C8”, “#FF37C7”</a:t>
            </a:r>
            <a:r>
              <a:rPr lang="zh-CN" altLang="en-US" b="1" dirty="0">
                <a:latin typeface="Times New Roman" panose="02020603050405020304" charset="0"/>
                <a:ea typeface="微软雅黑" panose="020B0503020204020204" charset="-122"/>
                <a:cs typeface="Times New Roman" panose="02020603050405020304" charset="0"/>
              </a:rPr>
              <a:t>。</a:t>
            </a:r>
            <a:endParaRPr lang="zh-CN" altLang="zh-CN" b="1" dirty="0">
              <a:latin typeface="Times New Roman" panose="02020603050405020304" charset="0"/>
              <a:ea typeface="微软雅黑" panose="020B0503020204020204" charset="-122"/>
              <a:cs typeface="Times New Roman" panose="02020603050405020304" charset="0"/>
            </a:endParaRPr>
          </a:p>
        </p:txBody>
      </p:sp>
      <p:sp>
        <p:nvSpPr>
          <p:cNvPr id="31" name="文本框 30"/>
          <p:cNvSpPr txBox="1"/>
          <p:nvPr/>
        </p:nvSpPr>
        <p:spPr>
          <a:xfrm>
            <a:off x="8379936" y="4899841"/>
            <a:ext cx="3548380" cy="369332"/>
          </a:xfrm>
          <a:prstGeom prst="rect">
            <a:avLst/>
          </a:prstGeom>
          <a:noFill/>
        </p:spPr>
        <p:txBody>
          <a:bodyPr wrap="square" rtlCol="0" anchor="t">
            <a:spAutoFit/>
          </a:bodyPr>
          <a:lstStyle/>
          <a:p>
            <a:pPr algn="ctr"/>
            <a:r>
              <a:rPr lang="zh-CN" altLang="en-US" b="1" dirty="0"/>
              <a:t>默认掩膜颜色表参考链接</a:t>
            </a:r>
            <a:endParaRPr lang="zh-CN" altLang="en-US" b="1" dirty="0"/>
          </a:p>
        </p:txBody>
      </p:sp>
      <p:sp>
        <p:nvSpPr>
          <p:cNvPr id="33" name="文本框 32"/>
          <p:cNvSpPr txBox="1"/>
          <p:nvPr/>
        </p:nvSpPr>
        <p:spPr>
          <a:xfrm>
            <a:off x="8298180" y="5363210"/>
            <a:ext cx="3893820" cy="645160"/>
          </a:xfrm>
          <a:prstGeom prst="rect">
            <a:avLst/>
          </a:prstGeom>
          <a:noFill/>
        </p:spPr>
        <p:txBody>
          <a:bodyPr wrap="square">
            <a:spAutoFit/>
          </a:bodyPr>
          <a:lstStyle/>
          <a:p>
            <a:r>
              <a:rPr lang="zh-CN" altLang="en-US" dirty="0">
                <a:hlinkClick r:id="rId3"/>
              </a:rPr>
              <a:t>https://blog.csdn.net/zsj540070/article/details/136382041</a:t>
            </a:r>
            <a:endParaRPr lang="zh-CN" altLang="en-US" dirty="0"/>
          </a:p>
        </p:txBody>
      </p:sp>
      <p:sp>
        <p:nvSpPr>
          <p:cNvPr id="35" name="文本框 34"/>
          <p:cNvSpPr txBox="1"/>
          <p:nvPr/>
        </p:nvSpPr>
        <p:spPr>
          <a:xfrm>
            <a:off x="8299450" y="6102350"/>
            <a:ext cx="3722370" cy="645160"/>
          </a:xfrm>
          <a:prstGeom prst="rect">
            <a:avLst/>
          </a:prstGeom>
          <a:noFill/>
        </p:spPr>
        <p:txBody>
          <a:bodyPr wrap="square">
            <a:spAutoFit/>
          </a:bodyPr>
          <a:lstStyle/>
          <a:p>
            <a:r>
              <a:rPr lang="zh-CN" altLang="en-US" dirty="0">
                <a:hlinkClick r:id="rId4"/>
              </a:rPr>
              <a:t>https://blog.csdn.net/m0_68212477/article/details/136838679</a:t>
            </a:r>
            <a:endParaRPr lang="zh-CN" altLang="en-US" dirty="0"/>
          </a:p>
        </p:txBody>
      </p:sp>
      <p:graphicFrame>
        <p:nvGraphicFramePr>
          <p:cNvPr id="13" name="表格 12"/>
          <p:cNvGraphicFramePr>
            <a:graphicFrameLocks noGrp="1"/>
          </p:cNvGraphicFramePr>
          <p:nvPr>
            <p:custDataLst>
              <p:tags r:id="rId5"/>
            </p:custDataLst>
          </p:nvPr>
        </p:nvGraphicFramePr>
        <p:xfrm>
          <a:off x="0" y="1440180"/>
          <a:ext cx="4955540" cy="1402080"/>
        </p:xfrm>
        <a:graphic>
          <a:graphicData uri="http://schemas.openxmlformats.org/drawingml/2006/table">
            <a:tbl>
              <a:tblPr firstRow="1" bandRow="1">
                <a:tableStyleId>{5940675A-B579-460E-94D1-54222C63F5DA}</a:tableStyleId>
              </a:tblPr>
              <a:tblGrid>
                <a:gridCol w="820420"/>
                <a:gridCol w="1394460"/>
                <a:gridCol w="1011555"/>
                <a:gridCol w="1729105"/>
              </a:tblGrid>
              <a:tr h="579120">
                <a:tc>
                  <a:txBody>
                    <a:bodyPr/>
                    <a:p>
                      <a:pPr algn="ctr"/>
                      <a:r>
                        <a:rPr lang="zh-CN" altLang="en-US" sz="1600" b="1" dirty="0"/>
                        <a:t>打码</a:t>
                      </a:r>
                      <a:endParaRPr lang="en-US" altLang="zh-CN" sz="1600" b="1" dirty="0"/>
                    </a:p>
                    <a:p>
                      <a:pPr algn="ctr"/>
                      <a:r>
                        <a:rPr lang="zh-CN" altLang="en-US" sz="1600" b="1" dirty="0"/>
                        <a:t>模式</a:t>
                      </a:r>
                      <a:endParaRPr lang="zh-CN" altLang="en-US" sz="1600" b="1" dirty="0"/>
                    </a:p>
                  </a:txBody>
                  <a:tcPr anchor="ctr">
                    <a:solidFill>
                      <a:schemeClr val="accent4">
                        <a:lumMod val="20000"/>
                        <a:lumOff val="80000"/>
                      </a:schemeClr>
                    </a:solidFill>
                  </a:tcPr>
                </a:tc>
                <a:tc>
                  <a:txBody>
                    <a:bodyPr/>
                    <a:p>
                      <a:pPr algn="ctr"/>
                      <a:r>
                        <a:rPr lang="zh-CN" altLang="en-US" sz="1600" b="1" dirty="0"/>
                        <a:t>自己设置</a:t>
                      </a:r>
                      <a:endParaRPr lang="zh-CN" altLang="en-US" sz="1600" b="1" dirty="0"/>
                    </a:p>
                  </a:txBody>
                  <a:tcPr anchor="ctr">
                    <a:solidFill>
                      <a:schemeClr val="accent3"/>
                    </a:solidFill>
                  </a:tcPr>
                </a:tc>
                <a:tc>
                  <a:txBody>
                    <a:bodyPr/>
                    <a:p>
                      <a:pPr algn="ctr"/>
                      <a:r>
                        <a:rPr lang="zh-CN" altLang="en-US" sz="1600" b="1" dirty="0">
                          <a:sym typeface="+mn-ea"/>
                        </a:rPr>
                        <a:t>基本颜色</a:t>
                      </a:r>
                      <a:endParaRPr lang="zh-CN" altLang="en-US" sz="1600" b="1" dirty="0"/>
                    </a:p>
                  </a:txBody>
                  <a:tcPr anchor="ctr">
                    <a:solidFill>
                      <a:schemeClr val="accent3"/>
                    </a:solidFill>
                  </a:tcPr>
                </a:tc>
                <a:tc>
                  <a:txBody>
                    <a:bodyPr/>
                    <a:p>
                      <a:pPr algn="ctr"/>
                      <a:r>
                        <a:rPr lang="zh-CN" altLang="en-US" sz="1600" b="1" dirty="0"/>
                        <a:t>默认设置</a:t>
                      </a:r>
                      <a:endParaRPr lang="zh-CN" altLang="en-US" sz="1600" b="1" dirty="0"/>
                    </a:p>
                  </a:txBody>
                  <a:tcPr anchor="ctr">
                    <a:solidFill>
                      <a:schemeClr val="accent5"/>
                    </a:solidFill>
                  </a:tcPr>
                </a:tc>
              </a:tr>
              <a:tr h="367665">
                <a:tc>
                  <a:txBody>
                    <a:bodyPr/>
                    <a:p>
                      <a:pPr algn="ctr"/>
                      <a:r>
                        <a:rPr lang="en-US" altLang="zh-CN" sz="1600" b="1" dirty="0"/>
                        <a:t>1</a:t>
                      </a:r>
                      <a:endParaRPr lang="zh-CN" altLang="en-US" sz="1600" b="1" dirty="0"/>
                    </a:p>
                  </a:txBody>
                  <a:tcPr anchor="ctr">
                    <a:solidFill>
                      <a:schemeClr val="accent4">
                        <a:lumMod val="20000"/>
                        <a:lumOff val="80000"/>
                      </a:schemeClr>
                    </a:solidFill>
                  </a:tcPr>
                </a:tc>
                <a:tc rowSpan="2">
                  <a:txBody>
                    <a:bodyPr/>
                    <a:p>
                      <a:pPr algn="ctr"/>
                      <a:r>
                        <a:rPr lang="en-US" altLang="zh-CN" sz="1600" b="1" dirty="0"/>
                        <a:t>RGB</a:t>
                      </a:r>
                      <a:r>
                        <a:rPr lang="zh-CN" altLang="en-US" sz="1600" b="1" dirty="0"/>
                        <a:t>整数列表</a:t>
                      </a:r>
                      <a:endParaRPr lang="zh-CN" altLang="en-US" sz="1600" b="1" dirty="0"/>
                    </a:p>
                    <a:p>
                      <a:pPr algn="ctr"/>
                      <a:r>
                        <a:rPr lang="zh-CN" altLang="en-US" sz="1600" b="1" dirty="0"/>
                        <a:t>或者</a:t>
                      </a:r>
                      <a:r>
                        <a:rPr lang="en-US" altLang="zh-CN" sz="1600" b="1" dirty="0"/>
                        <a:t>16</a:t>
                      </a:r>
                      <a:r>
                        <a:rPr lang="zh-CN" altLang="en-US" sz="1600" b="1" dirty="0"/>
                        <a:t>进制</a:t>
                      </a:r>
                      <a:endParaRPr lang="zh-CN" altLang="en-US" sz="1600" b="1" dirty="0"/>
                    </a:p>
                    <a:p>
                      <a:pPr algn="ctr"/>
                      <a:r>
                        <a:rPr lang="zh-CN" altLang="en-US" sz="1600" b="1" dirty="0"/>
                        <a:t>字符串模式</a:t>
                      </a:r>
                      <a:endParaRPr lang="zh-CN" altLang="en-US" sz="1600" b="1" dirty="0"/>
                    </a:p>
                  </a:txBody>
                  <a:tcPr anchor="ctr">
                    <a:solidFill>
                      <a:schemeClr val="accent3"/>
                    </a:solidFill>
                  </a:tcPr>
                </a:tc>
                <a:tc rowSpan="2">
                  <a:txBody>
                    <a:bodyPr/>
                    <a:p>
                      <a:pPr algn="ctr">
                        <a:buNone/>
                      </a:pPr>
                      <a:r>
                        <a:rPr lang="en-US" altLang="zh-CN" sz="1600" b="1" dirty="0"/>
                        <a:t>8</a:t>
                      </a:r>
                      <a:r>
                        <a:rPr lang="zh-CN" altLang="en-US" sz="1600" b="1" dirty="0"/>
                        <a:t>种基本颜色</a:t>
                      </a:r>
                      <a:endParaRPr lang="zh-CN" altLang="en-US" sz="1600" b="1" dirty="0"/>
                    </a:p>
                  </a:txBody>
                  <a:tcPr anchor="ctr">
                    <a:solidFill>
                      <a:schemeClr val="accent3"/>
                    </a:solidFill>
                  </a:tcPr>
                </a:tc>
                <a:tc>
                  <a:txBody>
                    <a:bodyPr/>
                    <a:p>
                      <a:pPr algn="ctr"/>
                      <a:r>
                        <a:rPr lang="en-US" altLang="zh-CN" sz="1600" b="1" dirty="0"/>
                        <a:t>—</a:t>
                      </a:r>
                      <a:endParaRPr lang="en-US" altLang="zh-CN" sz="1600" b="1" dirty="0"/>
                    </a:p>
                  </a:txBody>
                  <a:tcPr anchor="ctr">
                    <a:solidFill>
                      <a:schemeClr val="accent5"/>
                    </a:solidFill>
                  </a:tcPr>
                </a:tc>
              </a:tr>
              <a:tr h="455295">
                <a:tc>
                  <a:txBody>
                    <a:bodyPr/>
                    <a:p>
                      <a:pPr algn="ctr"/>
                      <a:r>
                        <a:rPr lang="en-US" altLang="zh-CN" sz="1600" b="1" dirty="0"/>
                        <a:t>2</a:t>
                      </a:r>
                      <a:endParaRPr lang="zh-CN" altLang="en-US" sz="1600" b="1" dirty="0"/>
                    </a:p>
                  </a:txBody>
                  <a:tcPr anchor="ctr">
                    <a:solidFill>
                      <a:schemeClr val="accent4">
                        <a:lumMod val="20000"/>
                        <a:lumOff val="80000"/>
                      </a:schemeClr>
                    </a:solidFill>
                  </a:tcPr>
                </a:tc>
                <a:tc vMerge="1">
                  <a:tcPr anchor="ctr"/>
                </a:tc>
                <a:tc vMerge="1">
                  <a:tcPr anchor="ctr">
                    <a:solidFill>
                      <a:schemeClr val="accent3"/>
                    </a:solidFill>
                  </a:tcPr>
                </a:tc>
                <a:tc>
                  <a:txBody>
                    <a:bodyPr/>
                    <a:p>
                      <a:pPr algn="ctr"/>
                      <a:r>
                        <a:rPr lang="zh-CN" altLang="en-US" sz="1600" b="1" dirty="0"/>
                        <a:t>默认掩膜颜色表</a:t>
                      </a:r>
                      <a:endParaRPr lang="zh-CN" altLang="en-US" sz="1600" b="1" dirty="0"/>
                    </a:p>
                  </a:txBody>
                  <a:tcPr anchor="ctr">
                    <a:solidFill>
                      <a:schemeClr val="accent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b="51634"/>
          <a:stretch>
            <a:fillRect/>
          </a:stretch>
        </p:blipFill>
        <p:spPr>
          <a:xfrm>
            <a:off x="0" y="1667435"/>
            <a:ext cx="6431472" cy="5184411"/>
          </a:xfrm>
          <a:prstGeom prst="rect">
            <a:avLst/>
          </a:prstGeom>
        </p:spPr>
      </p:pic>
      <p:pic>
        <p:nvPicPr>
          <p:cNvPr id="3" name="图片 2"/>
          <p:cNvPicPr>
            <a:picLocks noChangeAspect="1"/>
          </p:cNvPicPr>
          <p:nvPr/>
        </p:nvPicPr>
        <p:blipFill rotWithShape="1">
          <a:blip r:embed="rId1"/>
          <a:srcRect t="48366"/>
          <a:stretch>
            <a:fillRect/>
          </a:stretch>
        </p:blipFill>
        <p:spPr>
          <a:xfrm>
            <a:off x="6258890" y="1667435"/>
            <a:ext cx="6031567" cy="5190565"/>
          </a:xfrm>
          <a:prstGeom prst="rect">
            <a:avLst/>
          </a:prstGeom>
        </p:spPr>
      </p:pic>
      <p:cxnSp>
        <p:nvCxnSpPr>
          <p:cNvPr id="4" name="直接连接符 3"/>
          <p:cNvCxnSpPr/>
          <p:nvPr/>
        </p:nvCxnSpPr>
        <p:spPr>
          <a:xfrm>
            <a:off x="0" y="1127781"/>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4996766" y="1127781"/>
            <a:ext cx="2869411" cy="400110"/>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en-US" altLang="zh-CN" sz="2000" dirty="0"/>
              <a:t>RGB16</a:t>
            </a:r>
            <a:r>
              <a:rPr lang="zh-CN" altLang="en-US" sz="2000" dirty="0"/>
              <a:t>进制字符串模式</a:t>
            </a:r>
            <a:endParaRPr lang="en-US" altLang="zh-CN" sz="2000" dirty="0"/>
          </a:p>
        </p:txBody>
      </p:sp>
      <p:sp>
        <p:nvSpPr>
          <p:cNvPr id="7" name="文本框 6"/>
          <p:cNvSpPr txBox="1"/>
          <p:nvPr/>
        </p:nvSpPr>
        <p:spPr>
          <a:xfrm>
            <a:off x="215154" y="308261"/>
            <a:ext cx="2572871" cy="46166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一、打码的流程</a:t>
            </a:r>
            <a:endParaRPr lang="zh-CN" altLang="en-US" dirty="0"/>
          </a:p>
        </p:txBody>
      </p:sp>
      <p:sp>
        <p:nvSpPr>
          <p:cNvPr id="8" name="文本框 7"/>
          <p:cNvSpPr txBox="1"/>
          <p:nvPr/>
        </p:nvSpPr>
        <p:spPr>
          <a:xfrm>
            <a:off x="3487504" y="142897"/>
            <a:ext cx="1509262" cy="923330"/>
          </a:xfrm>
          <a:prstGeom prst="rect">
            <a:avLst/>
          </a:prstGeom>
          <a:noFill/>
        </p:spPr>
        <p:txBody>
          <a:bodyPr wrap="square" rtlCol="0" anchor="t">
            <a:spAutoFit/>
          </a:bodyPr>
          <a:lstStyle/>
          <a:p>
            <a:pPr algn="ctr"/>
            <a:r>
              <a:rPr lang="en-US" altLang="zh-CN" sz="1800" b="1" dirty="0"/>
              <a:t>RGB16</a:t>
            </a:r>
            <a:r>
              <a:rPr lang="zh-CN" altLang="en-US" sz="1800" b="1" dirty="0"/>
              <a:t>进制</a:t>
            </a:r>
            <a:endParaRPr lang="en-US" altLang="zh-CN" sz="1800" b="1" dirty="0"/>
          </a:p>
          <a:p>
            <a:pPr algn="ctr"/>
            <a:r>
              <a:rPr lang="zh-CN" altLang="en-US" sz="1800" b="1" dirty="0"/>
              <a:t>字符串模式</a:t>
            </a:r>
            <a:endParaRPr lang="en-US" altLang="zh-CN" sz="1800" b="1" dirty="0"/>
          </a:p>
          <a:p>
            <a:pPr algn="ctr"/>
            <a:r>
              <a:rPr lang="zh-CN" altLang="en-US" b="1" dirty="0"/>
              <a:t>参考链接</a:t>
            </a:r>
            <a:endParaRPr lang="zh-CN" altLang="en-US" b="1" dirty="0"/>
          </a:p>
        </p:txBody>
      </p:sp>
      <p:sp>
        <p:nvSpPr>
          <p:cNvPr id="10" name="文本框 9"/>
          <p:cNvSpPr txBox="1"/>
          <p:nvPr/>
        </p:nvSpPr>
        <p:spPr>
          <a:xfrm>
            <a:off x="5147980" y="87469"/>
            <a:ext cx="6225988" cy="369332"/>
          </a:xfrm>
          <a:prstGeom prst="rect">
            <a:avLst/>
          </a:prstGeom>
          <a:noFill/>
        </p:spPr>
        <p:txBody>
          <a:bodyPr wrap="square">
            <a:spAutoFit/>
          </a:bodyPr>
          <a:lstStyle/>
          <a:p>
            <a:r>
              <a:rPr lang="zh-CN" altLang="en-US" dirty="0">
                <a:hlinkClick r:id="rId2"/>
              </a:rPr>
              <a:t>https://blog.csdn.net/mighty13/article/details/113616772</a:t>
            </a:r>
            <a:endParaRPr lang="zh-CN" altLang="en-US" dirty="0"/>
          </a:p>
        </p:txBody>
      </p:sp>
      <p:sp>
        <p:nvSpPr>
          <p:cNvPr id="12" name="文本框 11"/>
          <p:cNvSpPr txBox="1"/>
          <p:nvPr/>
        </p:nvSpPr>
        <p:spPr>
          <a:xfrm>
            <a:off x="5147981" y="403462"/>
            <a:ext cx="6828865" cy="369332"/>
          </a:xfrm>
          <a:prstGeom prst="rect">
            <a:avLst/>
          </a:prstGeom>
          <a:noFill/>
        </p:spPr>
        <p:txBody>
          <a:bodyPr wrap="square">
            <a:spAutoFit/>
          </a:bodyPr>
          <a:lstStyle/>
          <a:p>
            <a:r>
              <a:rPr lang="zh-CN" altLang="en-US" dirty="0">
                <a:hlinkClick r:id="rId3"/>
              </a:rPr>
              <a:t>https://blog.csdn.net/weixin_43636051/article/details/108604602</a:t>
            </a:r>
            <a:endParaRPr lang="zh-CN" altLang="en-US" dirty="0"/>
          </a:p>
        </p:txBody>
      </p:sp>
      <p:sp>
        <p:nvSpPr>
          <p:cNvPr id="14" name="文本框 13"/>
          <p:cNvSpPr txBox="1"/>
          <p:nvPr/>
        </p:nvSpPr>
        <p:spPr>
          <a:xfrm>
            <a:off x="5147982" y="719455"/>
            <a:ext cx="7044018" cy="369332"/>
          </a:xfrm>
          <a:prstGeom prst="rect">
            <a:avLst/>
          </a:prstGeom>
          <a:noFill/>
        </p:spPr>
        <p:txBody>
          <a:bodyPr wrap="square">
            <a:spAutoFit/>
          </a:bodyPr>
          <a:lstStyle/>
          <a:p>
            <a:r>
              <a:rPr lang="zh-CN" altLang="en-US" dirty="0">
                <a:hlinkClick r:id="rId4"/>
              </a:rPr>
              <a:t>https://blog.csdn.net/weixin_65621206/article/details/136251082</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9143" y="0"/>
            <a:ext cx="11173714" cy="6858000"/>
          </a:xfrm>
          <a:prstGeom prst="rect">
            <a:avLst/>
          </a:prstGeom>
        </p:spPr>
      </p:pic>
      <p:sp>
        <p:nvSpPr>
          <p:cNvPr id="3" name="文本框 2"/>
          <p:cNvSpPr txBox="1"/>
          <p:nvPr/>
        </p:nvSpPr>
        <p:spPr>
          <a:xfrm>
            <a:off x="4038599" y="4866109"/>
            <a:ext cx="4114801" cy="1754326"/>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indent="457200" algn="just"/>
            <a:r>
              <a:rPr lang="zh-CN" altLang="en-US" sz="1800" dirty="0"/>
              <a:t>经过打码模块后，不论哪种打码模式，只需要只有掩膜部分的打码图像和去掉掩膜部分的图像叠加（拼接），即可得到完整的打码图像。</a:t>
            </a:r>
            <a:endParaRPr lang="en-US" altLang="zh-CN" sz="1800" dirty="0"/>
          </a:p>
          <a:p>
            <a:pPr indent="457200" algn="just"/>
            <a:r>
              <a:rPr lang="zh-CN" altLang="en-US" sz="1800" dirty="0"/>
              <a:t>此外，可以通过调整透明度参数，得到打码部分颜色淡化的打码图像。</a:t>
            </a:r>
            <a:endParaRPr lang="en-US" altLang="zh-CN" sz="1800" dirty="0"/>
          </a:p>
        </p:txBody>
      </p:sp>
      <p:sp>
        <p:nvSpPr>
          <p:cNvPr id="4" name="文本框 3"/>
          <p:cNvSpPr txBox="1"/>
          <p:nvPr/>
        </p:nvSpPr>
        <p:spPr>
          <a:xfrm>
            <a:off x="4809563" y="4404444"/>
            <a:ext cx="2572871" cy="46166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一、打码的流程</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extLst>
              <a:ext uri="{28A0092B-C50C-407E-A947-70E740481C1C}">
                <a14:useLocalDpi xmlns:a14="http://schemas.microsoft.com/office/drawing/2010/main" val="0"/>
              </a:ext>
            </a:extLst>
          </a:blip>
          <a:srcRect l="37794" t="54933" r="9706" b="11936"/>
          <a:stretch>
            <a:fillRect/>
          </a:stretch>
        </p:blipFill>
        <p:spPr>
          <a:xfrm>
            <a:off x="6239435" y="246532"/>
            <a:ext cx="6400801" cy="2017060"/>
          </a:xfrm>
          <a:prstGeom prst="rect">
            <a:avLst/>
          </a:prstGeom>
        </p:spPr>
      </p:pic>
      <p:pic>
        <p:nvPicPr>
          <p:cNvPr id="15" name="图片 14"/>
          <p:cNvPicPr>
            <a:picLocks noChangeAspect="1"/>
          </p:cNvPicPr>
          <p:nvPr/>
        </p:nvPicPr>
        <p:blipFill rotWithShape="1">
          <a:blip r:embed="rId2">
            <a:extLst>
              <a:ext uri="{28A0092B-C50C-407E-A947-70E740481C1C}">
                <a14:useLocalDpi xmlns:a14="http://schemas.microsoft.com/office/drawing/2010/main" val="0"/>
              </a:ext>
            </a:extLst>
          </a:blip>
          <a:srcRect l="37720" t="54933" r="9779" b="11936"/>
          <a:stretch>
            <a:fillRect/>
          </a:stretch>
        </p:blipFill>
        <p:spPr>
          <a:xfrm>
            <a:off x="6239433" y="2577350"/>
            <a:ext cx="6400801" cy="2017059"/>
          </a:xfrm>
          <a:prstGeom prst="rect">
            <a:avLst/>
          </a:prstGeom>
        </p:spPr>
      </p:pic>
      <p:pic>
        <p:nvPicPr>
          <p:cNvPr id="17" name="图片 16"/>
          <p:cNvPicPr>
            <a:picLocks noChangeAspect="1"/>
          </p:cNvPicPr>
          <p:nvPr/>
        </p:nvPicPr>
        <p:blipFill rotWithShape="1">
          <a:blip r:embed="rId3">
            <a:extLst>
              <a:ext uri="{28A0092B-C50C-407E-A947-70E740481C1C}">
                <a14:useLocalDpi xmlns:a14="http://schemas.microsoft.com/office/drawing/2010/main" val="0"/>
              </a:ext>
            </a:extLst>
          </a:blip>
          <a:srcRect l="37647" t="55080" r="9853" b="11788"/>
          <a:stretch>
            <a:fillRect/>
          </a:stretch>
        </p:blipFill>
        <p:spPr>
          <a:xfrm>
            <a:off x="-304802" y="246533"/>
            <a:ext cx="6400802" cy="2017059"/>
          </a:xfrm>
          <a:prstGeom prst="rect">
            <a:avLst/>
          </a:prstGeom>
        </p:spPr>
      </p:pic>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l="37867" t="55227" r="9632" b="12819"/>
          <a:stretch>
            <a:fillRect/>
          </a:stretch>
        </p:blipFill>
        <p:spPr>
          <a:xfrm>
            <a:off x="-304802" y="2599762"/>
            <a:ext cx="6400801" cy="1945341"/>
          </a:xfrm>
          <a:prstGeom prst="rect">
            <a:avLst/>
          </a:prstGeom>
        </p:spPr>
      </p:pic>
      <p:pic>
        <p:nvPicPr>
          <p:cNvPr id="21" name="图片 20"/>
          <p:cNvPicPr>
            <a:picLocks noChangeAspect="1"/>
          </p:cNvPicPr>
          <p:nvPr/>
        </p:nvPicPr>
        <p:blipFill rotWithShape="1">
          <a:blip r:embed="rId5">
            <a:extLst>
              <a:ext uri="{28A0092B-C50C-407E-A947-70E740481C1C}">
                <a14:useLocalDpi xmlns:a14="http://schemas.microsoft.com/office/drawing/2010/main" val="0"/>
              </a:ext>
            </a:extLst>
          </a:blip>
          <a:srcRect l="37573" t="54785" r="9264" b="12083"/>
          <a:stretch>
            <a:fillRect/>
          </a:stretch>
        </p:blipFill>
        <p:spPr>
          <a:xfrm>
            <a:off x="6239434" y="4840941"/>
            <a:ext cx="6481483" cy="2017059"/>
          </a:xfrm>
          <a:prstGeom prst="rect">
            <a:avLst/>
          </a:prstGeom>
        </p:spPr>
      </p:pic>
      <p:pic>
        <p:nvPicPr>
          <p:cNvPr id="23" name="图片 22"/>
          <p:cNvPicPr>
            <a:picLocks noChangeAspect="1"/>
          </p:cNvPicPr>
          <p:nvPr/>
        </p:nvPicPr>
        <p:blipFill rotWithShape="1">
          <a:blip r:embed="rId6">
            <a:extLst>
              <a:ext uri="{28A0092B-C50C-407E-A947-70E740481C1C}">
                <a14:useLocalDpi xmlns:a14="http://schemas.microsoft.com/office/drawing/2010/main" val="0"/>
              </a:ext>
            </a:extLst>
          </a:blip>
          <a:srcRect l="37941" t="54785" r="9559" b="12083"/>
          <a:stretch>
            <a:fillRect/>
          </a:stretch>
        </p:blipFill>
        <p:spPr>
          <a:xfrm>
            <a:off x="-304801" y="4840941"/>
            <a:ext cx="6400801" cy="2017059"/>
          </a:xfrm>
          <a:prstGeom prst="rect">
            <a:avLst/>
          </a:prstGeom>
        </p:spPr>
      </p:pic>
      <p:cxnSp>
        <p:nvCxnSpPr>
          <p:cNvPr id="24" name="直接连接符 23"/>
          <p:cNvCxnSpPr/>
          <p:nvPr/>
        </p:nvCxnSpPr>
        <p:spPr>
          <a:xfrm>
            <a:off x="6239433" y="0"/>
            <a:ext cx="0" cy="6858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2451843"/>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710949"/>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flipH="1">
            <a:off x="6340795" y="663673"/>
            <a:ext cx="9525" cy="22104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688205" y="0"/>
            <a:ext cx="3054985" cy="46037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二、代码的再次升级</a:t>
            </a:r>
            <a:endParaRPr lang="zh-CN" altLang="en-US" dirty="0"/>
          </a:p>
        </p:txBody>
      </p:sp>
      <p:sp>
        <p:nvSpPr>
          <p:cNvPr id="3" name="文本框 2"/>
          <p:cNvSpPr txBox="1"/>
          <p:nvPr/>
        </p:nvSpPr>
        <p:spPr>
          <a:xfrm>
            <a:off x="951230" y="663575"/>
            <a:ext cx="3060065" cy="368300"/>
          </a:xfrm>
          <a:prstGeom prst="rect">
            <a:avLst/>
          </a:prstGeom>
          <a:noFill/>
        </p:spPr>
        <p:txBody>
          <a:bodyPr wrap="square" rtlCol="0" anchor="t">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lvl="0" indent="0" algn="ctr" fontAlgn="auto">
              <a:buClrTx/>
              <a:buSzTx/>
              <a:buFontTx/>
            </a:pPr>
            <a:r>
              <a:rPr lang="zh-CN" altLang="en-US" sz="1800" dirty="0">
                <a:sym typeface="+mn-ea"/>
              </a:rPr>
              <a:t>prediction_mosaic_dlc.py</a:t>
            </a:r>
            <a:endParaRPr lang="zh-CN" altLang="en-US" sz="1800" dirty="0">
              <a:sym typeface="+mn-ea"/>
            </a:endParaRPr>
          </a:p>
        </p:txBody>
      </p:sp>
      <p:sp>
        <p:nvSpPr>
          <p:cNvPr id="4" name="文本框 3"/>
          <p:cNvSpPr txBox="1"/>
          <p:nvPr/>
        </p:nvSpPr>
        <p:spPr>
          <a:xfrm>
            <a:off x="8319135" y="663575"/>
            <a:ext cx="3048635" cy="368300"/>
          </a:xfrm>
          <a:prstGeom prst="rect">
            <a:avLst/>
          </a:prstGeom>
          <a:noFill/>
        </p:spPr>
        <p:txBody>
          <a:bodyPr wrap="square" rtlCol="0" anchor="t">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lvl="0" algn="ctr">
              <a:buClrTx/>
              <a:buSzTx/>
              <a:buFontTx/>
            </a:pPr>
            <a:r>
              <a:rPr lang="zh-CN" altLang="en-US" sz="1800" dirty="0">
                <a:sym typeface="+mn-ea"/>
              </a:rPr>
              <a:t>prediction_mosaic_dlc_up.py</a:t>
            </a:r>
            <a:endParaRPr lang="zh-CN" altLang="en-US" sz="1800" dirty="0">
              <a:sym typeface="+mn-ea"/>
            </a:endParaRPr>
          </a:p>
        </p:txBody>
      </p:sp>
      <p:cxnSp>
        <p:nvCxnSpPr>
          <p:cNvPr id="6" name="直接连接符 5"/>
          <p:cNvCxnSpPr/>
          <p:nvPr/>
        </p:nvCxnSpPr>
        <p:spPr>
          <a:xfrm flipH="1">
            <a:off x="6345875" y="3824703"/>
            <a:ext cx="4445" cy="22199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右箭头 6"/>
          <p:cNvSpPr/>
          <p:nvPr/>
        </p:nvSpPr>
        <p:spPr>
          <a:xfrm>
            <a:off x="5300345" y="3462020"/>
            <a:ext cx="2092325" cy="2533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4815840" y="2889885"/>
            <a:ext cx="3060065" cy="645160"/>
          </a:xfrm>
          <a:prstGeom prst="rect">
            <a:avLst/>
          </a:prstGeom>
          <a:noFill/>
        </p:spPr>
        <p:txBody>
          <a:bodyPr wrap="square" rtlCol="0" anchor="t">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lvl="0" indent="0" algn="ctr" fontAlgn="auto">
              <a:buClrTx/>
              <a:buSzTx/>
              <a:buFontTx/>
            </a:pPr>
            <a:r>
              <a:rPr lang="zh-CN" altLang="en-US" sz="1800" dirty="0">
                <a:sym typeface="+mn-ea"/>
              </a:rPr>
              <a:t>精简打码颜色设置</a:t>
            </a:r>
            <a:endParaRPr lang="zh-CN" altLang="en-US" sz="1800" dirty="0">
              <a:sym typeface="+mn-ea"/>
            </a:endParaRPr>
          </a:p>
          <a:p>
            <a:pPr lvl="0" indent="0" algn="ctr" fontAlgn="auto">
              <a:buClrTx/>
              <a:buSzTx/>
              <a:buFontTx/>
            </a:pPr>
            <a:r>
              <a:rPr lang="zh-CN" altLang="en-US" sz="1800" dirty="0">
                <a:sym typeface="+mn-ea"/>
              </a:rPr>
              <a:t>代码功能不变</a:t>
            </a:r>
            <a:endParaRPr lang="zh-CN" altLang="en-US" sz="1800" dirty="0">
              <a:sym typeface="+mn-ea"/>
            </a:endParaRPr>
          </a:p>
        </p:txBody>
      </p:sp>
      <p:sp>
        <p:nvSpPr>
          <p:cNvPr id="11" name="Rectangle 1"/>
          <p:cNvSpPr>
            <a:spLocks noChangeArrowheads="1"/>
          </p:cNvSpPr>
          <p:nvPr/>
        </p:nvSpPr>
        <p:spPr bwMode="auto">
          <a:xfrm>
            <a:off x="289560" y="1153795"/>
            <a:ext cx="4559300" cy="2061210"/>
          </a:xfrm>
          <a:prstGeom prst="rect">
            <a:avLst/>
          </a:prstGeom>
          <a:noFill/>
        </p:spPr>
        <p:txBody>
          <a:bodyPr wrap="square">
            <a:spAutoFit/>
          </a:bodyPr>
          <a:p>
            <a:r>
              <a:rPr lang="zh-CN" altLang="en-US" sz="1600" b="1" dirty="0">
                <a:latin typeface="Times New Roman" panose="02020603050405020304" charset="0"/>
                <a:ea typeface="微软雅黑" panose="020B0503020204020204" charset="-122"/>
                <a:cs typeface="Times New Roman" panose="02020603050405020304" charset="0"/>
              </a:rPr>
              <a:t>具体的打码模式如下：</a:t>
            </a:r>
            <a:endParaRPr lang="en-US" altLang="zh-CN" sz="1600" b="1" dirty="0">
              <a:latin typeface="Times New Roman" panose="02020603050405020304" charset="0"/>
              <a:ea typeface="微软雅黑" panose="020B0503020204020204" charset="-122"/>
              <a:cs typeface="Times New Roman" panose="02020603050405020304" charset="0"/>
            </a:endParaRPr>
          </a:p>
          <a:p>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0：需要打码的类别均以类似于新闻上的方式打码（通过最临近插值，形成块状马赛克效果）。</a:t>
            </a:r>
            <a:br>
              <a:rPr lang="zh-CN" altLang="zh-CN" sz="1600" b="1" dirty="0">
                <a:latin typeface="Times New Roman" panose="02020603050405020304" charset="0"/>
                <a:ea typeface="微软雅黑" panose="020B0503020204020204" charset="-122"/>
                <a:cs typeface="Times New Roman" panose="02020603050405020304" charset="0"/>
              </a:rPr>
            </a:br>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1：需要打码的类别均打上同一种颜色的码，例如打码区域全白、全红等。</a:t>
            </a:r>
            <a:br>
              <a:rPr lang="zh-CN" altLang="zh-CN" sz="1600" b="1" dirty="0">
                <a:latin typeface="Times New Roman" panose="02020603050405020304" charset="0"/>
                <a:ea typeface="微软雅黑" panose="020B0503020204020204" charset="-122"/>
                <a:cs typeface="Times New Roman" panose="02020603050405020304" charset="0"/>
              </a:rPr>
            </a:br>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2：需要打码的不同类别根据指定类别颜色进行打码。</a:t>
            </a:r>
            <a:endParaRPr lang="zh-CN" altLang="zh-CN" sz="1600" b="1" dirty="0">
              <a:latin typeface="Times New Roman" panose="02020603050405020304" charset="0"/>
              <a:ea typeface="微软雅黑" panose="020B0503020204020204" charset="-122"/>
              <a:cs typeface="Times New Roman" panose="02020603050405020304" charset="0"/>
            </a:endParaRPr>
          </a:p>
        </p:txBody>
      </p:sp>
      <p:sp>
        <p:nvSpPr>
          <p:cNvPr id="12" name="Rectangle 1"/>
          <p:cNvSpPr>
            <a:spLocks noChangeArrowheads="1"/>
          </p:cNvSpPr>
          <p:nvPr/>
        </p:nvSpPr>
        <p:spPr bwMode="auto">
          <a:xfrm>
            <a:off x="289560" y="3462020"/>
            <a:ext cx="4559300" cy="583565"/>
          </a:xfrm>
          <a:prstGeom prst="rect">
            <a:avLst/>
          </a:prstGeom>
          <a:noFill/>
        </p:spPr>
        <p:txBody>
          <a:bodyPr wrap="square">
            <a:spAutoFit/>
          </a:bodyPr>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在代码中，对于模式</a:t>
            </a:r>
            <a:r>
              <a:rPr lang="zh-CN" altLang="en-US" sz="1600" b="1" dirty="0">
                <a:latin typeface="Times New Roman" panose="02020603050405020304" charset="0"/>
                <a:ea typeface="微软雅黑" panose="020B0503020204020204" charset="-122"/>
                <a:cs typeface="Times New Roman" panose="02020603050405020304" charset="0"/>
                <a:sym typeface="+mn-ea"/>
              </a:rPr>
              <a:t>0</a:t>
            </a:r>
            <a:r>
              <a:rPr lang="zh-CN" altLang="en-US" sz="1600" b="1" dirty="0">
                <a:latin typeface="Times New Roman" panose="02020603050405020304" charset="0"/>
                <a:ea typeface="微软雅黑" panose="020B0503020204020204" charset="-122"/>
                <a:cs typeface="Times New Roman" panose="02020603050405020304" charset="0"/>
                <a:sym typeface="+mn-ea"/>
              </a:rPr>
              <a:t>，可以调整马赛克块的大小。</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对于模式</a:t>
            </a:r>
            <a:r>
              <a:rPr lang="zh-CN" altLang="en-US" sz="1600" b="1" dirty="0">
                <a:latin typeface="Times New Roman" panose="02020603050405020304" charset="0"/>
                <a:ea typeface="微软雅黑" panose="020B0503020204020204" charset="-122"/>
                <a:cs typeface="Times New Roman" panose="02020603050405020304" charset="0"/>
                <a:sym typeface="+mn-ea"/>
              </a:rPr>
              <a:t>1</a:t>
            </a:r>
            <a:r>
              <a:rPr lang="zh-CN" altLang="en-US" sz="1600" b="1" dirty="0">
                <a:latin typeface="Times New Roman" panose="02020603050405020304" charset="0"/>
                <a:ea typeface="微软雅黑" panose="020B0503020204020204" charset="-122"/>
                <a:cs typeface="Times New Roman" panose="02020603050405020304" charset="0"/>
                <a:sym typeface="+mn-ea"/>
              </a:rPr>
              <a:t>和</a:t>
            </a:r>
            <a:r>
              <a:rPr lang="zh-CN" altLang="en-US" sz="1600" b="1" dirty="0">
                <a:latin typeface="Times New Roman" panose="02020603050405020304" charset="0"/>
                <a:ea typeface="微软雅黑" panose="020B0503020204020204" charset="-122"/>
                <a:cs typeface="Times New Roman" panose="02020603050405020304" charset="0"/>
                <a:sym typeface="+mn-ea"/>
              </a:rPr>
              <a:t>2</a:t>
            </a:r>
            <a:r>
              <a:rPr lang="zh-CN" altLang="en-US" sz="1600" b="1" dirty="0">
                <a:latin typeface="Times New Roman" panose="02020603050405020304" charset="0"/>
                <a:ea typeface="微软雅黑" panose="020B0503020204020204" charset="-122"/>
                <a:cs typeface="Times New Roman" panose="02020603050405020304" charset="0"/>
                <a:sym typeface="+mn-ea"/>
              </a:rPr>
              <a:t>，可以颜色的设置方式如下。</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p:txBody>
      </p:sp>
      <p:graphicFrame>
        <p:nvGraphicFramePr>
          <p:cNvPr id="13" name="表格 12"/>
          <p:cNvGraphicFramePr>
            <a:graphicFrameLocks noGrp="1"/>
          </p:cNvGraphicFramePr>
          <p:nvPr>
            <p:custDataLst>
              <p:tags r:id="rId1"/>
            </p:custDataLst>
          </p:nvPr>
        </p:nvGraphicFramePr>
        <p:xfrm>
          <a:off x="0" y="4292600"/>
          <a:ext cx="4955540" cy="1402080"/>
        </p:xfrm>
        <a:graphic>
          <a:graphicData uri="http://schemas.openxmlformats.org/drawingml/2006/table">
            <a:tbl>
              <a:tblPr firstRow="1" bandRow="1">
                <a:tableStyleId>{5940675A-B579-460E-94D1-54222C63F5DA}</a:tableStyleId>
              </a:tblPr>
              <a:tblGrid>
                <a:gridCol w="820420"/>
                <a:gridCol w="1394460"/>
                <a:gridCol w="1011555"/>
                <a:gridCol w="1729105"/>
              </a:tblGrid>
              <a:tr h="541655">
                <a:tc>
                  <a:txBody>
                    <a:bodyPr/>
                    <a:p>
                      <a:pPr algn="ctr"/>
                      <a:r>
                        <a:rPr lang="zh-CN" altLang="en-US" sz="1600" b="1" dirty="0"/>
                        <a:t>打码</a:t>
                      </a:r>
                      <a:endParaRPr lang="en-US" altLang="zh-CN" sz="1600" b="1" dirty="0"/>
                    </a:p>
                    <a:p>
                      <a:pPr algn="ctr"/>
                      <a:r>
                        <a:rPr lang="zh-CN" altLang="en-US" sz="1600" b="1" dirty="0"/>
                        <a:t>模式</a:t>
                      </a:r>
                      <a:endParaRPr lang="zh-CN" altLang="en-US" sz="1600" b="1" dirty="0"/>
                    </a:p>
                  </a:txBody>
                  <a:tcPr anchor="ctr">
                    <a:solidFill>
                      <a:schemeClr val="accent4">
                        <a:lumMod val="20000"/>
                        <a:lumOff val="80000"/>
                      </a:schemeClr>
                    </a:solidFill>
                  </a:tcPr>
                </a:tc>
                <a:tc>
                  <a:txBody>
                    <a:bodyPr/>
                    <a:p>
                      <a:pPr algn="ctr"/>
                      <a:r>
                        <a:rPr lang="zh-CN" altLang="en-US" sz="1600" b="1" dirty="0"/>
                        <a:t>自己设置</a:t>
                      </a:r>
                      <a:endParaRPr lang="zh-CN" altLang="en-US" sz="1600" b="1" dirty="0"/>
                    </a:p>
                  </a:txBody>
                  <a:tcPr anchor="ctr">
                    <a:solidFill>
                      <a:schemeClr val="accent3"/>
                    </a:solidFill>
                  </a:tcPr>
                </a:tc>
                <a:tc>
                  <a:txBody>
                    <a:bodyPr/>
                    <a:p>
                      <a:pPr algn="ctr"/>
                      <a:r>
                        <a:rPr lang="zh-CN" altLang="en-US" sz="1600" b="1" dirty="0">
                          <a:sym typeface="+mn-ea"/>
                        </a:rPr>
                        <a:t>基本颜色</a:t>
                      </a:r>
                      <a:endParaRPr lang="zh-CN" altLang="en-US" sz="1600" b="1" dirty="0"/>
                    </a:p>
                  </a:txBody>
                  <a:tcPr anchor="ctr">
                    <a:solidFill>
                      <a:schemeClr val="accent3"/>
                    </a:solidFill>
                  </a:tcPr>
                </a:tc>
                <a:tc>
                  <a:txBody>
                    <a:bodyPr/>
                    <a:p>
                      <a:pPr algn="ctr"/>
                      <a:r>
                        <a:rPr lang="zh-CN" altLang="en-US" sz="1600" b="1" dirty="0"/>
                        <a:t>默认设置</a:t>
                      </a:r>
                      <a:endParaRPr lang="zh-CN" altLang="en-US" sz="1600" b="1" dirty="0"/>
                    </a:p>
                  </a:txBody>
                  <a:tcPr anchor="ctr">
                    <a:solidFill>
                      <a:schemeClr val="accent5"/>
                    </a:solidFill>
                  </a:tcPr>
                </a:tc>
              </a:tr>
              <a:tr h="367665">
                <a:tc>
                  <a:txBody>
                    <a:bodyPr/>
                    <a:p>
                      <a:pPr algn="ctr"/>
                      <a:r>
                        <a:rPr lang="en-US" altLang="zh-CN" sz="1600" b="1" dirty="0"/>
                        <a:t>1</a:t>
                      </a:r>
                      <a:endParaRPr lang="zh-CN" altLang="en-US" sz="1600" b="1" dirty="0"/>
                    </a:p>
                  </a:txBody>
                  <a:tcPr anchor="ctr">
                    <a:solidFill>
                      <a:schemeClr val="accent4">
                        <a:lumMod val="20000"/>
                        <a:lumOff val="80000"/>
                      </a:schemeClr>
                    </a:solidFill>
                  </a:tcPr>
                </a:tc>
                <a:tc rowSpan="2">
                  <a:txBody>
                    <a:bodyPr/>
                    <a:p>
                      <a:pPr algn="ctr"/>
                      <a:r>
                        <a:rPr lang="en-US" altLang="zh-CN" sz="1600" b="1" dirty="0"/>
                        <a:t>RGB</a:t>
                      </a:r>
                      <a:r>
                        <a:rPr lang="zh-CN" altLang="en-US" sz="1600" b="1" dirty="0"/>
                        <a:t>整数列表</a:t>
                      </a:r>
                      <a:endParaRPr lang="zh-CN" altLang="en-US" sz="1600" b="1" dirty="0"/>
                    </a:p>
                    <a:p>
                      <a:pPr algn="ctr"/>
                      <a:r>
                        <a:rPr lang="zh-CN" altLang="en-US" sz="1600" b="1" dirty="0"/>
                        <a:t>或者</a:t>
                      </a:r>
                      <a:r>
                        <a:rPr lang="en-US" altLang="zh-CN" sz="1600" b="1" dirty="0"/>
                        <a:t>16</a:t>
                      </a:r>
                      <a:r>
                        <a:rPr lang="zh-CN" altLang="en-US" sz="1600" b="1" dirty="0"/>
                        <a:t>进制</a:t>
                      </a:r>
                      <a:endParaRPr lang="zh-CN" altLang="en-US" sz="1600" b="1" dirty="0"/>
                    </a:p>
                    <a:p>
                      <a:pPr algn="ctr"/>
                      <a:r>
                        <a:rPr lang="zh-CN" altLang="en-US" sz="1600" b="1" dirty="0"/>
                        <a:t>字符串模式</a:t>
                      </a:r>
                      <a:endParaRPr lang="zh-CN" altLang="en-US" sz="1600" b="1" dirty="0"/>
                    </a:p>
                  </a:txBody>
                  <a:tcPr anchor="ctr">
                    <a:solidFill>
                      <a:schemeClr val="accent3"/>
                    </a:solidFill>
                  </a:tcPr>
                </a:tc>
                <a:tc rowSpan="2">
                  <a:txBody>
                    <a:bodyPr/>
                    <a:p>
                      <a:pPr algn="ctr">
                        <a:buNone/>
                      </a:pPr>
                      <a:r>
                        <a:rPr lang="en-US" altLang="zh-CN" sz="1600" b="1" dirty="0"/>
                        <a:t>8</a:t>
                      </a:r>
                      <a:r>
                        <a:rPr lang="zh-CN" altLang="en-US" sz="1600" b="1" dirty="0"/>
                        <a:t>种基本颜色</a:t>
                      </a:r>
                      <a:endParaRPr lang="zh-CN" altLang="en-US" sz="1600" b="1" dirty="0"/>
                    </a:p>
                  </a:txBody>
                  <a:tcPr anchor="ctr">
                    <a:solidFill>
                      <a:schemeClr val="accent3"/>
                    </a:solidFill>
                  </a:tcPr>
                </a:tc>
                <a:tc>
                  <a:txBody>
                    <a:bodyPr/>
                    <a:p>
                      <a:pPr algn="ctr"/>
                      <a:r>
                        <a:rPr lang="en-US" altLang="zh-CN" sz="1600" b="1" dirty="0"/>
                        <a:t>—</a:t>
                      </a:r>
                      <a:endParaRPr lang="en-US" altLang="zh-CN" sz="1600" b="1" dirty="0"/>
                    </a:p>
                  </a:txBody>
                  <a:tcPr anchor="ctr">
                    <a:solidFill>
                      <a:schemeClr val="accent5"/>
                    </a:solidFill>
                  </a:tcPr>
                </a:tc>
              </a:tr>
              <a:tr h="455295">
                <a:tc>
                  <a:txBody>
                    <a:bodyPr/>
                    <a:p>
                      <a:pPr algn="ctr"/>
                      <a:r>
                        <a:rPr lang="en-US" altLang="zh-CN" sz="1600" b="1" dirty="0"/>
                        <a:t>2</a:t>
                      </a:r>
                      <a:endParaRPr lang="zh-CN" altLang="en-US" sz="1600" b="1" dirty="0"/>
                    </a:p>
                  </a:txBody>
                  <a:tcPr anchor="ctr">
                    <a:solidFill>
                      <a:schemeClr val="accent4">
                        <a:lumMod val="20000"/>
                        <a:lumOff val="80000"/>
                      </a:schemeClr>
                    </a:solidFill>
                  </a:tcPr>
                </a:tc>
                <a:tc vMerge="1">
                  <a:tcPr anchor="ctr"/>
                </a:tc>
                <a:tc vMerge="1">
                  <a:tcPr anchor="ctr">
                    <a:solidFill>
                      <a:schemeClr val="accent3"/>
                    </a:solidFill>
                  </a:tcPr>
                </a:tc>
                <a:tc>
                  <a:txBody>
                    <a:bodyPr/>
                    <a:p>
                      <a:pPr algn="ctr"/>
                      <a:r>
                        <a:rPr lang="zh-CN" altLang="en-US" sz="1600" b="1" dirty="0"/>
                        <a:t>默认掩膜颜色表</a:t>
                      </a:r>
                      <a:endParaRPr lang="zh-CN" altLang="en-US" sz="1600" b="1" dirty="0"/>
                    </a:p>
                  </a:txBody>
                  <a:tcPr anchor="ctr">
                    <a:solidFill>
                      <a:schemeClr val="accent5"/>
                    </a:solidFill>
                  </a:tcPr>
                </a:tc>
              </a:tr>
            </a:tbl>
          </a:graphicData>
        </a:graphic>
      </p:graphicFrame>
      <p:sp>
        <p:nvSpPr>
          <p:cNvPr id="18" name="Rectangle 1"/>
          <p:cNvSpPr>
            <a:spLocks noChangeArrowheads="1"/>
          </p:cNvSpPr>
          <p:nvPr/>
        </p:nvSpPr>
        <p:spPr bwMode="auto">
          <a:xfrm>
            <a:off x="5013325" y="3721100"/>
            <a:ext cx="1399540" cy="2285365"/>
          </a:xfrm>
          <a:prstGeom prst="rect">
            <a:avLst/>
          </a:prstGeom>
          <a:noFill/>
        </p:spPr>
        <p:txBody>
          <a:bodyPr wrap="square">
            <a:noAutofit/>
          </a:bodyPr>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RGB</a:t>
            </a:r>
            <a:r>
              <a:rPr lang="zh-CN" altLang="en-US" sz="1600" b="1" dirty="0">
                <a:latin typeface="Times New Roman" panose="02020603050405020304" charset="0"/>
                <a:ea typeface="微软雅黑" panose="020B0503020204020204" charset="-122"/>
                <a:cs typeface="Times New Roman" panose="02020603050405020304" charset="0"/>
                <a:sym typeface="+mn-ea"/>
              </a:rPr>
              <a:t>列表：</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如</a:t>
            </a:r>
            <a:r>
              <a:rPr lang="zh-CN" altLang="en-US" sz="1600" b="1" dirty="0">
                <a:latin typeface="Times New Roman" panose="02020603050405020304" charset="0"/>
                <a:ea typeface="微软雅黑" panose="020B0503020204020204" charset="-122"/>
                <a:cs typeface="Times New Roman" panose="02020603050405020304" charset="0"/>
                <a:sym typeface="+mn-ea"/>
              </a:rPr>
              <a:t>[255, 255, 255]</a:t>
            </a:r>
            <a:r>
              <a:rPr lang="zh-CN" altLang="en-US" sz="1600" b="1" dirty="0">
                <a:latin typeface="Times New Roman" panose="02020603050405020304" charset="0"/>
                <a:ea typeface="微软雅黑" panose="020B0503020204020204" charset="-122"/>
                <a:cs typeface="Times New Roman" panose="02020603050405020304" charset="0"/>
                <a:sym typeface="+mn-ea"/>
              </a:rPr>
              <a:t>。</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基本颜色：</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如</a:t>
            </a:r>
            <a:r>
              <a:rPr lang="en-US" altLang="zh-CN" sz="1600" b="1" dirty="0">
                <a:latin typeface="Times New Roman" panose="02020603050405020304" charset="0"/>
                <a:ea typeface="微软雅黑" panose="020B0503020204020204" charset="-122"/>
                <a:cs typeface="Times New Roman" panose="02020603050405020304" charset="0"/>
                <a:sym typeface="+mn-ea"/>
              </a:rPr>
              <a:t>”g”</a:t>
            </a:r>
            <a:r>
              <a:rPr lang="zh-CN" altLang="en-US" sz="1600" b="1" dirty="0">
                <a:latin typeface="Times New Roman" panose="02020603050405020304" charset="0"/>
                <a:ea typeface="微软雅黑" panose="020B0503020204020204" charset="-122"/>
                <a:cs typeface="Times New Roman" panose="02020603050405020304" charset="0"/>
                <a:sym typeface="+mn-ea"/>
              </a:rPr>
              <a:t>、</a:t>
            </a:r>
            <a:r>
              <a:rPr lang="en-US" altLang="zh-CN" sz="1600" b="1" dirty="0">
                <a:latin typeface="Times New Roman" panose="02020603050405020304" charset="0"/>
                <a:ea typeface="微软雅黑" panose="020B0503020204020204" charset="-122"/>
                <a:cs typeface="Times New Roman" panose="02020603050405020304" charset="0"/>
                <a:sym typeface="+mn-ea"/>
              </a:rPr>
              <a:t>”r”</a:t>
            </a:r>
            <a:r>
              <a:rPr lang="zh-CN" altLang="en-US" sz="1600" b="1" dirty="0">
                <a:latin typeface="Times New Roman" panose="02020603050405020304" charset="0"/>
                <a:ea typeface="微软雅黑" panose="020B0503020204020204" charset="-122"/>
                <a:cs typeface="Times New Roman" panose="02020603050405020304" charset="0"/>
                <a:sym typeface="+mn-ea"/>
              </a:rPr>
              <a:t>。</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RGB16进制字符串模式：</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#??????，如#FF0000。</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endParaRPr lang="zh-CN" altLang="en-US" sz="1600" b="1" dirty="0">
              <a:latin typeface="Times New Roman" panose="02020603050405020304" charset="0"/>
              <a:ea typeface="微软雅黑" panose="020B0503020204020204" charset="-122"/>
              <a:cs typeface="Times New Roman" panose="02020603050405020304" charset="0"/>
              <a:sym typeface="+mn-ea"/>
            </a:endParaRPr>
          </a:p>
        </p:txBody>
      </p:sp>
      <p:sp>
        <p:nvSpPr>
          <p:cNvPr id="15" name="Rectangle 1"/>
          <p:cNvSpPr>
            <a:spLocks noChangeArrowheads="1"/>
          </p:cNvSpPr>
          <p:nvPr/>
        </p:nvSpPr>
        <p:spPr bwMode="auto">
          <a:xfrm>
            <a:off x="7563485" y="1153795"/>
            <a:ext cx="4628515" cy="3046095"/>
          </a:xfrm>
          <a:prstGeom prst="rect">
            <a:avLst/>
          </a:prstGeom>
          <a:noFill/>
        </p:spPr>
        <p:txBody>
          <a:bodyPr wrap="square">
            <a:spAutoFit/>
          </a:bodyPr>
          <a:p>
            <a:pPr algn="l"/>
            <a:r>
              <a:rPr lang="zh-CN" altLang="en-US" sz="1600" b="1" dirty="0">
                <a:latin typeface="Times New Roman" panose="02020603050405020304" charset="0"/>
                <a:ea typeface="微软雅黑" panose="020B0503020204020204" charset="-122"/>
                <a:cs typeface="Times New Roman" panose="02020603050405020304" charset="0"/>
              </a:rPr>
              <a:t>具体的打码模式相较</a:t>
            </a:r>
            <a:r>
              <a:rPr lang="zh-CN" altLang="en-US" sz="1600" b="1" dirty="0">
                <a:latin typeface="Times New Roman" panose="02020603050405020304" charset="0"/>
                <a:ea typeface="微软雅黑" panose="020B0503020204020204" charset="-122"/>
                <a:cs typeface="Times New Roman" panose="02020603050405020304" charset="0"/>
                <a:sym typeface="+mn-ea"/>
              </a:rPr>
              <a:t>prediction_mosaic_dlc.py，将模式</a:t>
            </a:r>
            <a:r>
              <a:rPr lang="en-US" altLang="zh-CN" sz="1600" b="1" dirty="0">
                <a:latin typeface="Times New Roman" panose="02020603050405020304" charset="0"/>
                <a:ea typeface="微软雅黑" panose="020B0503020204020204" charset="-122"/>
                <a:cs typeface="Times New Roman" panose="02020603050405020304" charset="0"/>
                <a:sym typeface="+mn-ea"/>
              </a:rPr>
              <a:t>1</a:t>
            </a:r>
            <a:r>
              <a:rPr lang="zh-CN" altLang="en-US" sz="1600" b="1" dirty="0">
                <a:latin typeface="Times New Roman" panose="02020603050405020304" charset="0"/>
                <a:ea typeface="微软雅黑" panose="020B0503020204020204" charset="-122"/>
                <a:cs typeface="Times New Roman" panose="02020603050405020304" charset="0"/>
                <a:sym typeface="+mn-ea"/>
              </a:rPr>
              <a:t>和模式</a:t>
            </a:r>
            <a:r>
              <a:rPr lang="en-US" altLang="zh-CN" sz="1600" b="1" dirty="0">
                <a:latin typeface="Times New Roman" panose="02020603050405020304" charset="0"/>
                <a:ea typeface="微软雅黑" panose="020B0503020204020204" charset="-122"/>
                <a:cs typeface="Times New Roman" panose="02020603050405020304" charset="0"/>
                <a:sym typeface="+mn-ea"/>
              </a:rPr>
              <a:t>2</a:t>
            </a:r>
            <a:r>
              <a:rPr lang="zh-CN" altLang="en-US" sz="1600" b="1" dirty="0">
                <a:latin typeface="Times New Roman" panose="02020603050405020304" charset="0"/>
                <a:ea typeface="微软雅黑" panose="020B0503020204020204" charset="-122"/>
                <a:cs typeface="Times New Roman" panose="02020603050405020304" charset="0"/>
                <a:sym typeface="+mn-ea"/>
              </a:rPr>
              <a:t>合并在了一起，减少了设置参数数目，增加了设置参数形式的多样性（设置参数的形式更加灵活），其改动</a:t>
            </a:r>
            <a:r>
              <a:rPr lang="zh-CN" altLang="en-US" sz="1600" b="1" dirty="0">
                <a:latin typeface="Times New Roman" panose="02020603050405020304" charset="0"/>
                <a:ea typeface="微软雅黑" panose="020B0503020204020204" charset="-122"/>
                <a:cs typeface="Times New Roman" panose="02020603050405020304" charset="0"/>
              </a:rPr>
              <a:t>如下：</a:t>
            </a:r>
            <a:endParaRPr lang="zh-CN" altLang="en-US" sz="1600" b="1" dirty="0">
              <a:latin typeface="Times New Roman" panose="02020603050405020304" charset="0"/>
              <a:ea typeface="微软雅黑" panose="020B0503020204020204" charset="-122"/>
              <a:cs typeface="Times New Roman" panose="02020603050405020304" charset="0"/>
            </a:endParaRPr>
          </a:p>
          <a:p>
            <a:pPr algn="l"/>
            <a:endParaRPr lang="en-US" altLang="zh-CN" sz="1600" b="1" dirty="0">
              <a:latin typeface="Times New Roman" panose="02020603050405020304" charset="0"/>
              <a:ea typeface="微软雅黑" panose="020B0503020204020204" charset="-122"/>
              <a:cs typeface="Times New Roman" panose="02020603050405020304" charset="0"/>
            </a:endParaRPr>
          </a:p>
          <a:p>
            <a:pPr algn="l"/>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0：需要打码的类别均以类似于新闻上的方式打码（通过最临近插值，形成块状马赛克效果）。模式</a:t>
            </a:r>
            <a:r>
              <a:rPr lang="en-US" altLang="zh-CN" sz="1600" b="1" dirty="0">
                <a:latin typeface="Times New Roman" panose="02020603050405020304" charset="0"/>
                <a:ea typeface="微软雅黑" panose="020B0503020204020204" charset="-122"/>
                <a:cs typeface="Times New Roman" panose="02020603050405020304" charset="0"/>
              </a:rPr>
              <a:t>0</a:t>
            </a:r>
            <a:r>
              <a:rPr lang="zh-CN" altLang="en-US" sz="1600" b="1" dirty="0">
                <a:latin typeface="Times New Roman" panose="02020603050405020304" charset="0"/>
                <a:ea typeface="微软雅黑" panose="020B0503020204020204" charset="-122"/>
                <a:cs typeface="Times New Roman" panose="02020603050405020304" charset="0"/>
              </a:rPr>
              <a:t>中，</a:t>
            </a:r>
            <a:r>
              <a:rPr lang="zh-CN" altLang="en-US" sz="1600" b="1" dirty="0">
                <a:latin typeface="Times New Roman" panose="02020603050405020304" charset="0"/>
                <a:ea typeface="微软雅黑" panose="020B0503020204020204" charset="-122"/>
                <a:cs typeface="Times New Roman" panose="02020603050405020304" charset="0"/>
                <a:sym typeface="+mn-ea"/>
              </a:rPr>
              <a:t>可以调整马赛克块的大小。</a:t>
            </a:r>
            <a:br>
              <a:rPr lang="zh-CN" altLang="zh-CN" sz="1600" b="1" dirty="0">
                <a:latin typeface="Times New Roman" panose="02020603050405020304" charset="0"/>
                <a:ea typeface="微软雅黑" panose="020B0503020204020204" charset="-122"/>
                <a:cs typeface="Times New Roman" panose="02020603050405020304" charset="0"/>
              </a:rPr>
            </a:br>
            <a:r>
              <a:rPr lang="zh-CN" altLang="en-US" sz="1600" b="1" dirty="0">
                <a:latin typeface="Times New Roman" panose="02020603050405020304" charset="0"/>
                <a:ea typeface="微软雅黑" panose="020B0503020204020204" charset="-122"/>
                <a:cs typeface="Times New Roman" panose="02020603050405020304" charset="0"/>
              </a:rPr>
              <a:t>打码模式</a:t>
            </a:r>
            <a:r>
              <a:rPr lang="zh-CN" altLang="zh-CN" sz="1600" b="1" dirty="0">
                <a:latin typeface="Times New Roman" panose="02020603050405020304" charset="0"/>
                <a:ea typeface="微软雅黑" panose="020B0503020204020204" charset="-122"/>
                <a:cs typeface="Times New Roman" panose="02020603050405020304" charset="0"/>
              </a:rPr>
              <a:t>1：</a:t>
            </a:r>
            <a:r>
              <a:rPr lang="zh-CN" sz="1600" b="1" dirty="0">
                <a:latin typeface="Times New Roman" panose="02020603050405020304" charset="0"/>
                <a:ea typeface="微软雅黑" panose="020B0503020204020204" charset="-122"/>
                <a:cs typeface="Times New Roman" panose="02020603050405020304" charset="0"/>
              </a:rPr>
              <a:t>需要打码的不同类别根据指定类别的颜色或者默认掩膜颜色表中的颜色进行打码，具体的打码颜色根据设置self_mosaic_colors的内容确定：</a:t>
            </a:r>
            <a:endParaRPr lang="zh-CN" sz="1600" b="1" dirty="0">
              <a:latin typeface="Times New Roman" panose="02020603050405020304" charset="0"/>
              <a:ea typeface="微软雅黑" panose="020B0503020204020204" charset="-122"/>
              <a:cs typeface="Times New Roman" panose="02020603050405020304" charset="0"/>
            </a:endParaRPr>
          </a:p>
        </p:txBody>
      </p:sp>
      <p:graphicFrame>
        <p:nvGraphicFramePr>
          <p:cNvPr id="20" name="表格 19"/>
          <p:cNvGraphicFramePr>
            <a:graphicFrameLocks noGrp="1"/>
          </p:cNvGraphicFramePr>
          <p:nvPr/>
        </p:nvGraphicFramePr>
        <p:xfrm>
          <a:off x="6355942" y="4303334"/>
          <a:ext cx="3666509" cy="1574184"/>
        </p:xfrm>
        <a:graphic>
          <a:graphicData uri="http://schemas.openxmlformats.org/drawingml/2006/table">
            <a:tbl>
              <a:tblPr firstRow="1" bandRow="1">
                <a:tableStyleId>{5940675A-B579-460E-94D1-54222C63F5DA}</a:tableStyleId>
              </a:tblPr>
              <a:tblGrid>
                <a:gridCol w="659687"/>
                <a:gridCol w="1608455"/>
                <a:gridCol w="1398367"/>
              </a:tblGrid>
              <a:tr h="579120">
                <a:tc>
                  <a:txBody>
                    <a:bodyPr/>
                    <a:p>
                      <a:pPr algn="ctr"/>
                      <a:r>
                        <a:rPr lang="zh-CN" altLang="en-US" sz="1400" b="1" dirty="0"/>
                        <a:t>打码</a:t>
                      </a:r>
                      <a:endParaRPr lang="en-US" altLang="zh-CN" sz="1400" b="1" dirty="0"/>
                    </a:p>
                    <a:p>
                      <a:pPr algn="ctr"/>
                      <a:r>
                        <a:rPr lang="zh-CN" altLang="en-US" sz="1400" b="1" dirty="0"/>
                        <a:t>模式</a:t>
                      </a:r>
                      <a:endParaRPr lang="zh-CN" altLang="en-US" sz="1400" b="1" dirty="0"/>
                    </a:p>
                  </a:txBody>
                  <a:tcPr anchor="ctr">
                    <a:solidFill>
                      <a:schemeClr val="accent4">
                        <a:lumMod val="20000"/>
                        <a:lumOff val="80000"/>
                      </a:schemeClr>
                    </a:solidFill>
                  </a:tcPr>
                </a:tc>
                <a:tc>
                  <a:txBody>
                    <a:bodyPr/>
                    <a:p>
                      <a:pPr algn="ctr"/>
                      <a:r>
                        <a:rPr lang="zh-CN" altLang="en-US" sz="1400" b="1" dirty="0"/>
                        <a:t>自己设置</a:t>
                      </a:r>
                      <a:endParaRPr lang="zh-CN" altLang="en-US" sz="1400" b="1" dirty="0"/>
                    </a:p>
                  </a:txBody>
                  <a:tcPr anchor="ctr">
                    <a:solidFill>
                      <a:schemeClr val="accent3"/>
                    </a:solidFill>
                  </a:tcPr>
                </a:tc>
                <a:tc>
                  <a:txBody>
                    <a:bodyPr/>
                    <a:p>
                      <a:pPr algn="ctr"/>
                      <a:r>
                        <a:rPr lang="zh-CN" altLang="en-US" sz="1400" b="1" dirty="0"/>
                        <a:t>默认设置</a:t>
                      </a:r>
                      <a:endParaRPr lang="zh-CN" altLang="en-US" sz="1400" b="1" dirty="0"/>
                    </a:p>
                  </a:txBody>
                  <a:tcPr anchor="ctr">
                    <a:solidFill>
                      <a:schemeClr val="accent5"/>
                    </a:solidFill>
                  </a:tcPr>
                </a:tc>
              </a:tr>
              <a:tr h="995064">
                <a:tc>
                  <a:txBody>
                    <a:bodyPr/>
                    <a:p>
                      <a:pPr algn="ctr"/>
                      <a:r>
                        <a:rPr lang="en-US" altLang="zh-CN" sz="1400" b="1" dirty="0"/>
                        <a:t>1</a:t>
                      </a:r>
                      <a:endParaRPr lang="en-US" altLang="zh-CN" sz="1400" b="1" dirty="0"/>
                    </a:p>
                  </a:txBody>
                  <a:tcPr anchor="ctr">
                    <a:solidFill>
                      <a:schemeClr val="accent4">
                        <a:lumMod val="20000"/>
                        <a:lumOff val="80000"/>
                      </a:schemeClr>
                    </a:solidFill>
                  </a:tcPr>
                </a:tc>
                <a:tc>
                  <a:txBody>
                    <a:bodyPr/>
                    <a:p>
                      <a:pPr algn="ctr"/>
                      <a:r>
                        <a:rPr lang="en-US" altLang="zh-CN" sz="1400" b="1" dirty="0"/>
                        <a:t>RGB</a:t>
                      </a:r>
                      <a:r>
                        <a:rPr lang="zh-CN" altLang="en-US" sz="1400" b="1" dirty="0"/>
                        <a:t>列表（整数或归一化灰度值）、基本颜色或者</a:t>
                      </a:r>
                      <a:endParaRPr lang="en-US" altLang="zh-CN" sz="1400" b="1" dirty="0"/>
                    </a:p>
                    <a:p>
                      <a:pPr algn="ctr"/>
                      <a:r>
                        <a:rPr lang="en-US" altLang="zh-CN" sz="1400" b="1" dirty="0"/>
                        <a:t>16</a:t>
                      </a:r>
                      <a:r>
                        <a:rPr lang="zh-CN" altLang="en-US" sz="1400" b="1" dirty="0"/>
                        <a:t>进制字符串模式</a:t>
                      </a:r>
                      <a:endParaRPr lang="zh-CN" altLang="en-US" sz="1400" b="1" dirty="0"/>
                    </a:p>
                  </a:txBody>
                  <a:tcPr anchor="ctr">
                    <a:solidFill>
                      <a:schemeClr val="accent3"/>
                    </a:solidFill>
                  </a:tcPr>
                </a:tc>
                <a:tc>
                  <a:txBody>
                    <a:bodyPr/>
                    <a:p>
                      <a:pPr algn="ctr"/>
                      <a:r>
                        <a:rPr lang="zh-CN" altLang="en-US" sz="1400" b="1" dirty="0"/>
                        <a:t>默认掩膜</a:t>
                      </a:r>
                      <a:endParaRPr lang="zh-CN" altLang="en-US" sz="1400" b="1" dirty="0"/>
                    </a:p>
                    <a:p>
                      <a:pPr algn="ctr"/>
                      <a:r>
                        <a:rPr lang="zh-CN" altLang="en-US" sz="1400" b="1" dirty="0"/>
                        <a:t>颜色表</a:t>
                      </a:r>
                      <a:endParaRPr lang="zh-CN" altLang="en-US" sz="1400" b="1" dirty="0"/>
                    </a:p>
                  </a:txBody>
                  <a:tcPr anchor="ctr">
                    <a:solidFill>
                      <a:schemeClr val="accent5"/>
                    </a:solidFill>
                  </a:tcPr>
                </a:tc>
              </a:tr>
            </a:tbl>
          </a:graphicData>
        </a:graphic>
      </p:graphicFrame>
      <p:sp>
        <p:nvSpPr>
          <p:cNvPr id="21" name="Rectangle 1"/>
          <p:cNvSpPr>
            <a:spLocks noChangeArrowheads="1"/>
          </p:cNvSpPr>
          <p:nvPr/>
        </p:nvSpPr>
        <p:spPr bwMode="auto">
          <a:xfrm>
            <a:off x="9956165" y="4321810"/>
            <a:ext cx="2343150" cy="1599565"/>
          </a:xfrm>
          <a:prstGeom prst="rect">
            <a:avLst/>
          </a:prstGeom>
          <a:noFill/>
        </p:spPr>
        <p:txBody>
          <a:bodyPr wrap="square">
            <a:noAutofit/>
          </a:bodyPr>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RGB列表：</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如[255, </a:t>
            </a:r>
            <a:r>
              <a:rPr lang="en-US" altLang="zh-CN" sz="1600" b="1" dirty="0">
                <a:latin typeface="Times New Roman" panose="02020603050405020304" charset="0"/>
                <a:ea typeface="微软雅黑" panose="020B0503020204020204" charset="-122"/>
                <a:cs typeface="Times New Roman" panose="02020603050405020304" charset="0"/>
                <a:sym typeface="+mn-ea"/>
              </a:rPr>
              <a:t>0.1</a:t>
            </a:r>
            <a:r>
              <a:rPr lang="zh-CN" altLang="en-US" sz="1600" b="1" dirty="0">
                <a:latin typeface="Times New Roman" panose="02020603050405020304" charset="0"/>
                <a:ea typeface="微软雅黑" panose="020B0503020204020204" charset="-122"/>
                <a:cs typeface="Times New Roman" panose="02020603050405020304" charset="0"/>
                <a:sym typeface="+mn-ea"/>
              </a:rPr>
              <a:t>, </a:t>
            </a:r>
            <a:r>
              <a:rPr lang="en-US" altLang="zh-CN" sz="1600" b="1" dirty="0">
                <a:latin typeface="Times New Roman" panose="02020603050405020304" charset="0"/>
                <a:ea typeface="微软雅黑" panose="020B0503020204020204" charset="-122"/>
                <a:cs typeface="Times New Roman" panose="02020603050405020304" charset="0"/>
                <a:sym typeface="+mn-ea"/>
              </a:rPr>
              <a:t>0</a:t>
            </a:r>
            <a:r>
              <a:rPr lang="zh-CN" altLang="en-US" sz="1600" b="1" dirty="0">
                <a:latin typeface="Times New Roman" panose="02020603050405020304" charset="0"/>
                <a:ea typeface="微软雅黑" panose="020B0503020204020204" charset="-122"/>
                <a:cs typeface="Times New Roman" panose="02020603050405020304" charset="0"/>
                <a:sym typeface="+mn-ea"/>
              </a:rPr>
              <a:t>]</a:t>
            </a:r>
            <a:r>
              <a:rPr lang="zh-CN" altLang="en-US" sz="1600" b="1" dirty="0">
                <a:latin typeface="Times New Roman" panose="02020603050405020304" charset="0"/>
                <a:ea typeface="微软雅黑" panose="020B0503020204020204" charset="-122"/>
                <a:cs typeface="Times New Roman" panose="02020603050405020304" charset="0"/>
                <a:sym typeface="+mn-ea"/>
              </a:rPr>
              <a:t>。</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基本颜色：</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如</a:t>
            </a:r>
            <a:r>
              <a:rPr lang="en-US" altLang="zh-CN" sz="1600" b="1" dirty="0">
                <a:latin typeface="Times New Roman" panose="02020603050405020304" charset="0"/>
                <a:ea typeface="微软雅黑" panose="020B0503020204020204" charset="-122"/>
                <a:cs typeface="Times New Roman" panose="02020603050405020304" charset="0"/>
                <a:sym typeface="+mn-ea"/>
              </a:rPr>
              <a:t>”g”</a:t>
            </a:r>
            <a:r>
              <a:rPr lang="zh-CN" altLang="en-US" sz="1600" b="1" dirty="0">
                <a:latin typeface="Times New Roman" panose="02020603050405020304" charset="0"/>
                <a:ea typeface="微软雅黑" panose="020B0503020204020204" charset="-122"/>
                <a:cs typeface="Times New Roman" panose="02020603050405020304" charset="0"/>
                <a:sym typeface="+mn-ea"/>
              </a:rPr>
              <a:t>、</a:t>
            </a:r>
            <a:r>
              <a:rPr lang="en-US" altLang="zh-CN" sz="1600" b="1" dirty="0">
                <a:latin typeface="Times New Roman" panose="02020603050405020304" charset="0"/>
                <a:ea typeface="微软雅黑" panose="020B0503020204020204" charset="-122"/>
                <a:cs typeface="Times New Roman" panose="02020603050405020304" charset="0"/>
                <a:sym typeface="+mn-ea"/>
              </a:rPr>
              <a:t>”r”</a:t>
            </a:r>
            <a:r>
              <a:rPr lang="zh-CN" altLang="en-US" sz="1600" b="1" dirty="0">
                <a:latin typeface="Times New Roman" panose="02020603050405020304" charset="0"/>
                <a:ea typeface="微软雅黑" panose="020B0503020204020204" charset="-122"/>
                <a:cs typeface="Times New Roman" panose="02020603050405020304" charset="0"/>
                <a:sym typeface="+mn-ea"/>
              </a:rPr>
              <a:t>。</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RGB16</a:t>
            </a:r>
            <a:r>
              <a:rPr lang="zh-CN" altLang="en-US" sz="1600" b="1" dirty="0">
                <a:latin typeface="Times New Roman" panose="02020603050405020304" charset="0"/>
                <a:ea typeface="微软雅黑" panose="020B0503020204020204" charset="-122"/>
                <a:cs typeface="Times New Roman" panose="02020603050405020304" charset="0"/>
                <a:sym typeface="+mn-ea"/>
              </a:rPr>
              <a:t>进制字符串模式：</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a:t>
            </a:r>
            <a:r>
              <a:rPr lang="zh-CN" altLang="en-US" sz="1600" b="1" dirty="0">
                <a:latin typeface="Times New Roman" panose="02020603050405020304" charset="0"/>
                <a:ea typeface="微软雅黑" panose="020B0503020204020204" charset="-122"/>
                <a:cs typeface="Times New Roman" panose="02020603050405020304" charset="0"/>
                <a:sym typeface="+mn-ea"/>
              </a:rPr>
              <a:t>，</a:t>
            </a:r>
            <a:r>
              <a:rPr lang="zh-CN" altLang="en-US" sz="1600" b="1" dirty="0">
                <a:latin typeface="Times New Roman" panose="02020603050405020304" charset="0"/>
                <a:ea typeface="微软雅黑" panose="020B0503020204020204" charset="-122"/>
                <a:cs typeface="Times New Roman" panose="02020603050405020304" charset="0"/>
                <a:sym typeface="+mn-ea"/>
              </a:rPr>
              <a:t>如#FF0000。</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p:txBody>
      </p:sp>
      <p:sp>
        <p:nvSpPr>
          <p:cNvPr id="23" name="Rectangle 1"/>
          <p:cNvSpPr>
            <a:spLocks noChangeArrowheads="1"/>
          </p:cNvSpPr>
          <p:nvPr/>
        </p:nvSpPr>
        <p:spPr bwMode="auto">
          <a:xfrm>
            <a:off x="-151765" y="6012180"/>
            <a:ext cx="12496165" cy="831215"/>
          </a:xfrm>
          <a:prstGeom prst="rect">
            <a:avLst/>
          </a:prstGeom>
          <a:noFill/>
        </p:spPr>
        <p:txBody>
          <a:bodyPr wrap="square">
            <a:noAutofit/>
          </a:bodyPr>
          <a:p>
            <a:pPr lvl="0" algn="l">
              <a:buClrTx/>
              <a:buSzTx/>
              <a:buFontTx/>
            </a:pPr>
            <a:r>
              <a:rPr lang="zh-CN" altLang="en-US" sz="1600" b="1" dirty="0">
                <a:latin typeface="Times New Roman" panose="02020603050405020304" charset="0"/>
                <a:ea typeface="微软雅黑" panose="020B0503020204020204" charset="-122"/>
                <a:cs typeface="Times New Roman" panose="02020603050405020304" charset="0"/>
                <a:sym typeface="+mn-ea"/>
              </a:rPr>
              <a:t>其他设置参数说明：prediction_mosaic_dlc.py需要单独设置关于模式</a:t>
            </a:r>
            <a:r>
              <a:rPr lang="en-US" altLang="zh-CN" sz="1600" b="1" dirty="0">
                <a:latin typeface="Times New Roman" panose="02020603050405020304" charset="0"/>
                <a:ea typeface="微软雅黑" panose="020B0503020204020204" charset="-122"/>
                <a:cs typeface="Times New Roman" panose="02020603050405020304" charset="0"/>
                <a:sym typeface="+mn-ea"/>
              </a:rPr>
              <a:t>1</a:t>
            </a:r>
            <a:r>
              <a:rPr lang="zh-CN" altLang="en-US" sz="1600" b="1" dirty="0">
                <a:latin typeface="Times New Roman" panose="02020603050405020304" charset="0"/>
                <a:ea typeface="微软雅黑" panose="020B0503020204020204" charset="-122"/>
                <a:cs typeface="Times New Roman" panose="02020603050405020304" charset="0"/>
                <a:sym typeface="+mn-ea"/>
              </a:rPr>
              <a:t>和模式</a:t>
            </a:r>
            <a:r>
              <a:rPr lang="en-US" altLang="zh-CN" sz="1600" b="1" dirty="0">
                <a:latin typeface="Times New Roman" panose="02020603050405020304" charset="0"/>
                <a:ea typeface="微软雅黑" panose="020B0503020204020204" charset="-122"/>
                <a:cs typeface="Times New Roman" panose="02020603050405020304" charset="0"/>
                <a:sym typeface="+mn-ea"/>
              </a:rPr>
              <a:t>2</a:t>
            </a:r>
            <a:r>
              <a:rPr lang="zh-CN" altLang="en-US" sz="1600" b="1" dirty="0">
                <a:latin typeface="Times New Roman" panose="02020603050405020304" charset="0"/>
                <a:ea typeface="微软雅黑" panose="020B0503020204020204" charset="-122"/>
                <a:cs typeface="Times New Roman" panose="02020603050405020304" charset="0"/>
                <a:sym typeface="+mn-ea"/>
              </a:rPr>
              <a:t>的颜色和是否用自己的颜色、基本颜色、还是默认设置。prediction_mosaic_dlc_up.py无需设置其他参数，代码中会根据</a:t>
            </a:r>
            <a:r>
              <a:rPr lang="zh-CN" sz="1600" b="1" dirty="0">
                <a:latin typeface="Times New Roman" panose="02020603050405020304" charset="0"/>
                <a:ea typeface="微软雅黑" panose="020B0503020204020204" charset="-122"/>
                <a:cs typeface="Times New Roman" panose="02020603050405020304" charset="0"/>
                <a:sym typeface="+mn-ea"/>
              </a:rPr>
              <a:t>self_mosaic_colors的内容自行判断：如果</a:t>
            </a:r>
            <a:r>
              <a:rPr lang="zh-CN" sz="1600" b="1" dirty="0">
                <a:latin typeface="Times New Roman" panose="02020603050405020304" charset="0"/>
                <a:ea typeface="微软雅黑" panose="020B0503020204020204" charset="-122"/>
                <a:cs typeface="Times New Roman" panose="02020603050405020304" charset="0"/>
                <a:sym typeface="+mn-ea"/>
              </a:rPr>
              <a:t>self_mosaic_colors是空列表，则采用默认设置；</a:t>
            </a:r>
            <a:r>
              <a:rPr lang="zh-CN" altLang="en-US" sz="1600" b="1" dirty="0">
                <a:latin typeface="Times New Roman" panose="02020603050405020304" charset="0"/>
                <a:ea typeface="微软雅黑" panose="020B0503020204020204" charset="-122"/>
                <a:cs typeface="Times New Roman" panose="02020603050405020304" charset="0"/>
                <a:sym typeface="+mn-ea"/>
              </a:rPr>
              <a:t>如果</a:t>
            </a:r>
            <a:r>
              <a:rPr lang="zh-CN" sz="1600" b="1" dirty="0">
                <a:latin typeface="Times New Roman" panose="02020603050405020304" charset="0"/>
                <a:ea typeface="微软雅黑" panose="020B0503020204020204" charset="-122"/>
                <a:cs typeface="Times New Roman" panose="02020603050405020304" charset="0"/>
                <a:sym typeface="+mn-ea"/>
              </a:rPr>
              <a:t>self_mosaic_colors只有一行，所有类别采用同一种颜色打码；反之，采用不同种颜色打码。</a:t>
            </a:r>
            <a:endParaRPr lang="zh-CN" altLang="en-US" sz="1600" b="1" dirty="0">
              <a:latin typeface="Times New Roman" panose="02020603050405020304" charset="0"/>
              <a:ea typeface="微软雅黑" panose="020B0503020204020204" charset="-122"/>
              <a:cs typeface="Times New Roman" panose="02020603050405020304" charset="0"/>
              <a:sym typeface="+mn-ea"/>
            </a:endParaRPr>
          </a:p>
          <a:p>
            <a:pPr lvl="0" algn="l">
              <a:buClrTx/>
              <a:buSzTx/>
              <a:buFontTx/>
            </a:pPr>
            <a:endParaRPr lang="zh-CN" altLang="en-US" sz="1600" b="1" dirty="0">
              <a:latin typeface="Times New Roman" panose="02020603050405020304" charset="0"/>
              <a:ea typeface="微软雅黑" panose="020B0503020204020204" charset="-122"/>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b="28711"/>
          <a:stretch>
            <a:fillRect/>
          </a:stretch>
        </p:blipFill>
        <p:spPr>
          <a:xfrm>
            <a:off x="0" y="2031365"/>
            <a:ext cx="7932420" cy="4769485"/>
          </a:xfrm>
          <a:prstGeom prst="rect">
            <a:avLst/>
          </a:prstGeom>
        </p:spPr>
      </p:pic>
      <p:pic>
        <p:nvPicPr>
          <p:cNvPr id="3" name="图片 2"/>
          <p:cNvPicPr>
            <a:picLocks noChangeAspect="1"/>
          </p:cNvPicPr>
          <p:nvPr/>
        </p:nvPicPr>
        <p:blipFill>
          <a:blip r:embed="rId2"/>
          <a:stretch>
            <a:fillRect/>
          </a:stretch>
        </p:blipFill>
        <p:spPr>
          <a:xfrm>
            <a:off x="5044440" y="74295"/>
            <a:ext cx="7147560" cy="3962400"/>
          </a:xfrm>
          <a:prstGeom prst="rect">
            <a:avLst/>
          </a:prstGeom>
        </p:spPr>
      </p:pic>
      <p:sp>
        <p:nvSpPr>
          <p:cNvPr id="4" name="文本框 3"/>
          <p:cNvSpPr txBox="1"/>
          <p:nvPr/>
        </p:nvSpPr>
        <p:spPr>
          <a:xfrm>
            <a:off x="8517255" y="5150485"/>
            <a:ext cx="3060065" cy="368300"/>
          </a:xfrm>
          <a:prstGeom prst="rect">
            <a:avLst/>
          </a:prstGeom>
          <a:noFill/>
        </p:spPr>
        <p:txBody>
          <a:bodyPr wrap="square" rtlCol="0" anchor="t">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lvl="0" indent="0" algn="ctr" fontAlgn="auto">
              <a:buClrTx/>
              <a:buSzTx/>
              <a:buFontTx/>
            </a:pPr>
            <a:r>
              <a:rPr lang="zh-CN" altLang="en-US" sz="1800" dirty="0">
                <a:sym typeface="+mn-ea"/>
              </a:rPr>
              <a:t>prediction_mosaic_dlc.py</a:t>
            </a:r>
            <a:endParaRPr lang="zh-CN" altLang="en-US" sz="1800" dirty="0">
              <a:sym typeface="+mn-ea"/>
            </a:endParaRPr>
          </a:p>
        </p:txBody>
      </p:sp>
      <p:sp>
        <p:nvSpPr>
          <p:cNvPr id="5" name="文本框 4"/>
          <p:cNvSpPr txBox="1"/>
          <p:nvPr/>
        </p:nvSpPr>
        <p:spPr>
          <a:xfrm>
            <a:off x="956945" y="689610"/>
            <a:ext cx="3054985" cy="46037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二、代码的再次升级</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tretch>
            <a:fillRect/>
          </a:stretch>
        </p:blipFill>
        <p:spPr>
          <a:xfrm>
            <a:off x="2444750" y="0"/>
            <a:ext cx="9624060" cy="6682740"/>
          </a:xfrm>
          <a:prstGeom prst="rect">
            <a:avLst/>
          </a:prstGeom>
        </p:spPr>
      </p:pic>
      <p:sp>
        <p:nvSpPr>
          <p:cNvPr id="4" name="文本框 3"/>
          <p:cNvSpPr txBox="1"/>
          <p:nvPr/>
        </p:nvSpPr>
        <p:spPr>
          <a:xfrm>
            <a:off x="129540" y="3676650"/>
            <a:ext cx="2076450" cy="645160"/>
          </a:xfrm>
          <a:prstGeom prst="rect">
            <a:avLst/>
          </a:prstGeom>
          <a:noFill/>
        </p:spPr>
        <p:txBody>
          <a:bodyPr wrap="square" rtlCol="0" anchor="t">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lvl="0" algn="ctr">
              <a:buClrTx/>
              <a:buSzTx/>
              <a:buFontTx/>
            </a:pPr>
            <a:r>
              <a:rPr lang="zh-CN" altLang="en-US" sz="1800" dirty="0">
                <a:sym typeface="+mn-ea"/>
              </a:rPr>
              <a:t>prediction_</a:t>
            </a:r>
            <a:endParaRPr lang="zh-CN" altLang="en-US" sz="1800" dirty="0">
              <a:sym typeface="+mn-ea"/>
            </a:endParaRPr>
          </a:p>
          <a:p>
            <a:pPr lvl="0" algn="ctr">
              <a:buClrTx/>
              <a:buSzTx/>
              <a:buFontTx/>
            </a:pPr>
            <a:r>
              <a:rPr lang="zh-CN" altLang="en-US" sz="1800" dirty="0">
                <a:sym typeface="+mn-ea"/>
              </a:rPr>
              <a:t>mosaic_dlc_up.py</a:t>
            </a:r>
            <a:endParaRPr lang="zh-CN" altLang="en-US" sz="1800" dirty="0">
              <a:sym typeface="+mn-ea"/>
            </a:endParaRPr>
          </a:p>
        </p:txBody>
      </p:sp>
      <p:sp>
        <p:nvSpPr>
          <p:cNvPr id="2" name="文本框 1"/>
          <p:cNvSpPr txBox="1"/>
          <p:nvPr/>
        </p:nvSpPr>
        <p:spPr>
          <a:xfrm>
            <a:off x="129540" y="1341120"/>
            <a:ext cx="2176780" cy="82994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二、代码的</a:t>
            </a:r>
            <a:endParaRPr lang="zh-CN" altLang="en-US" dirty="0"/>
          </a:p>
          <a:p>
            <a:r>
              <a:rPr lang="zh-CN" altLang="en-US" dirty="0"/>
              <a:t>再次升级</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r="35368" b="40476"/>
          <a:stretch>
            <a:fillRect/>
          </a:stretch>
        </p:blipFill>
        <p:spPr>
          <a:xfrm>
            <a:off x="3827930" y="413447"/>
            <a:ext cx="7879976" cy="3782036"/>
          </a:xfrm>
          <a:prstGeom prst="rect">
            <a:avLst/>
          </a:prstGeom>
        </p:spPr>
      </p:pic>
      <p:pic>
        <p:nvPicPr>
          <p:cNvPr id="4" name="图片 3"/>
          <p:cNvPicPr>
            <a:picLocks noChangeAspect="1"/>
          </p:cNvPicPr>
          <p:nvPr/>
        </p:nvPicPr>
        <p:blipFill rotWithShape="1">
          <a:blip r:embed="rId1"/>
          <a:srcRect t="63594" r="35368"/>
          <a:stretch>
            <a:fillRect/>
          </a:stretch>
        </p:blipFill>
        <p:spPr>
          <a:xfrm>
            <a:off x="3827930" y="4400311"/>
            <a:ext cx="7879976" cy="2313183"/>
          </a:xfrm>
          <a:prstGeom prst="rect">
            <a:avLst/>
          </a:prstGeom>
        </p:spPr>
      </p:pic>
      <p:sp>
        <p:nvSpPr>
          <p:cNvPr id="6" name="文本框 5"/>
          <p:cNvSpPr txBox="1"/>
          <p:nvPr/>
        </p:nvSpPr>
        <p:spPr>
          <a:xfrm>
            <a:off x="609597" y="574812"/>
            <a:ext cx="2572871" cy="46037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三、其他</a:t>
            </a:r>
            <a:endParaRPr lang="zh-CN" altLang="en-US" dirty="0"/>
          </a:p>
        </p:txBody>
      </p:sp>
      <p:cxnSp>
        <p:nvCxnSpPr>
          <p:cNvPr id="7" name="直接连接符 6"/>
          <p:cNvCxnSpPr/>
          <p:nvPr/>
        </p:nvCxnSpPr>
        <p:spPr>
          <a:xfrm>
            <a:off x="67232" y="3733795"/>
            <a:ext cx="36576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6101" y="1372652"/>
            <a:ext cx="3399865" cy="203132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indent="457200" algn="just"/>
            <a:r>
              <a:rPr lang="zh-CN" altLang="en-US" sz="1800" dirty="0"/>
              <a:t>关于打码的代码可以用于图片、视频或摄像头，可以将文件路径列表传进去（可以混合以上三种文件情况），代码运行时会根据文件路径顺序逐个打码（视频是对若干帧打码再合成一个视频，摄像头同理）。</a:t>
            </a:r>
            <a:endParaRPr lang="en-US" altLang="zh-CN" sz="1800" dirty="0"/>
          </a:p>
        </p:txBody>
      </p:sp>
      <p:sp>
        <p:nvSpPr>
          <p:cNvPr id="10" name="文本框 9"/>
          <p:cNvSpPr txBox="1"/>
          <p:nvPr/>
        </p:nvSpPr>
        <p:spPr>
          <a:xfrm>
            <a:off x="196101" y="3851671"/>
            <a:ext cx="3399865" cy="2861310"/>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indent="0" algn="just" fontAlgn="auto"/>
            <a:r>
              <a:rPr lang="zh-CN" altLang="en-US" sz="1800" dirty="0"/>
              <a:t>遇到的其他问题：</a:t>
            </a:r>
            <a:endParaRPr lang="zh-CN" altLang="en-US" sz="1800" dirty="0"/>
          </a:p>
          <a:p>
            <a:pPr indent="0" algn="just" fontAlgn="auto"/>
            <a:r>
              <a:rPr lang="en-US" altLang="zh-CN" sz="1800" dirty="0"/>
              <a:t>1. </a:t>
            </a:r>
            <a:r>
              <a:rPr lang="zh-CN" altLang="en-US" sz="1800" dirty="0"/>
              <a:t>在加上预测框和掩膜颜色前，打码效果还可以；但是加上后可能会因为原本的推理结果图像中掩膜的颜色，导致设置的打码颜色会出现混色情况（颜色不再是打码的颜色，虽然同样能起到打码的效果）。</a:t>
            </a:r>
            <a:endParaRPr lang="zh-CN" altLang="en-US" sz="1800" dirty="0"/>
          </a:p>
          <a:p>
            <a:pPr indent="0" algn="just" fontAlgn="auto"/>
            <a:r>
              <a:rPr lang="en-US" altLang="zh-CN" sz="1800" dirty="0"/>
              <a:t>2. </a:t>
            </a:r>
            <a:r>
              <a:rPr lang="zh-CN" altLang="en-US" sz="1800" dirty="0"/>
              <a:t>实际的实例范围可能会与掩膜有一定偏差。</a:t>
            </a:r>
            <a:endParaRPr lang="zh-CN" alt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050097" y="1716461"/>
            <a:ext cx="10048875" cy="5038725"/>
          </a:xfrm>
          <a:prstGeom prst="rect">
            <a:avLst/>
          </a:prstGeom>
        </p:spPr>
      </p:pic>
      <p:sp>
        <p:nvSpPr>
          <p:cNvPr id="4" name="文本框 3"/>
          <p:cNvSpPr txBox="1"/>
          <p:nvPr/>
        </p:nvSpPr>
        <p:spPr>
          <a:xfrm>
            <a:off x="0" y="3813175"/>
            <a:ext cx="2148205" cy="46037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r>
              <a:rPr lang="zh-CN" altLang="en-US" dirty="0"/>
              <a:t>三、其他</a:t>
            </a:r>
            <a:endParaRPr lang="zh-CN" altLang="en-US" dirty="0"/>
          </a:p>
        </p:txBody>
      </p:sp>
      <p:sp>
        <p:nvSpPr>
          <p:cNvPr id="5" name="文本框 4"/>
          <p:cNvSpPr txBox="1"/>
          <p:nvPr/>
        </p:nvSpPr>
        <p:spPr>
          <a:xfrm>
            <a:off x="436880" y="-36830"/>
            <a:ext cx="11318240" cy="1753235"/>
          </a:xfrm>
          <a:prstGeom prst="rect">
            <a:avLst/>
          </a:prstGeom>
          <a:noFill/>
        </p:spPr>
        <p:txBody>
          <a:bodyPr wrap="square">
            <a:spAutoFit/>
          </a:bodyPr>
          <a:lstStyle>
            <a:defPPr>
              <a:defRPr lang="zh-CN"/>
            </a:defPPr>
            <a:lvl1pPr algn="ctr">
              <a:defRPr sz="2400" b="1">
                <a:latin typeface="Times New Roman" panose="02020603050405020304" charset="0"/>
                <a:ea typeface="微软雅黑" panose="020B0503020204020204" charset="-122"/>
                <a:cs typeface="Times New Roman" panose="02020603050405020304" charset="0"/>
              </a:defRPr>
            </a:lvl1pPr>
          </a:lstStyle>
          <a:p>
            <a:pPr indent="457200" algn="just"/>
            <a:r>
              <a:rPr lang="zh-CN" altLang="en-US" sz="1800" dirty="0"/>
              <a:t>估计可能因为自己安装的虚拟环境配置库式可能出了问题，导致改项目原本的代码不生效。只能给出猜测的解决方案（网上也许有可以使改动的项目代码生效的方法）：</a:t>
            </a:r>
            <a:endParaRPr lang="zh-CN" altLang="en-US" sz="1800" dirty="0"/>
          </a:p>
          <a:p>
            <a:pPr indent="0" algn="just" fontAlgn="auto"/>
            <a:r>
              <a:rPr lang="en-US" altLang="zh-CN" sz="1800" dirty="0"/>
              <a:t>1. </a:t>
            </a:r>
            <a:r>
              <a:rPr lang="zh-CN" altLang="en-US" sz="1800" dirty="0"/>
              <a:t>在</a:t>
            </a:r>
            <a:r>
              <a:rPr lang="en-US" altLang="zh-CN" sz="1800" dirty="0"/>
              <a:t>plotting.py</a:t>
            </a:r>
            <a:r>
              <a:rPr lang="zh-CN" altLang="en-US" sz="1800" dirty="0"/>
              <a:t>文件中，找到</a:t>
            </a:r>
            <a:r>
              <a:rPr lang="en-US" altLang="zh-CN" sz="1800" dirty="0" err="1"/>
              <a:t>plot_images</a:t>
            </a:r>
            <a:r>
              <a:rPr lang="zh-CN" altLang="en-US" sz="1800" dirty="0"/>
              <a:t>函数中关于掩膜绘图的部分（注释：</a:t>
            </a:r>
            <a:r>
              <a:rPr lang="en-US" altLang="zh-CN" sz="1800" dirty="0"/>
              <a:t>#Plot masks</a:t>
            </a:r>
            <a:r>
              <a:rPr lang="zh-CN" altLang="en-US" sz="1800" dirty="0"/>
              <a:t>），把</a:t>
            </a:r>
            <a:r>
              <a:rPr lang="en-US" altLang="zh-CN" sz="1800" dirty="0"/>
              <a:t>907</a:t>
            </a:r>
            <a:r>
              <a:rPr lang="zh-CN" altLang="en-US" sz="1800" dirty="0"/>
              <a:t>行的</a:t>
            </a:r>
            <a:r>
              <a:rPr lang="en-US" altLang="zh-CN" sz="1800" dirty="0"/>
              <a:t>with</a:t>
            </a:r>
            <a:r>
              <a:rPr lang="zh-CN" altLang="en-US" sz="1800" dirty="0"/>
              <a:t>语句下方关于原图片和掩膜颜色按一定透明度比例融合的打码中关于透明度的值改成下图所示（注释掉的部分），或者删掉改成</a:t>
            </a:r>
            <a:r>
              <a:rPr lang="en-US" altLang="zh-CN" sz="1800" dirty="0"/>
              <a:t>pass</a:t>
            </a:r>
            <a:r>
              <a:rPr lang="zh-CN" altLang="en-US" sz="1800" dirty="0"/>
              <a:t>。</a:t>
            </a:r>
            <a:endParaRPr lang="zh-CN" altLang="en-US" sz="1800" dirty="0"/>
          </a:p>
          <a:p>
            <a:pPr indent="0" algn="just" fontAlgn="auto"/>
            <a:r>
              <a:rPr lang="en-US" altLang="zh-CN" sz="1800" dirty="0"/>
              <a:t>2. </a:t>
            </a:r>
            <a:r>
              <a:rPr lang="zh-CN" altLang="en-US" sz="1800" dirty="0"/>
              <a:t>关于掩膜范围偏移的解决方案参考：</a:t>
            </a:r>
            <a:r>
              <a:rPr lang="zh-CN" altLang="en-US" sz="1800" dirty="0">
                <a:hlinkClick r:id="rId2" action="ppaction://hlinkfile"/>
              </a:rPr>
              <a:t>https://blog.csdn.net/weixin_46566149/article/details/136367700</a:t>
            </a:r>
            <a:endParaRPr lang="zh-CN" alt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18784" y="-438150"/>
            <a:ext cx="2054282" cy="7742402"/>
            <a:chOff x="-318759" y="-438055"/>
            <a:chExt cx="2054231" cy="7742211"/>
          </a:xfrm>
        </p:grpSpPr>
        <p:grpSp>
          <p:nvGrpSpPr>
            <p:cNvPr id="3" name="组合 2"/>
            <p:cNvGrpSpPr/>
            <p:nvPr/>
          </p:nvGrpSpPr>
          <p:grpSpPr>
            <a:xfrm>
              <a:off x="-318758" y="-438055"/>
              <a:ext cx="2054230" cy="1341411"/>
              <a:chOff x="-318758" y="-438055"/>
              <a:chExt cx="2054230" cy="1341411"/>
            </a:xfrm>
          </p:grpSpPr>
          <p:sp>
            <p:nvSpPr>
              <p:cNvPr id="7" name="任意多边形 6"/>
              <p:cNvSpPr/>
              <p:nvPr/>
            </p:nvSpPr>
            <p:spPr>
              <a:xfrm rot="2700000">
                <a:off x="103782" y="-728333"/>
                <a:ext cx="1209149" cy="2054230"/>
              </a:xfrm>
              <a:custGeom>
                <a:avLst/>
                <a:gdLst>
                  <a:gd name="connsiteX0" fmla="*/ 579225 w 1209149"/>
                  <a:gd name="connsiteY0" fmla="*/ 629924 h 2054230"/>
                  <a:gd name="connsiteX1" fmla="*/ 1209149 w 1209149"/>
                  <a:gd name="connsiteY1" fmla="*/ 0 h 2054230"/>
                  <a:gd name="connsiteX2" fmla="*/ 1209149 w 1209149"/>
                  <a:gd name="connsiteY2" fmla="*/ 2054230 h 2054230"/>
                  <a:gd name="connsiteX3" fmla="*/ 629924 w 1209149"/>
                  <a:gd name="connsiteY3" fmla="*/ 2054230 h 2054230"/>
                  <a:gd name="connsiteX4" fmla="*/ 0 w 1209149"/>
                  <a:gd name="connsiteY4" fmla="*/ 1424306 h 2054230"/>
                  <a:gd name="connsiteX5" fmla="*/ 579225 w 1209149"/>
                  <a:gd name="connsiteY5" fmla="*/ 1424306 h 2054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149" h="2054230">
                    <a:moveTo>
                      <a:pt x="579225" y="629924"/>
                    </a:moveTo>
                    <a:lnTo>
                      <a:pt x="1209149" y="0"/>
                    </a:lnTo>
                    <a:lnTo>
                      <a:pt x="1209149" y="2054230"/>
                    </a:lnTo>
                    <a:lnTo>
                      <a:pt x="629924" y="2054230"/>
                    </a:lnTo>
                    <a:lnTo>
                      <a:pt x="0" y="1424306"/>
                    </a:lnTo>
                    <a:lnTo>
                      <a:pt x="579225" y="1424306"/>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任意多边形 7"/>
              <p:cNvSpPr/>
              <p:nvPr/>
            </p:nvSpPr>
            <p:spPr>
              <a:xfrm rot="2700000">
                <a:off x="28669" y="-657766"/>
                <a:ext cx="1072529" cy="1511952"/>
              </a:xfrm>
              <a:custGeom>
                <a:avLst/>
                <a:gdLst>
                  <a:gd name="connsiteX0" fmla="*/ 0 w 1072529"/>
                  <a:gd name="connsiteY0" fmla="*/ 1072529 h 1511952"/>
                  <a:gd name="connsiteX1" fmla="*/ 1072529 w 1072529"/>
                  <a:gd name="connsiteY1" fmla="*/ 0 h 1511952"/>
                  <a:gd name="connsiteX2" fmla="*/ 1072529 w 1072529"/>
                  <a:gd name="connsiteY2" fmla="*/ 1511952 h 1511952"/>
                  <a:gd name="connsiteX3" fmla="*/ 439424 w 1072529"/>
                  <a:gd name="connsiteY3" fmla="*/ 1511952 h 1511952"/>
                </a:gdLst>
                <a:ahLst/>
                <a:cxnLst>
                  <a:cxn ang="0">
                    <a:pos x="connsiteX0" y="connsiteY0"/>
                  </a:cxn>
                  <a:cxn ang="0">
                    <a:pos x="connsiteX1" y="connsiteY1"/>
                  </a:cxn>
                  <a:cxn ang="0">
                    <a:pos x="connsiteX2" y="connsiteY2"/>
                  </a:cxn>
                  <a:cxn ang="0">
                    <a:pos x="connsiteX3" y="connsiteY3"/>
                  </a:cxn>
                </a:cxnLst>
                <a:rect l="l" t="t" r="r" b="b"/>
                <a:pathLst>
                  <a:path w="1072529" h="1511952">
                    <a:moveTo>
                      <a:pt x="0" y="1072529"/>
                    </a:moveTo>
                    <a:lnTo>
                      <a:pt x="1072529" y="0"/>
                    </a:lnTo>
                    <a:lnTo>
                      <a:pt x="1072529" y="1511952"/>
                    </a:lnTo>
                    <a:lnTo>
                      <a:pt x="439424" y="1511952"/>
                    </a:lnTo>
                    <a:close/>
                  </a:path>
                </a:pathLst>
              </a:custGeom>
              <a:noFill/>
              <a:ln w="57150">
                <a:gradFill flip="none" rotWithShape="1">
                  <a:gsLst>
                    <a:gs pos="0">
                      <a:srgbClr val="D7B26C"/>
                    </a:gs>
                    <a:gs pos="67000">
                      <a:srgbClr val="D7B26C">
                        <a:alpha val="40000"/>
                      </a:srgbClr>
                    </a:gs>
                    <a:gs pos="100000">
                      <a:srgbClr val="D7B26C">
                        <a:alpha val="6500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flipV="1">
              <a:off x="-318759" y="5962745"/>
              <a:ext cx="2054230" cy="1341411"/>
              <a:chOff x="-318758" y="-438055"/>
              <a:chExt cx="2054230" cy="1341411"/>
            </a:xfrm>
          </p:grpSpPr>
          <p:sp>
            <p:nvSpPr>
              <p:cNvPr id="5" name="任意多边形 4"/>
              <p:cNvSpPr/>
              <p:nvPr/>
            </p:nvSpPr>
            <p:spPr>
              <a:xfrm rot="2700000">
                <a:off x="103782" y="-728333"/>
                <a:ext cx="1209149" cy="2054230"/>
              </a:xfrm>
              <a:custGeom>
                <a:avLst/>
                <a:gdLst>
                  <a:gd name="connsiteX0" fmla="*/ 579225 w 1209149"/>
                  <a:gd name="connsiteY0" fmla="*/ 629924 h 2054230"/>
                  <a:gd name="connsiteX1" fmla="*/ 1209149 w 1209149"/>
                  <a:gd name="connsiteY1" fmla="*/ 0 h 2054230"/>
                  <a:gd name="connsiteX2" fmla="*/ 1209149 w 1209149"/>
                  <a:gd name="connsiteY2" fmla="*/ 2054230 h 2054230"/>
                  <a:gd name="connsiteX3" fmla="*/ 629924 w 1209149"/>
                  <a:gd name="connsiteY3" fmla="*/ 2054230 h 2054230"/>
                  <a:gd name="connsiteX4" fmla="*/ 0 w 1209149"/>
                  <a:gd name="connsiteY4" fmla="*/ 1424306 h 2054230"/>
                  <a:gd name="connsiteX5" fmla="*/ 579225 w 1209149"/>
                  <a:gd name="connsiteY5" fmla="*/ 1424306 h 2054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149" h="2054230">
                    <a:moveTo>
                      <a:pt x="579225" y="629924"/>
                    </a:moveTo>
                    <a:lnTo>
                      <a:pt x="1209149" y="0"/>
                    </a:lnTo>
                    <a:lnTo>
                      <a:pt x="1209149" y="2054230"/>
                    </a:lnTo>
                    <a:lnTo>
                      <a:pt x="629924" y="2054230"/>
                    </a:lnTo>
                    <a:lnTo>
                      <a:pt x="0" y="1424306"/>
                    </a:lnTo>
                    <a:lnTo>
                      <a:pt x="579225" y="1424306"/>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任意多边形 5"/>
              <p:cNvSpPr/>
              <p:nvPr/>
            </p:nvSpPr>
            <p:spPr>
              <a:xfrm rot="2700000">
                <a:off x="28669" y="-657766"/>
                <a:ext cx="1072529" cy="1511952"/>
              </a:xfrm>
              <a:custGeom>
                <a:avLst/>
                <a:gdLst>
                  <a:gd name="connsiteX0" fmla="*/ 0 w 1072529"/>
                  <a:gd name="connsiteY0" fmla="*/ 1072529 h 1511952"/>
                  <a:gd name="connsiteX1" fmla="*/ 1072529 w 1072529"/>
                  <a:gd name="connsiteY1" fmla="*/ 0 h 1511952"/>
                  <a:gd name="connsiteX2" fmla="*/ 1072529 w 1072529"/>
                  <a:gd name="connsiteY2" fmla="*/ 1511952 h 1511952"/>
                  <a:gd name="connsiteX3" fmla="*/ 439424 w 1072529"/>
                  <a:gd name="connsiteY3" fmla="*/ 1511952 h 1511952"/>
                </a:gdLst>
                <a:ahLst/>
                <a:cxnLst>
                  <a:cxn ang="0">
                    <a:pos x="connsiteX0" y="connsiteY0"/>
                  </a:cxn>
                  <a:cxn ang="0">
                    <a:pos x="connsiteX1" y="connsiteY1"/>
                  </a:cxn>
                  <a:cxn ang="0">
                    <a:pos x="connsiteX2" y="connsiteY2"/>
                  </a:cxn>
                  <a:cxn ang="0">
                    <a:pos x="connsiteX3" y="connsiteY3"/>
                  </a:cxn>
                </a:cxnLst>
                <a:rect l="l" t="t" r="r" b="b"/>
                <a:pathLst>
                  <a:path w="1072529" h="1511952">
                    <a:moveTo>
                      <a:pt x="0" y="1072529"/>
                    </a:moveTo>
                    <a:lnTo>
                      <a:pt x="1072529" y="0"/>
                    </a:lnTo>
                    <a:lnTo>
                      <a:pt x="1072529" y="1511952"/>
                    </a:lnTo>
                    <a:lnTo>
                      <a:pt x="439424" y="1511952"/>
                    </a:lnTo>
                    <a:close/>
                  </a:path>
                </a:pathLst>
              </a:custGeom>
              <a:noFill/>
              <a:ln w="57150">
                <a:gradFill flip="none" rotWithShape="1">
                  <a:gsLst>
                    <a:gs pos="0">
                      <a:srgbClr val="D7B26C"/>
                    </a:gs>
                    <a:gs pos="67000">
                      <a:srgbClr val="D7B26C">
                        <a:alpha val="40000"/>
                      </a:srgbClr>
                    </a:gs>
                    <a:gs pos="100000">
                      <a:srgbClr val="D7B26C">
                        <a:alpha val="65000"/>
                      </a:srgb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9" name="组合 8"/>
          <p:cNvGrpSpPr/>
          <p:nvPr/>
        </p:nvGrpSpPr>
        <p:grpSpPr>
          <a:xfrm>
            <a:off x="9629471" y="-57386"/>
            <a:ext cx="4744029" cy="6972537"/>
            <a:chOff x="9629471" y="-57386"/>
            <a:chExt cx="4744029" cy="6972537"/>
          </a:xfrm>
        </p:grpSpPr>
        <p:sp>
          <p:nvSpPr>
            <p:cNvPr id="10" name="任意多边形 9"/>
            <p:cNvSpPr/>
            <p:nvPr/>
          </p:nvSpPr>
          <p:spPr>
            <a:xfrm rot="2700000">
              <a:off x="10004350" y="1244426"/>
              <a:ext cx="4369150" cy="4369150"/>
            </a:xfrm>
            <a:custGeom>
              <a:avLst/>
              <a:gdLst>
                <a:gd name="connsiteX0" fmla="*/ 0 w 4369150"/>
                <a:gd name="connsiteY0" fmla="*/ 0 h 4369150"/>
                <a:gd name="connsiteX1" fmla="*/ 875900 w 4369150"/>
                <a:gd name="connsiteY1" fmla="*/ 875899 h 4369150"/>
                <a:gd name="connsiteX2" fmla="*/ 875899 w 4369150"/>
                <a:gd name="connsiteY2" fmla="*/ 3493251 h 4369150"/>
                <a:gd name="connsiteX3" fmla="*/ 3493251 w 4369150"/>
                <a:gd name="connsiteY3" fmla="*/ 3493251 h 4369150"/>
                <a:gd name="connsiteX4" fmla="*/ 4369150 w 4369150"/>
                <a:gd name="connsiteY4" fmla="*/ 4369150 h 4369150"/>
                <a:gd name="connsiteX5" fmla="*/ 0 w 4369150"/>
                <a:gd name="connsiteY5" fmla="*/ 4369150 h 436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69150" h="4369150">
                  <a:moveTo>
                    <a:pt x="0" y="0"/>
                  </a:moveTo>
                  <a:lnTo>
                    <a:pt x="875900" y="875899"/>
                  </a:lnTo>
                  <a:lnTo>
                    <a:pt x="875899" y="3493251"/>
                  </a:lnTo>
                  <a:lnTo>
                    <a:pt x="3493251" y="3493251"/>
                  </a:lnTo>
                  <a:lnTo>
                    <a:pt x="4369150" y="4369150"/>
                  </a:lnTo>
                  <a:lnTo>
                    <a:pt x="0" y="4369150"/>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1" name="组合 10"/>
            <p:cNvGrpSpPr/>
            <p:nvPr/>
          </p:nvGrpSpPr>
          <p:grpSpPr>
            <a:xfrm>
              <a:off x="9629471" y="-57386"/>
              <a:ext cx="2620422" cy="6972537"/>
              <a:chOff x="9629471" y="-57386"/>
              <a:chExt cx="2620422" cy="6972537"/>
            </a:xfrm>
          </p:grpSpPr>
          <p:sp>
            <p:nvSpPr>
              <p:cNvPr id="12" name="任意多边形 11"/>
              <p:cNvSpPr/>
              <p:nvPr/>
            </p:nvSpPr>
            <p:spPr>
              <a:xfrm>
                <a:off x="10177462" y="5889069"/>
                <a:ext cx="2014538" cy="1007269"/>
              </a:xfrm>
              <a:custGeom>
                <a:avLst/>
                <a:gdLst>
                  <a:gd name="connsiteX0" fmla="*/ 1007269 w 2014538"/>
                  <a:gd name="connsiteY0" fmla="*/ 0 h 1007269"/>
                  <a:gd name="connsiteX1" fmla="*/ 2014538 w 2014538"/>
                  <a:gd name="connsiteY1" fmla="*/ 1007269 h 1007269"/>
                  <a:gd name="connsiteX2" fmla="*/ 0 w 2014538"/>
                  <a:gd name="connsiteY2" fmla="*/ 1007269 h 1007269"/>
                </a:gdLst>
                <a:ahLst/>
                <a:cxnLst>
                  <a:cxn ang="0">
                    <a:pos x="connsiteX0" y="connsiteY0"/>
                  </a:cxn>
                  <a:cxn ang="0">
                    <a:pos x="connsiteX1" y="connsiteY1"/>
                  </a:cxn>
                  <a:cxn ang="0">
                    <a:pos x="connsiteX2" y="connsiteY2"/>
                  </a:cxn>
                </a:cxnLst>
                <a:rect l="l" t="t" r="r" b="b"/>
                <a:pathLst>
                  <a:path w="2014538" h="1007269">
                    <a:moveTo>
                      <a:pt x="1007269" y="0"/>
                    </a:moveTo>
                    <a:lnTo>
                      <a:pt x="2014538" y="1007269"/>
                    </a:lnTo>
                    <a:lnTo>
                      <a:pt x="0" y="1007269"/>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9901083" y="2840615"/>
                <a:ext cx="2329761" cy="4074536"/>
              </a:xfrm>
              <a:custGeom>
                <a:avLst/>
                <a:gdLst>
                  <a:gd name="connsiteX0" fmla="*/ 2329761 w 2329761"/>
                  <a:gd name="connsiteY0" fmla="*/ 0 h 4074536"/>
                  <a:gd name="connsiteX1" fmla="*/ 2329761 w 2329761"/>
                  <a:gd name="connsiteY1" fmla="*/ 4074536 h 4074536"/>
                  <a:gd name="connsiteX2" fmla="*/ 1744775 w 2329761"/>
                  <a:gd name="connsiteY2" fmla="*/ 4074536 h 4074536"/>
                  <a:gd name="connsiteX3" fmla="*/ 0 w 2329761"/>
                  <a:gd name="connsiteY3" fmla="*/ 2329761 h 4074536"/>
                </a:gdLst>
                <a:ahLst/>
                <a:cxnLst>
                  <a:cxn ang="0">
                    <a:pos x="connsiteX0" y="connsiteY0"/>
                  </a:cxn>
                  <a:cxn ang="0">
                    <a:pos x="connsiteX1" y="connsiteY1"/>
                  </a:cxn>
                  <a:cxn ang="0">
                    <a:pos x="connsiteX2" y="connsiteY2"/>
                  </a:cxn>
                  <a:cxn ang="0">
                    <a:pos x="connsiteX3" y="connsiteY3"/>
                  </a:cxn>
                </a:cxnLst>
                <a:rect l="l" t="t" r="r" b="b"/>
                <a:pathLst>
                  <a:path w="2329761" h="4074536">
                    <a:moveTo>
                      <a:pt x="2329761" y="0"/>
                    </a:moveTo>
                    <a:lnTo>
                      <a:pt x="2329761" y="4074536"/>
                    </a:lnTo>
                    <a:lnTo>
                      <a:pt x="1744775" y="4074536"/>
                    </a:lnTo>
                    <a:lnTo>
                      <a:pt x="0" y="2329761"/>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10162403" y="3101936"/>
                <a:ext cx="2068440" cy="3811626"/>
              </a:xfrm>
              <a:custGeom>
                <a:avLst/>
                <a:gdLst>
                  <a:gd name="connsiteX0" fmla="*/ 2068440 w 2068440"/>
                  <a:gd name="connsiteY0" fmla="*/ 0 h 3811626"/>
                  <a:gd name="connsiteX1" fmla="*/ 2068440 w 2068440"/>
                  <a:gd name="connsiteY1" fmla="*/ 3811626 h 3811626"/>
                  <a:gd name="connsiteX2" fmla="*/ 1743186 w 2068440"/>
                  <a:gd name="connsiteY2" fmla="*/ 3811626 h 3811626"/>
                  <a:gd name="connsiteX3" fmla="*/ 0 w 2068440"/>
                  <a:gd name="connsiteY3" fmla="*/ 2068440 h 3811626"/>
                </a:gdLst>
                <a:ahLst/>
                <a:cxnLst>
                  <a:cxn ang="0">
                    <a:pos x="connsiteX0" y="connsiteY0"/>
                  </a:cxn>
                  <a:cxn ang="0">
                    <a:pos x="connsiteX1" y="connsiteY1"/>
                  </a:cxn>
                  <a:cxn ang="0">
                    <a:pos x="connsiteX2" y="connsiteY2"/>
                  </a:cxn>
                  <a:cxn ang="0">
                    <a:pos x="connsiteX3" y="connsiteY3"/>
                  </a:cxn>
                </a:cxnLst>
                <a:rect l="l" t="t" r="r" b="b"/>
                <a:pathLst>
                  <a:path w="2068440" h="3811626">
                    <a:moveTo>
                      <a:pt x="2068440" y="0"/>
                    </a:moveTo>
                    <a:lnTo>
                      <a:pt x="2068440" y="3811626"/>
                    </a:lnTo>
                    <a:lnTo>
                      <a:pt x="1743186" y="3811626"/>
                    </a:lnTo>
                    <a:lnTo>
                      <a:pt x="0" y="2068440"/>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9901084" y="-57386"/>
                <a:ext cx="2348809" cy="4093820"/>
              </a:xfrm>
              <a:custGeom>
                <a:avLst/>
                <a:gdLst>
                  <a:gd name="connsiteX0" fmla="*/ 1745011 w 2348809"/>
                  <a:gd name="connsiteY0" fmla="*/ 0 h 4093820"/>
                  <a:gd name="connsiteX1" fmla="*/ 2348809 w 2348809"/>
                  <a:gd name="connsiteY1" fmla="*/ 0 h 4093820"/>
                  <a:gd name="connsiteX2" fmla="*/ 2348809 w 2348809"/>
                  <a:gd name="connsiteY2" fmla="*/ 4093820 h 4093820"/>
                  <a:gd name="connsiteX3" fmla="*/ 0 w 2348809"/>
                  <a:gd name="connsiteY3" fmla="*/ 1745011 h 4093820"/>
                </a:gdLst>
                <a:ahLst/>
                <a:cxnLst>
                  <a:cxn ang="0">
                    <a:pos x="connsiteX0" y="connsiteY0"/>
                  </a:cxn>
                  <a:cxn ang="0">
                    <a:pos x="connsiteX1" y="connsiteY1"/>
                  </a:cxn>
                  <a:cxn ang="0">
                    <a:pos x="connsiteX2" y="connsiteY2"/>
                  </a:cxn>
                  <a:cxn ang="0">
                    <a:pos x="connsiteX3" y="connsiteY3"/>
                  </a:cxn>
                </a:cxnLst>
                <a:rect l="l" t="t" r="r" b="b"/>
                <a:pathLst>
                  <a:path w="2348809" h="4093820">
                    <a:moveTo>
                      <a:pt x="1745011" y="0"/>
                    </a:moveTo>
                    <a:lnTo>
                      <a:pt x="2348809" y="0"/>
                    </a:lnTo>
                    <a:lnTo>
                      <a:pt x="2348809" y="4093820"/>
                    </a:lnTo>
                    <a:lnTo>
                      <a:pt x="0" y="1745011"/>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10162404" y="-57149"/>
                <a:ext cx="2057866" cy="3802641"/>
              </a:xfrm>
              <a:custGeom>
                <a:avLst/>
                <a:gdLst>
                  <a:gd name="connsiteX0" fmla="*/ 1744775 w 2057866"/>
                  <a:gd name="connsiteY0" fmla="*/ 0 h 3802641"/>
                  <a:gd name="connsiteX1" fmla="*/ 2057866 w 2057866"/>
                  <a:gd name="connsiteY1" fmla="*/ 0 h 3802641"/>
                  <a:gd name="connsiteX2" fmla="*/ 2057866 w 2057866"/>
                  <a:gd name="connsiteY2" fmla="*/ 3802641 h 3802641"/>
                  <a:gd name="connsiteX3" fmla="*/ 0 w 2057866"/>
                  <a:gd name="connsiteY3" fmla="*/ 1744775 h 3802641"/>
                </a:gdLst>
                <a:ahLst/>
                <a:cxnLst>
                  <a:cxn ang="0">
                    <a:pos x="connsiteX0" y="connsiteY0"/>
                  </a:cxn>
                  <a:cxn ang="0">
                    <a:pos x="connsiteX1" y="connsiteY1"/>
                  </a:cxn>
                  <a:cxn ang="0">
                    <a:pos x="connsiteX2" y="connsiteY2"/>
                  </a:cxn>
                  <a:cxn ang="0">
                    <a:pos x="connsiteX3" y="connsiteY3"/>
                  </a:cxn>
                </a:cxnLst>
                <a:rect l="l" t="t" r="r" b="b"/>
                <a:pathLst>
                  <a:path w="2057866" h="3802641">
                    <a:moveTo>
                      <a:pt x="1744775" y="0"/>
                    </a:moveTo>
                    <a:lnTo>
                      <a:pt x="2057866" y="0"/>
                    </a:lnTo>
                    <a:lnTo>
                      <a:pt x="2057866" y="3802641"/>
                    </a:lnTo>
                    <a:lnTo>
                      <a:pt x="0" y="1744775"/>
                    </a:lnTo>
                    <a:close/>
                  </a:path>
                </a:pathLst>
              </a:custGeom>
              <a:noFill/>
              <a:ln w="57150">
                <a:gradFill flip="none" rotWithShape="1">
                  <a:gsLst>
                    <a:gs pos="0">
                      <a:srgbClr val="D7B26C"/>
                    </a:gs>
                    <a:gs pos="31000">
                      <a:srgbClr val="D7B26C">
                        <a:alpha val="27000"/>
                      </a:srgbClr>
                    </a:gs>
                    <a:gs pos="65000">
                      <a:srgbClr val="D7B26C"/>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a:off x="9629471" y="857250"/>
                <a:ext cx="2601373" cy="5143500"/>
              </a:xfrm>
              <a:custGeom>
                <a:avLst/>
                <a:gdLst>
                  <a:gd name="connsiteX0" fmla="*/ 2571750 w 2601373"/>
                  <a:gd name="connsiteY0" fmla="*/ 0 h 5143500"/>
                  <a:gd name="connsiteX1" fmla="*/ 2601373 w 2601373"/>
                  <a:gd name="connsiteY1" fmla="*/ 29623 h 5143500"/>
                  <a:gd name="connsiteX2" fmla="*/ 2601373 w 2601373"/>
                  <a:gd name="connsiteY2" fmla="*/ 5113877 h 5143500"/>
                  <a:gd name="connsiteX3" fmla="*/ 2571750 w 2601373"/>
                  <a:gd name="connsiteY3" fmla="*/ 5143500 h 5143500"/>
                  <a:gd name="connsiteX4" fmla="*/ 0 w 2601373"/>
                  <a:gd name="connsiteY4" fmla="*/ 257175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373" h="5143500">
                    <a:moveTo>
                      <a:pt x="2571750" y="0"/>
                    </a:moveTo>
                    <a:lnTo>
                      <a:pt x="2601373" y="29623"/>
                    </a:lnTo>
                    <a:lnTo>
                      <a:pt x="2601373" y="5113877"/>
                    </a:lnTo>
                    <a:lnTo>
                      <a:pt x="2571750" y="5143500"/>
                    </a:lnTo>
                    <a:lnTo>
                      <a:pt x="0" y="2571750"/>
                    </a:lnTo>
                    <a:close/>
                  </a:path>
                </a:pathLst>
              </a:custGeom>
              <a:noFill/>
              <a:ln w="57150">
                <a:gradFill flip="none" rotWithShape="1">
                  <a:gsLst>
                    <a:gs pos="0">
                      <a:srgbClr val="D7B26C"/>
                    </a:gs>
                    <a:gs pos="57000">
                      <a:srgbClr val="D7B26C">
                        <a:alpha val="28000"/>
                      </a:srgbClr>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a:off x="10734370" y="1962150"/>
                <a:ext cx="1466850" cy="2933700"/>
              </a:xfrm>
              <a:custGeom>
                <a:avLst/>
                <a:gdLst>
                  <a:gd name="connsiteX0" fmla="*/ 1466850 w 1466850"/>
                  <a:gd name="connsiteY0" fmla="*/ 0 h 2933700"/>
                  <a:gd name="connsiteX1" fmla="*/ 1466850 w 1466850"/>
                  <a:gd name="connsiteY1" fmla="*/ 2933700 h 2933700"/>
                  <a:gd name="connsiteX2" fmla="*/ 0 w 1466850"/>
                  <a:gd name="connsiteY2" fmla="*/ 1466850 h 2933700"/>
                </a:gdLst>
                <a:ahLst/>
                <a:cxnLst>
                  <a:cxn ang="0">
                    <a:pos x="connsiteX0" y="connsiteY0"/>
                  </a:cxn>
                  <a:cxn ang="0">
                    <a:pos x="connsiteX1" y="connsiteY1"/>
                  </a:cxn>
                  <a:cxn ang="0">
                    <a:pos x="connsiteX2" y="connsiteY2"/>
                  </a:cxn>
                </a:cxnLst>
                <a:rect l="l" t="t" r="r" b="b"/>
                <a:pathLst>
                  <a:path w="1466850" h="2933700">
                    <a:moveTo>
                      <a:pt x="1466850" y="0"/>
                    </a:moveTo>
                    <a:lnTo>
                      <a:pt x="1466850" y="2933700"/>
                    </a:lnTo>
                    <a:lnTo>
                      <a:pt x="0" y="1466850"/>
                    </a:lnTo>
                    <a:close/>
                  </a:path>
                </a:pathLst>
              </a:custGeom>
              <a:solidFill>
                <a:srgbClr val="5B6A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a:off x="11237917" y="2465696"/>
                <a:ext cx="973877" cy="1926608"/>
              </a:xfrm>
              <a:custGeom>
                <a:avLst/>
                <a:gdLst>
                  <a:gd name="connsiteX0" fmla="*/ 963304 w 973877"/>
                  <a:gd name="connsiteY0" fmla="*/ 0 h 1926608"/>
                  <a:gd name="connsiteX1" fmla="*/ 973877 w 973877"/>
                  <a:gd name="connsiteY1" fmla="*/ 10573 h 1926608"/>
                  <a:gd name="connsiteX2" fmla="*/ 973877 w 973877"/>
                  <a:gd name="connsiteY2" fmla="*/ 1916035 h 1926608"/>
                  <a:gd name="connsiteX3" fmla="*/ 963304 w 973877"/>
                  <a:gd name="connsiteY3" fmla="*/ 1926608 h 1926608"/>
                  <a:gd name="connsiteX4" fmla="*/ 0 w 973877"/>
                  <a:gd name="connsiteY4" fmla="*/ 963304 h 192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877" h="1926608">
                    <a:moveTo>
                      <a:pt x="963304" y="0"/>
                    </a:moveTo>
                    <a:lnTo>
                      <a:pt x="973877" y="10573"/>
                    </a:lnTo>
                    <a:lnTo>
                      <a:pt x="973877" y="1916035"/>
                    </a:lnTo>
                    <a:lnTo>
                      <a:pt x="963304" y="1926608"/>
                    </a:lnTo>
                    <a:lnTo>
                      <a:pt x="0" y="963304"/>
                    </a:lnTo>
                    <a:close/>
                  </a:path>
                </a:pathLst>
              </a:custGeom>
              <a:noFill/>
              <a:ln w="57150">
                <a:gradFill flip="none" rotWithShape="1">
                  <a:gsLst>
                    <a:gs pos="0">
                      <a:srgbClr val="D7B26C"/>
                    </a:gs>
                    <a:gs pos="57000">
                      <a:srgbClr val="D7B26C">
                        <a:alpha val="28000"/>
                      </a:srgbClr>
                    </a:gs>
                    <a:gs pos="100000">
                      <a:srgbClr val="D7B26C">
                        <a:alpha val="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20" name="直接连接符 19"/>
          <p:cNvCxnSpPr>
            <a:stCxn id="7" idx="2"/>
            <a:endCxn id="5" idx="2"/>
          </p:cNvCxnSpPr>
          <p:nvPr/>
        </p:nvCxnSpPr>
        <p:spPr>
          <a:xfrm flipH="1">
            <a:off x="409568" y="1452513"/>
            <a:ext cx="1" cy="3961076"/>
          </a:xfrm>
          <a:prstGeom prst="line">
            <a:avLst/>
          </a:prstGeom>
          <a:ln w="38100">
            <a:gradFill flip="none" rotWithShape="1">
              <a:gsLst>
                <a:gs pos="0">
                  <a:srgbClr val="D7B26C"/>
                </a:gs>
                <a:gs pos="47000">
                  <a:srgbClr val="D7B26C">
                    <a:alpha val="64000"/>
                  </a:srgbClr>
                </a:gs>
                <a:gs pos="79000">
                  <a:srgbClr val="D7B26C">
                    <a:alpha val="36000"/>
                  </a:srgbClr>
                </a:gs>
                <a:gs pos="25000">
                  <a:srgbClr val="D7B26C">
                    <a:alpha val="40000"/>
                  </a:srgbClr>
                </a:gs>
                <a:gs pos="100000">
                  <a:srgbClr val="D7B26C"/>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632960" y="2829560"/>
            <a:ext cx="2926080" cy="1198880"/>
          </a:xfrm>
          <a:prstGeom prst="rect">
            <a:avLst/>
          </a:prstGeom>
          <a:noFill/>
          <a:ln>
            <a:noFill/>
          </a:ln>
        </p:spPr>
        <p:txBody>
          <a:bodyPr wrap="none" rtlCol="0" anchor="t">
            <a:spAutoFit/>
          </a:bodyPr>
          <a:lstStyle/>
          <a:p>
            <a:pPr algn="ctr"/>
            <a:r>
              <a:rPr lang="zh-CN" altLang="en-US" sz="7200" b="1">
                <a:ln w="9525">
                  <a:solidFill>
                    <a:schemeClr val="bg1"/>
                  </a:solidFill>
                  <a:prstDash val="solid"/>
                </a:ln>
                <a:solidFill>
                  <a:schemeClr val="tx1"/>
                </a:solidFill>
                <a:effectLst>
                  <a:outerShdw blurRad="12700" dist="38100" dir="2700000" algn="tl" rotWithShape="0">
                    <a:schemeClr val="bg1">
                      <a:lumMod val="50000"/>
                    </a:schemeClr>
                  </a:outerShdw>
                </a:effectLst>
              </a:rPr>
              <a:t>谢谢！</a:t>
            </a:r>
            <a:endParaRPr lang="zh-CN" altLang="en-US"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tags/tag1.xml><?xml version="1.0" encoding="utf-8"?>
<p:tagLst xmlns:p="http://schemas.openxmlformats.org/presentationml/2006/main">
  <p:tag name="TABLE_ENDDRAG_ORIGIN_RECT" val="390*116"/>
  <p:tag name="TABLE_ENDDRAG_RECT" val="14*329*390*116"/>
</p:tagLst>
</file>

<file path=ppt/tags/tag2.xml><?xml version="1.0" encoding="utf-8"?>
<p:tagLst xmlns:p="http://schemas.openxmlformats.org/presentationml/2006/main">
  <p:tag name="TABLE_ENDDRAG_ORIGIN_RECT" val="390*116"/>
  <p:tag name="TABLE_ENDDRAG_RECT" val="14*329*390*116"/>
</p:tagLst>
</file>

<file path=ppt/tags/tag3.xml><?xml version="1.0" encoding="utf-8"?>
<p:tagLst xmlns:p="http://schemas.openxmlformats.org/presentationml/2006/main">
  <p:tag name="COMMONDATA" val="eyJoZGlkIjoiMzRiNGE2YjVjMjBmNWEwZWU3YTRiYzc0MzA3MmZhYWUifQ=="/>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2934</Words>
  <Application>WPS 演示</Application>
  <PresentationFormat>宽屏</PresentationFormat>
  <Paragraphs>206</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微软雅黑</vt:lpstr>
      <vt:lpstr>Times New Roman</vt:lpstr>
      <vt:lpstr>Calibri</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时之天空</cp:lastModifiedBy>
  <cp:revision>577</cp:revision>
  <dcterms:created xsi:type="dcterms:W3CDTF">2023-09-17T02:11:00Z</dcterms:created>
  <dcterms:modified xsi:type="dcterms:W3CDTF">2026-04-19T23:51:51Z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E1E3469DAA1F455DA08A94B756F4455C_13</vt:lpwstr>
  </property>
  <property fmtid="{D5CDD505-2E9C-101B-9397-08002B2CF9AE}" pid="3" name="KSOProductBuildVer">
    <vt:lpwstr>2052-12.1.0.25865</vt:lpwstr>
  </property>
</Properties>
</file>