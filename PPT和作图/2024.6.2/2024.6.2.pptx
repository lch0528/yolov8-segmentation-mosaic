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6"/>
  </p:notesMasterIdLst>
  <p:sldIdLst>
    <p:sldId id="257" r:id="rId3"/>
    <p:sldId id="390" r:id="rId4"/>
    <p:sldId id="343" r:id="rId5"/>
    <p:sldId id="329" r:id="rId6"/>
    <p:sldId id="374" r:id="rId7"/>
    <p:sldId id="375" r:id="rId8"/>
    <p:sldId id="376" r:id="rId9"/>
    <p:sldId id="377" r:id="rId10"/>
    <p:sldId id="355" r:id="rId11"/>
    <p:sldId id="356" r:id="rId12"/>
    <p:sldId id="378" r:id="rId13"/>
    <p:sldId id="379" r:id="rId14"/>
    <p:sldId id="380" r:id="rId15"/>
    <p:sldId id="381" r:id="rId16"/>
    <p:sldId id="383" r:id="rId17"/>
    <p:sldId id="384" r:id="rId18"/>
    <p:sldId id="385" r:id="rId19"/>
    <p:sldId id="386" r:id="rId20"/>
    <p:sldId id="330" r:id="rId21"/>
    <p:sldId id="368" r:id="rId22"/>
    <p:sldId id="370" r:id="rId23"/>
    <p:sldId id="389" r:id="rId24"/>
    <p:sldId id="273" r:id="rId25"/>
  </p:sldIdLst>
  <p:sldSz cx="12192000" cy="6858000"/>
  <p:notesSz cx="6858000" cy="9144000"/>
  <p:custDataLst>
    <p:tags r:id="rId31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8BA6627C-7C07-4C92-89A3-C6743F8FF652}">
          <p14:sldIdLst>
            <p14:sldId id="257"/>
            <p14:sldId id="390"/>
            <p14:sldId id="343"/>
            <p14:sldId id="329"/>
            <p14:sldId id="374"/>
            <p14:sldId id="375"/>
            <p14:sldId id="376"/>
            <p14:sldId id="377"/>
            <p14:sldId id="355"/>
            <p14:sldId id="356"/>
            <p14:sldId id="378"/>
            <p14:sldId id="379"/>
            <p14:sldId id="380"/>
            <p14:sldId id="381"/>
            <p14:sldId id="383"/>
            <p14:sldId id="384"/>
            <p14:sldId id="385"/>
            <p14:sldId id="386"/>
            <p14:sldId id="330"/>
            <p14:sldId id="368"/>
            <p14:sldId id="370"/>
            <p14:sldId id="389"/>
            <p14:sldId id="273"/>
          </p14:sldIdLst>
        </p14:section>
      </p14:section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3524345723@qq.com" initials="" lastIdx="2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FF0F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405" autoAdjust="0"/>
    <p:restoredTop sz="95090" autoAdjust="0"/>
  </p:normalViewPr>
  <p:slideViewPr>
    <p:cSldViewPr snapToGrid="0">
      <p:cViewPr varScale="1">
        <p:scale>
          <a:sx n="86" d="100"/>
          <a:sy n="86" d="100"/>
        </p:scale>
        <p:origin x="49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1" Type="http://schemas.openxmlformats.org/officeDocument/2006/relationships/tags" Target="tags/tag13.xml"/><Relationship Id="rId30" Type="http://schemas.openxmlformats.org/officeDocument/2006/relationships/commentAuthors" Target="commentAuthors.xml"/><Relationship Id="rId3" Type="http://schemas.openxmlformats.org/officeDocument/2006/relationships/slide" Target="slides/slide1.xml"/><Relationship Id="rId29" Type="http://schemas.openxmlformats.org/officeDocument/2006/relationships/tableStyles" Target="tableStyles.xml"/><Relationship Id="rId28" Type="http://schemas.openxmlformats.org/officeDocument/2006/relationships/viewProps" Target="viewProps.xml"/><Relationship Id="rId27" Type="http://schemas.openxmlformats.org/officeDocument/2006/relationships/presProps" Target="presProps.xml"/><Relationship Id="rId26" Type="http://schemas.openxmlformats.org/officeDocument/2006/relationships/notesMaster" Target="notesMasters/notesMaster1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hyperlink" Target="https://sysu-hcp.net/lip/overview.php" TargetMode="External"/><Relationship Id="rId4" Type="http://schemas.openxmlformats.org/officeDocument/2006/relationships/hyperlink" Target="https://blog.csdn.net/hyk_1996/article/details/91974621" TargetMode="External"/><Relationship Id="rId3" Type="http://schemas.openxmlformats.org/officeDocument/2006/relationships/hyperlink" Target="https://blog.csdn.net/weixin_41809530/article/details/120237242" TargetMode="External"/><Relationship Id="rId2" Type="http://schemas.openxmlformats.org/officeDocument/2006/relationships/hyperlink" Target="https://blog.csdn.net/qq_41994006/article/details/126191667" TargetMode="External"/><Relationship Id="rId1" Type="http://schemas.openxmlformats.org/officeDocument/2006/relationships/hyperlink" Target="https://blog.csdn.net/wxf19940618/article/details/83661891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3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4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5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6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9.jpeg"/><Relationship Id="rId1" Type="http://schemas.openxmlformats.org/officeDocument/2006/relationships/image" Target="../media/image18.jpeg"/></Relationships>
</file>

<file path=ppt/slides/_rels/slide21.xml.rels><?xml version="1.0" encoding="UTF-8" standalone="yes"?>
<Relationships xmlns="http://schemas.openxmlformats.org/package/2006/relationships"><Relationship Id="rId9" Type="http://schemas.openxmlformats.org/officeDocument/2006/relationships/tags" Target="../tags/tag7.xml"/><Relationship Id="rId8" Type="http://schemas.openxmlformats.org/officeDocument/2006/relationships/tags" Target="../tags/tag6.xml"/><Relationship Id="rId7" Type="http://schemas.openxmlformats.org/officeDocument/2006/relationships/tags" Target="../tags/tag5.xml"/><Relationship Id="rId6" Type="http://schemas.openxmlformats.org/officeDocument/2006/relationships/tags" Target="../tags/tag4.xml"/><Relationship Id="rId5" Type="http://schemas.openxmlformats.org/officeDocument/2006/relationships/tags" Target="../tags/tag3.xml"/><Relationship Id="rId4" Type="http://schemas.openxmlformats.org/officeDocument/2006/relationships/image" Target="../media/image21.png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5" Type="http://schemas.openxmlformats.org/officeDocument/2006/relationships/slideLayout" Target="../slideLayouts/slideLayout7.xml"/><Relationship Id="rId14" Type="http://schemas.openxmlformats.org/officeDocument/2006/relationships/tags" Target="../tags/tag12.xml"/><Relationship Id="rId13" Type="http://schemas.openxmlformats.org/officeDocument/2006/relationships/tags" Target="../tags/tag11.xml"/><Relationship Id="rId12" Type="http://schemas.openxmlformats.org/officeDocument/2006/relationships/tags" Target="../tags/tag10.xml"/><Relationship Id="rId11" Type="http://schemas.openxmlformats.org/officeDocument/2006/relationships/tags" Target="../tags/tag9.xml"/><Relationship Id="rId10" Type="http://schemas.openxmlformats.org/officeDocument/2006/relationships/tags" Target="../tags/tag8.xml"/><Relationship Id="rId1" Type="http://schemas.openxmlformats.org/officeDocument/2006/relationships/image" Target="../media/image20.jpe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0.jpe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组合 84"/>
          <p:cNvGrpSpPr/>
          <p:nvPr/>
        </p:nvGrpSpPr>
        <p:grpSpPr>
          <a:xfrm>
            <a:off x="-318784" y="-438150"/>
            <a:ext cx="2054282" cy="7742402"/>
            <a:chOff x="-318759" y="-438055"/>
            <a:chExt cx="2054231" cy="7742211"/>
          </a:xfrm>
        </p:grpSpPr>
        <p:grpSp>
          <p:nvGrpSpPr>
            <p:cNvPr id="18" name="组合 17"/>
            <p:cNvGrpSpPr/>
            <p:nvPr/>
          </p:nvGrpSpPr>
          <p:grpSpPr>
            <a:xfrm>
              <a:off x="-318758" y="-438055"/>
              <a:ext cx="2054230" cy="1341411"/>
              <a:chOff x="-318758" y="-438055"/>
              <a:chExt cx="2054230" cy="1341411"/>
            </a:xfrm>
          </p:grpSpPr>
          <p:sp>
            <p:nvSpPr>
              <p:cNvPr id="11" name="任意多边形 10"/>
              <p:cNvSpPr/>
              <p:nvPr/>
            </p:nvSpPr>
            <p:spPr>
              <a:xfrm rot="2700000">
                <a:off x="103782" y="-728333"/>
                <a:ext cx="1209149" cy="2054230"/>
              </a:xfrm>
              <a:custGeom>
                <a:avLst/>
                <a:gdLst>
                  <a:gd name="connsiteX0" fmla="*/ 579225 w 1209149"/>
                  <a:gd name="connsiteY0" fmla="*/ 629924 h 2054230"/>
                  <a:gd name="connsiteX1" fmla="*/ 1209149 w 1209149"/>
                  <a:gd name="connsiteY1" fmla="*/ 0 h 2054230"/>
                  <a:gd name="connsiteX2" fmla="*/ 1209149 w 1209149"/>
                  <a:gd name="connsiteY2" fmla="*/ 2054230 h 2054230"/>
                  <a:gd name="connsiteX3" fmla="*/ 629924 w 1209149"/>
                  <a:gd name="connsiteY3" fmla="*/ 2054230 h 2054230"/>
                  <a:gd name="connsiteX4" fmla="*/ 0 w 1209149"/>
                  <a:gd name="connsiteY4" fmla="*/ 1424306 h 2054230"/>
                  <a:gd name="connsiteX5" fmla="*/ 579225 w 1209149"/>
                  <a:gd name="connsiteY5" fmla="*/ 1424306 h 20542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209149" h="2054230">
                    <a:moveTo>
                      <a:pt x="579225" y="629924"/>
                    </a:moveTo>
                    <a:lnTo>
                      <a:pt x="1209149" y="0"/>
                    </a:lnTo>
                    <a:lnTo>
                      <a:pt x="1209149" y="2054230"/>
                    </a:lnTo>
                    <a:lnTo>
                      <a:pt x="629924" y="2054230"/>
                    </a:lnTo>
                    <a:lnTo>
                      <a:pt x="0" y="1424306"/>
                    </a:lnTo>
                    <a:lnTo>
                      <a:pt x="579225" y="1424306"/>
                    </a:lnTo>
                    <a:close/>
                  </a:path>
                </a:pathLst>
              </a:custGeom>
              <a:solidFill>
                <a:srgbClr val="5B6A7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3" name="任意多边形 12"/>
              <p:cNvSpPr/>
              <p:nvPr/>
            </p:nvSpPr>
            <p:spPr>
              <a:xfrm rot="2700000">
                <a:off x="28669" y="-657766"/>
                <a:ext cx="1072529" cy="1511952"/>
              </a:xfrm>
              <a:custGeom>
                <a:avLst/>
                <a:gdLst>
                  <a:gd name="connsiteX0" fmla="*/ 0 w 1072529"/>
                  <a:gd name="connsiteY0" fmla="*/ 1072529 h 1511952"/>
                  <a:gd name="connsiteX1" fmla="*/ 1072529 w 1072529"/>
                  <a:gd name="connsiteY1" fmla="*/ 0 h 1511952"/>
                  <a:gd name="connsiteX2" fmla="*/ 1072529 w 1072529"/>
                  <a:gd name="connsiteY2" fmla="*/ 1511952 h 1511952"/>
                  <a:gd name="connsiteX3" fmla="*/ 439424 w 1072529"/>
                  <a:gd name="connsiteY3" fmla="*/ 1511952 h 15119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72529" h="1511952">
                    <a:moveTo>
                      <a:pt x="0" y="1072529"/>
                    </a:moveTo>
                    <a:lnTo>
                      <a:pt x="1072529" y="0"/>
                    </a:lnTo>
                    <a:lnTo>
                      <a:pt x="1072529" y="1511952"/>
                    </a:lnTo>
                    <a:lnTo>
                      <a:pt x="439424" y="1511952"/>
                    </a:lnTo>
                    <a:close/>
                  </a:path>
                </a:pathLst>
              </a:custGeom>
              <a:noFill/>
              <a:ln w="57150">
                <a:gradFill flip="none" rotWithShape="1">
                  <a:gsLst>
                    <a:gs pos="0">
                      <a:srgbClr val="D7B26C"/>
                    </a:gs>
                    <a:gs pos="67000">
                      <a:srgbClr val="D7B26C">
                        <a:alpha val="40000"/>
                      </a:srgbClr>
                    </a:gs>
                    <a:gs pos="100000">
                      <a:srgbClr val="D7B26C">
                        <a:alpha val="65000"/>
                      </a:srgbClr>
                    </a:gs>
                  </a:gsLst>
                  <a:lin ang="16200000" scaled="1"/>
                  <a:tileRect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19" name="组合 18"/>
            <p:cNvGrpSpPr/>
            <p:nvPr/>
          </p:nvGrpSpPr>
          <p:grpSpPr>
            <a:xfrm flipV="1">
              <a:off x="-318759" y="5962745"/>
              <a:ext cx="2054230" cy="1341411"/>
              <a:chOff x="-318758" y="-438055"/>
              <a:chExt cx="2054230" cy="1341411"/>
            </a:xfrm>
          </p:grpSpPr>
          <p:sp>
            <p:nvSpPr>
              <p:cNvPr id="20" name="任意多边形 19"/>
              <p:cNvSpPr/>
              <p:nvPr/>
            </p:nvSpPr>
            <p:spPr>
              <a:xfrm rot="2700000">
                <a:off x="103782" y="-728333"/>
                <a:ext cx="1209149" cy="2054230"/>
              </a:xfrm>
              <a:custGeom>
                <a:avLst/>
                <a:gdLst>
                  <a:gd name="connsiteX0" fmla="*/ 579225 w 1209149"/>
                  <a:gd name="connsiteY0" fmla="*/ 629924 h 2054230"/>
                  <a:gd name="connsiteX1" fmla="*/ 1209149 w 1209149"/>
                  <a:gd name="connsiteY1" fmla="*/ 0 h 2054230"/>
                  <a:gd name="connsiteX2" fmla="*/ 1209149 w 1209149"/>
                  <a:gd name="connsiteY2" fmla="*/ 2054230 h 2054230"/>
                  <a:gd name="connsiteX3" fmla="*/ 629924 w 1209149"/>
                  <a:gd name="connsiteY3" fmla="*/ 2054230 h 2054230"/>
                  <a:gd name="connsiteX4" fmla="*/ 0 w 1209149"/>
                  <a:gd name="connsiteY4" fmla="*/ 1424306 h 2054230"/>
                  <a:gd name="connsiteX5" fmla="*/ 579225 w 1209149"/>
                  <a:gd name="connsiteY5" fmla="*/ 1424306 h 20542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209149" h="2054230">
                    <a:moveTo>
                      <a:pt x="579225" y="629924"/>
                    </a:moveTo>
                    <a:lnTo>
                      <a:pt x="1209149" y="0"/>
                    </a:lnTo>
                    <a:lnTo>
                      <a:pt x="1209149" y="2054230"/>
                    </a:lnTo>
                    <a:lnTo>
                      <a:pt x="629924" y="2054230"/>
                    </a:lnTo>
                    <a:lnTo>
                      <a:pt x="0" y="1424306"/>
                    </a:lnTo>
                    <a:lnTo>
                      <a:pt x="579225" y="1424306"/>
                    </a:lnTo>
                    <a:close/>
                  </a:path>
                </a:pathLst>
              </a:custGeom>
              <a:solidFill>
                <a:srgbClr val="5B6A7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1" name="任意多边形 20"/>
              <p:cNvSpPr/>
              <p:nvPr/>
            </p:nvSpPr>
            <p:spPr>
              <a:xfrm rot="2700000">
                <a:off x="28669" y="-657766"/>
                <a:ext cx="1072529" cy="1511952"/>
              </a:xfrm>
              <a:custGeom>
                <a:avLst/>
                <a:gdLst>
                  <a:gd name="connsiteX0" fmla="*/ 0 w 1072529"/>
                  <a:gd name="connsiteY0" fmla="*/ 1072529 h 1511952"/>
                  <a:gd name="connsiteX1" fmla="*/ 1072529 w 1072529"/>
                  <a:gd name="connsiteY1" fmla="*/ 0 h 1511952"/>
                  <a:gd name="connsiteX2" fmla="*/ 1072529 w 1072529"/>
                  <a:gd name="connsiteY2" fmla="*/ 1511952 h 1511952"/>
                  <a:gd name="connsiteX3" fmla="*/ 439424 w 1072529"/>
                  <a:gd name="connsiteY3" fmla="*/ 1511952 h 15119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72529" h="1511952">
                    <a:moveTo>
                      <a:pt x="0" y="1072529"/>
                    </a:moveTo>
                    <a:lnTo>
                      <a:pt x="1072529" y="0"/>
                    </a:lnTo>
                    <a:lnTo>
                      <a:pt x="1072529" y="1511952"/>
                    </a:lnTo>
                    <a:lnTo>
                      <a:pt x="439424" y="1511952"/>
                    </a:lnTo>
                    <a:close/>
                  </a:path>
                </a:pathLst>
              </a:custGeom>
              <a:noFill/>
              <a:ln w="57150">
                <a:gradFill flip="none" rotWithShape="1">
                  <a:gsLst>
                    <a:gs pos="0">
                      <a:srgbClr val="D7B26C"/>
                    </a:gs>
                    <a:gs pos="67000">
                      <a:srgbClr val="D7B26C">
                        <a:alpha val="40000"/>
                      </a:srgbClr>
                    </a:gs>
                    <a:gs pos="100000">
                      <a:srgbClr val="D7B26C">
                        <a:alpha val="65000"/>
                      </a:srgbClr>
                    </a:gs>
                  </a:gsLst>
                  <a:lin ang="16200000" scaled="1"/>
                  <a:tileRect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grpSp>
        <p:nvGrpSpPr>
          <p:cNvPr id="89" name="组合 88"/>
          <p:cNvGrpSpPr/>
          <p:nvPr/>
        </p:nvGrpSpPr>
        <p:grpSpPr>
          <a:xfrm>
            <a:off x="9629471" y="-57386"/>
            <a:ext cx="4744029" cy="6972537"/>
            <a:chOff x="9629471" y="-57386"/>
            <a:chExt cx="4744029" cy="6972537"/>
          </a:xfrm>
        </p:grpSpPr>
        <p:sp>
          <p:nvSpPr>
            <p:cNvPr id="61" name="任意多边形 60"/>
            <p:cNvSpPr/>
            <p:nvPr/>
          </p:nvSpPr>
          <p:spPr>
            <a:xfrm rot="2700000">
              <a:off x="10004350" y="1244426"/>
              <a:ext cx="4369150" cy="4369150"/>
            </a:xfrm>
            <a:custGeom>
              <a:avLst/>
              <a:gdLst>
                <a:gd name="connsiteX0" fmla="*/ 0 w 4369150"/>
                <a:gd name="connsiteY0" fmla="*/ 0 h 4369150"/>
                <a:gd name="connsiteX1" fmla="*/ 875900 w 4369150"/>
                <a:gd name="connsiteY1" fmla="*/ 875899 h 4369150"/>
                <a:gd name="connsiteX2" fmla="*/ 875899 w 4369150"/>
                <a:gd name="connsiteY2" fmla="*/ 3493251 h 4369150"/>
                <a:gd name="connsiteX3" fmla="*/ 3493251 w 4369150"/>
                <a:gd name="connsiteY3" fmla="*/ 3493251 h 4369150"/>
                <a:gd name="connsiteX4" fmla="*/ 4369150 w 4369150"/>
                <a:gd name="connsiteY4" fmla="*/ 4369150 h 4369150"/>
                <a:gd name="connsiteX5" fmla="*/ 0 w 4369150"/>
                <a:gd name="connsiteY5" fmla="*/ 4369150 h 4369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369150" h="4369150">
                  <a:moveTo>
                    <a:pt x="0" y="0"/>
                  </a:moveTo>
                  <a:lnTo>
                    <a:pt x="875900" y="875899"/>
                  </a:lnTo>
                  <a:lnTo>
                    <a:pt x="875899" y="3493251"/>
                  </a:lnTo>
                  <a:lnTo>
                    <a:pt x="3493251" y="3493251"/>
                  </a:lnTo>
                  <a:lnTo>
                    <a:pt x="4369150" y="4369150"/>
                  </a:lnTo>
                  <a:lnTo>
                    <a:pt x="0" y="4369150"/>
                  </a:lnTo>
                  <a:close/>
                </a:path>
              </a:pathLst>
            </a:custGeom>
            <a:solidFill>
              <a:srgbClr val="5B6A7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grpSp>
          <p:nvGrpSpPr>
            <p:cNvPr id="84" name="组合 83"/>
            <p:cNvGrpSpPr/>
            <p:nvPr/>
          </p:nvGrpSpPr>
          <p:grpSpPr>
            <a:xfrm>
              <a:off x="9629471" y="-57386"/>
              <a:ext cx="2620422" cy="6972537"/>
              <a:chOff x="9629471" y="-57386"/>
              <a:chExt cx="2620422" cy="6972537"/>
            </a:xfrm>
          </p:grpSpPr>
          <p:sp>
            <p:nvSpPr>
              <p:cNvPr id="45" name="任意多边形 44"/>
              <p:cNvSpPr/>
              <p:nvPr/>
            </p:nvSpPr>
            <p:spPr>
              <a:xfrm>
                <a:off x="10177462" y="5889069"/>
                <a:ext cx="2014538" cy="1007269"/>
              </a:xfrm>
              <a:custGeom>
                <a:avLst/>
                <a:gdLst>
                  <a:gd name="connsiteX0" fmla="*/ 1007269 w 2014538"/>
                  <a:gd name="connsiteY0" fmla="*/ 0 h 1007269"/>
                  <a:gd name="connsiteX1" fmla="*/ 2014538 w 2014538"/>
                  <a:gd name="connsiteY1" fmla="*/ 1007269 h 1007269"/>
                  <a:gd name="connsiteX2" fmla="*/ 0 w 2014538"/>
                  <a:gd name="connsiteY2" fmla="*/ 1007269 h 10072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014538" h="1007269">
                    <a:moveTo>
                      <a:pt x="1007269" y="0"/>
                    </a:moveTo>
                    <a:lnTo>
                      <a:pt x="2014538" y="1007269"/>
                    </a:lnTo>
                    <a:lnTo>
                      <a:pt x="0" y="1007269"/>
                    </a:lnTo>
                    <a:close/>
                  </a:path>
                </a:pathLst>
              </a:custGeom>
              <a:solidFill>
                <a:srgbClr val="5B6A7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3" name="任意多边形 82"/>
              <p:cNvSpPr/>
              <p:nvPr/>
            </p:nvSpPr>
            <p:spPr>
              <a:xfrm>
                <a:off x="9901083" y="2840615"/>
                <a:ext cx="2329761" cy="4074536"/>
              </a:xfrm>
              <a:custGeom>
                <a:avLst/>
                <a:gdLst>
                  <a:gd name="connsiteX0" fmla="*/ 2329761 w 2329761"/>
                  <a:gd name="connsiteY0" fmla="*/ 0 h 4074536"/>
                  <a:gd name="connsiteX1" fmla="*/ 2329761 w 2329761"/>
                  <a:gd name="connsiteY1" fmla="*/ 4074536 h 4074536"/>
                  <a:gd name="connsiteX2" fmla="*/ 1744775 w 2329761"/>
                  <a:gd name="connsiteY2" fmla="*/ 4074536 h 4074536"/>
                  <a:gd name="connsiteX3" fmla="*/ 0 w 2329761"/>
                  <a:gd name="connsiteY3" fmla="*/ 2329761 h 40745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329761" h="4074536">
                    <a:moveTo>
                      <a:pt x="2329761" y="0"/>
                    </a:moveTo>
                    <a:lnTo>
                      <a:pt x="2329761" y="4074536"/>
                    </a:lnTo>
                    <a:lnTo>
                      <a:pt x="1744775" y="4074536"/>
                    </a:lnTo>
                    <a:lnTo>
                      <a:pt x="0" y="2329761"/>
                    </a:lnTo>
                    <a:close/>
                  </a:path>
                </a:pathLst>
              </a:custGeom>
              <a:noFill/>
              <a:ln w="57150">
                <a:gradFill flip="none" rotWithShape="1">
                  <a:gsLst>
                    <a:gs pos="0">
                      <a:srgbClr val="D7B26C"/>
                    </a:gs>
                    <a:gs pos="31000">
                      <a:srgbClr val="D7B26C">
                        <a:alpha val="27000"/>
                      </a:srgbClr>
                    </a:gs>
                    <a:gs pos="65000">
                      <a:srgbClr val="D7B26C"/>
                    </a:gs>
                    <a:gs pos="100000">
                      <a:srgbClr val="D7B26C">
                        <a:alpha val="0"/>
                      </a:srgbClr>
                    </a:gs>
                  </a:gsLst>
                  <a:lin ang="0" scaled="1"/>
                  <a:tileRect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1" name="任意多边形 80"/>
              <p:cNvSpPr/>
              <p:nvPr/>
            </p:nvSpPr>
            <p:spPr>
              <a:xfrm>
                <a:off x="10162403" y="3101936"/>
                <a:ext cx="2068440" cy="3811626"/>
              </a:xfrm>
              <a:custGeom>
                <a:avLst/>
                <a:gdLst>
                  <a:gd name="connsiteX0" fmla="*/ 2068440 w 2068440"/>
                  <a:gd name="connsiteY0" fmla="*/ 0 h 3811626"/>
                  <a:gd name="connsiteX1" fmla="*/ 2068440 w 2068440"/>
                  <a:gd name="connsiteY1" fmla="*/ 3811626 h 3811626"/>
                  <a:gd name="connsiteX2" fmla="*/ 1743186 w 2068440"/>
                  <a:gd name="connsiteY2" fmla="*/ 3811626 h 3811626"/>
                  <a:gd name="connsiteX3" fmla="*/ 0 w 2068440"/>
                  <a:gd name="connsiteY3" fmla="*/ 2068440 h 38116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068440" h="3811626">
                    <a:moveTo>
                      <a:pt x="2068440" y="0"/>
                    </a:moveTo>
                    <a:lnTo>
                      <a:pt x="2068440" y="3811626"/>
                    </a:lnTo>
                    <a:lnTo>
                      <a:pt x="1743186" y="3811626"/>
                    </a:lnTo>
                    <a:lnTo>
                      <a:pt x="0" y="2068440"/>
                    </a:lnTo>
                    <a:close/>
                  </a:path>
                </a:pathLst>
              </a:custGeom>
              <a:noFill/>
              <a:ln w="57150">
                <a:gradFill flip="none" rotWithShape="1">
                  <a:gsLst>
                    <a:gs pos="0">
                      <a:srgbClr val="D7B26C"/>
                    </a:gs>
                    <a:gs pos="31000">
                      <a:srgbClr val="D7B26C">
                        <a:alpha val="27000"/>
                      </a:srgbClr>
                    </a:gs>
                    <a:gs pos="65000">
                      <a:srgbClr val="D7B26C"/>
                    </a:gs>
                    <a:gs pos="100000">
                      <a:srgbClr val="D7B26C">
                        <a:alpha val="0"/>
                      </a:srgbClr>
                    </a:gs>
                  </a:gsLst>
                  <a:lin ang="0" scaled="1"/>
                  <a:tileRect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9" name="任意多边形 78"/>
              <p:cNvSpPr/>
              <p:nvPr/>
            </p:nvSpPr>
            <p:spPr>
              <a:xfrm>
                <a:off x="9901084" y="-57386"/>
                <a:ext cx="2348809" cy="4093820"/>
              </a:xfrm>
              <a:custGeom>
                <a:avLst/>
                <a:gdLst>
                  <a:gd name="connsiteX0" fmla="*/ 1745011 w 2348809"/>
                  <a:gd name="connsiteY0" fmla="*/ 0 h 4093820"/>
                  <a:gd name="connsiteX1" fmla="*/ 2348809 w 2348809"/>
                  <a:gd name="connsiteY1" fmla="*/ 0 h 4093820"/>
                  <a:gd name="connsiteX2" fmla="*/ 2348809 w 2348809"/>
                  <a:gd name="connsiteY2" fmla="*/ 4093820 h 4093820"/>
                  <a:gd name="connsiteX3" fmla="*/ 0 w 2348809"/>
                  <a:gd name="connsiteY3" fmla="*/ 1745011 h 40938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348809" h="4093820">
                    <a:moveTo>
                      <a:pt x="1745011" y="0"/>
                    </a:moveTo>
                    <a:lnTo>
                      <a:pt x="2348809" y="0"/>
                    </a:lnTo>
                    <a:lnTo>
                      <a:pt x="2348809" y="4093820"/>
                    </a:lnTo>
                    <a:lnTo>
                      <a:pt x="0" y="1745011"/>
                    </a:lnTo>
                    <a:close/>
                  </a:path>
                </a:pathLst>
              </a:custGeom>
              <a:noFill/>
              <a:ln w="57150">
                <a:gradFill flip="none" rotWithShape="1">
                  <a:gsLst>
                    <a:gs pos="0">
                      <a:srgbClr val="D7B26C"/>
                    </a:gs>
                    <a:gs pos="31000">
                      <a:srgbClr val="D7B26C">
                        <a:alpha val="27000"/>
                      </a:srgbClr>
                    </a:gs>
                    <a:gs pos="65000">
                      <a:srgbClr val="D7B26C"/>
                    </a:gs>
                    <a:gs pos="100000">
                      <a:srgbClr val="D7B26C">
                        <a:alpha val="0"/>
                      </a:srgbClr>
                    </a:gs>
                  </a:gsLst>
                  <a:lin ang="0" scaled="1"/>
                  <a:tileRect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7" name="任意多边形 76"/>
              <p:cNvSpPr/>
              <p:nvPr/>
            </p:nvSpPr>
            <p:spPr>
              <a:xfrm>
                <a:off x="10162404" y="-57149"/>
                <a:ext cx="2057866" cy="3802641"/>
              </a:xfrm>
              <a:custGeom>
                <a:avLst/>
                <a:gdLst>
                  <a:gd name="connsiteX0" fmla="*/ 1744775 w 2057866"/>
                  <a:gd name="connsiteY0" fmla="*/ 0 h 3802641"/>
                  <a:gd name="connsiteX1" fmla="*/ 2057866 w 2057866"/>
                  <a:gd name="connsiteY1" fmla="*/ 0 h 3802641"/>
                  <a:gd name="connsiteX2" fmla="*/ 2057866 w 2057866"/>
                  <a:gd name="connsiteY2" fmla="*/ 3802641 h 3802641"/>
                  <a:gd name="connsiteX3" fmla="*/ 0 w 2057866"/>
                  <a:gd name="connsiteY3" fmla="*/ 1744775 h 38026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057866" h="3802641">
                    <a:moveTo>
                      <a:pt x="1744775" y="0"/>
                    </a:moveTo>
                    <a:lnTo>
                      <a:pt x="2057866" y="0"/>
                    </a:lnTo>
                    <a:lnTo>
                      <a:pt x="2057866" y="3802641"/>
                    </a:lnTo>
                    <a:lnTo>
                      <a:pt x="0" y="1744775"/>
                    </a:lnTo>
                    <a:close/>
                  </a:path>
                </a:pathLst>
              </a:custGeom>
              <a:noFill/>
              <a:ln w="57150">
                <a:gradFill flip="none" rotWithShape="1">
                  <a:gsLst>
                    <a:gs pos="0">
                      <a:srgbClr val="D7B26C"/>
                    </a:gs>
                    <a:gs pos="31000">
                      <a:srgbClr val="D7B26C">
                        <a:alpha val="27000"/>
                      </a:srgbClr>
                    </a:gs>
                    <a:gs pos="65000">
                      <a:srgbClr val="D7B26C"/>
                    </a:gs>
                    <a:gs pos="100000">
                      <a:srgbClr val="D7B26C">
                        <a:alpha val="0"/>
                      </a:srgbClr>
                    </a:gs>
                  </a:gsLst>
                  <a:lin ang="0" scaled="1"/>
                  <a:tileRect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9" name="任意多边形 68"/>
              <p:cNvSpPr/>
              <p:nvPr/>
            </p:nvSpPr>
            <p:spPr>
              <a:xfrm>
                <a:off x="9629471" y="857250"/>
                <a:ext cx="2601373" cy="5143500"/>
              </a:xfrm>
              <a:custGeom>
                <a:avLst/>
                <a:gdLst>
                  <a:gd name="connsiteX0" fmla="*/ 2571750 w 2601373"/>
                  <a:gd name="connsiteY0" fmla="*/ 0 h 5143500"/>
                  <a:gd name="connsiteX1" fmla="*/ 2601373 w 2601373"/>
                  <a:gd name="connsiteY1" fmla="*/ 29623 h 5143500"/>
                  <a:gd name="connsiteX2" fmla="*/ 2601373 w 2601373"/>
                  <a:gd name="connsiteY2" fmla="*/ 5113877 h 5143500"/>
                  <a:gd name="connsiteX3" fmla="*/ 2571750 w 2601373"/>
                  <a:gd name="connsiteY3" fmla="*/ 5143500 h 5143500"/>
                  <a:gd name="connsiteX4" fmla="*/ 0 w 2601373"/>
                  <a:gd name="connsiteY4" fmla="*/ 2571750 h 51435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601373" h="5143500">
                    <a:moveTo>
                      <a:pt x="2571750" y="0"/>
                    </a:moveTo>
                    <a:lnTo>
                      <a:pt x="2601373" y="29623"/>
                    </a:lnTo>
                    <a:lnTo>
                      <a:pt x="2601373" y="5113877"/>
                    </a:lnTo>
                    <a:lnTo>
                      <a:pt x="2571750" y="5143500"/>
                    </a:lnTo>
                    <a:lnTo>
                      <a:pt x="0" y="2571750"/>
                    </a:lnTo>
                    <a:close/>
                  </a:path>
                </a:pathLst>
              </a:custGeom>
              <a:noFill/>
              <a:ln w="57150">
                <a:gradFill flip="none" rotWithShape="1">
                  <a:gsLst>
                    <a:gs pos="0">
                      <a:srgbClr val="D7B26C"/>
                    </a:gs>
                    <a:gs pos="57000">
                      <a:srgbClr val="D7B26C">
                        <a:alpha val="28000"/>
                      </a:srgbClr>
                    </a:gs>
                    <a:gs pos="100000">
                      <a:srgbClr val="D7B26C">
                        <a:alpha val="0"/>
                      </a:srgbClr>
                    </a:gs>
                  </a:gsLst>
                  <a:lin ang="0" scaled="1"/>
                  <a:tileRect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3" name="任意多边形 62"/>
              <p:cNvSpPr/>
              <p:nvPr/>
            </p:nvSpPr>
            <p:spPr>
              <a:xfrm>
                <a:off x="10734370" y="1962150"/>
                <a:ext cx="1466850" cy="2933700"/>
              </a:xfrm>
              <a:custGeom>
                <a:avLst/>
                <a:gdLst>
                  <a:gd name="connsiteX0" fmla="*/ 1466850 w 1466850"/>
                  <a:gd name="connsiteY0" fmla="*/ 0 h 2933700"/>
                  <a:gd name="connsiteX1" fmla="*/ 1466850 w 1466850"/>
                  <a:gd name="connsiteY1" fmla="*/ 2933700 h 2933700"/>
                  <a:gd name="connsiteX2" fmla="*/ 0 w 1466850"/>
                  <a:gd name="connsiteY2" fmla="*/ 1466850 h 29337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466850" h="2933700">
                    <a:moveTo>
                      <a:pt x="1466850" y="0"/>
                    </a:moveTo>
                    <a:lnTo>
                      <a:pt x="1466850" y="2933700"/>
                    </a:lnTo>
                    <a:lnTo>
                      <a:pt x="0" y="1466850"/>
                    </a:lnTo>
                    <a:close/>
                  </a:path>
                </a:pathLst>
              </a:custGeom>
              <a:solidFill>
                <a:srgbClr val="5B6A7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5" name="任意多边形 74"/>
              <p:cNvSpPr/>
              <p:nvPr/>
            </p:nvSpPr>
            <p:spPr>
              <a:xfrm>
                <a:off x="11237917" y="2465696"/>
                <a:ext cx="973877" cy="1926608"/>
              </a:xfrm>
              <a:custGeom>
                <a:avLst/>
                <a:gdLst>
                  <a:gd name="connsiteX0" fmla="*/ 963304 w 973877"/>
                  <a:gd name="connsiteY0" fmla="*/ 0 h 1926608"/>
                  <a:gd name="connsiteX1" fmla="*/ 973877 w 973877"/>
                  <a:gd name="connsiteY1" fmla="*/ 10573 h 1926608"/>
                  <a:gd name="connsiteX2" fmla="*/ 973877 w 973877"/>
                  <a:gd name="connsiteY2" fmla="*/ 1916035 h 1926608"/>
                  <a:gd name="connsiteX3" fmla="*/ 963304 w 973877"/>
                  <a:gd name="connsiteY3" fmla="*/ 1926608 h 1926608"/>
                  <a:gd name="connsiteX4" fmla="*/ 0 w 973877"/>
                  <a:gd name="connsiteY4" fmla="*/ 963304 h 19266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73877" h="1926608">
                    <a:moveTo>
                      <a:pt x="963304" y="0"/>
                    </a:moveTo>
                    <a:lnTo>
                      <a:pt x="973877" y="10573"/>
                    </a:lnTo>
                    <a:lnTo>
                      <a:pt x="973877" y="1916035"/>
                    </a:lnTo>
                    <a:lnTo>
                      <a:pt x="963304" y="1926608"/>
                    </a:lnTo>
                    <a:lnTo>
                      <a:pt x="0" y="963304"/>
                    </a:lnTo>
                    <a:close/>
                  </a:path>
                </a:pathLst>
              </a:custGeom>
              <a:noFill/>
              <a:ln w="57150">
                <a:gradFill flip="none" rotWithShape="1">
                  <a:gsLst>
                    <a:gs pos="0">
                      <a:srgbClr val="D7B26C"/>
                    </a:gs>
                    <a:gs pos="57000">
                      <a:srgbClr val="D7B26C">
                        <a:alpha val="28000"/>
                      </a:srgbClr>
                    </a:gs>
                    <a:gs pos="100000">
                      <a:srgbClr val="D7B26C">
                        <a:alpha val="0"/>
                      </a:srgbClr>
                    </a:gs>
                  </a:gsLst>
                  <a:lin ang="0" scaled="1"/>
                  <a:tileRect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cxnSp>
        <p:nvCxnSpPr>
          <p:cNvPr id="88" name="直接连接符 87"/>
          <p:cNvCxnSpPr>
            <a:stCxn id="11" idx="2"/>
            <a:endCxn id="20" idx="2"/>
          </p:cNvCxnSpPr>
          <p:nvPr/>
        </p:nvCxnSpPr>
        <p:spPr>
          <a:xfrm flipH="1">
            <a:off x="409568" y="1452513"/>
            <a:ext cx="1" cy="3961076"/>
          </a:xfrm>
          <a:prstGeom prst="line">
            <a:avLst/>
          </a:prstGeom>
          <a:ln w="38100">
            <a:gradFill flip="none" rotWithShape="1">
              <a:gsLst>
                <a:gs pos="0">
                  <a:srgbClr val="D7B26C"/>
                </a:gs>
                <a:gs pos="47000">
                  <a:srgbClr val="D7B26C">
                    <a:alpha val="64000"/>
                  </a:srgbClr>
                </a:gs>
                <a:gs pos="79000">
                  <a:srgbClr val="D7B26C">
                    <a:alpha val="36000"/>
                  </a:srgbClr>
                </a:gs>
                <a:gs pos="25000">
                  <a:srgbClr val="D7B26C">
                    <a:alpha val="40000"/>
                  </a:srgbClr>
                </a:gs>
                <a:gs pos="100000">
                  <a:srgbClr val="D7B26C"/>
                </a:gs>
              </a:gsLst>
              <a:lin ang="54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/>
          <p:cNvSpPr txBox="1"/>
          <p:nvPr/>
        </p:nvSpPr>
        <p:spPr>
          <a:xfrm>
            <a:off x="4074160" y="5007749"/>
            <a:ext cx="366522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2024.6.2</a:t>
            </a:r>
            <a:endParaRPr lang="en-US" altLang="zh-CN" sz="2800" b="1" dirty="0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819561" y="2712995"/>
            <a:ext cx="6174418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4000" b="1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语义分割算法</a:t>
            </a:r>
            <a:r>
              <a:rPr lang="en-US" altLang="zh-CN" dirty="0"/>
              <a:t>YOLOv8</a:t>
            </a:r>
            <a:endParaRPr lang="en-US" altLang="zh-CN" dirty="0"/>
          </a:p>
          <a:p>
            <a:r>
              <a:rPr lang="zh-CN" altLang="en-US" dirty="0"/>
              <a:t>的代码实现</a:t>
            </a:r>
            <a:endParaRPr lang="zh-CN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3764915" y="102235"/>
            <a:ext cx="4662170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sz="2400" b="1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defRPr>
            </a:lvl1pPr>
          </a:lstStyle>
          <a:p>
            <a:r>
              <a:rPr lang="zh-CN" altLang="en-US" dirty="0"/>
              <a:t>使用的数据集：</a:t>
            </a:r>
            <a:r>
              <a:rPr lang="en-US" altLang="zh-CN" dirty="0"/>
              <a:t>CIHP</a:t>
            </a:r>
            <a:r>
              <a:rPr lang="zh-CN" altLang="en-US" dirty="0"/>
              <a:t>的一部分</a:t>
            </a:r>
            <a:endParaRPr lang="zh-CN" altLang="en-US" dirty="0"/>
          </a:p>
        </p:txBody>
      </p:sp>
      <p:sp>
        <p:nvSpPr>
          <p:cNvPr id="3" name="文本框 2"/>
          <p:cNvSpPr txBox="1"/>
          <p:nvPr/>
        </p:nvSpPr>
        <p:spPr>
          <a:xfrm>
            <a:off x="271780" y="1091565"/>
            <a:ext cx="5227955" cy="31381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b="1">
                <a:sym typeface="+mn-ea"/>
              </a:rPr>
              <a:t>原</a:t>
            </a:r>
            <a:r>
              <a:rPr lang="en-US" altLang="zh-CN" b="1">
                <a:sym typeface="+mn-ea"/>
              </a:rPr>
              <a:t>CIHP</a:t>
            </a:r>
            <a:r>
              <a:rPr lang="zh-CN" altLang="en-US" b="1">
                <a:sym typeface="+mn-ea"/>
              </a:rPr>
              <a:t>数据集类别：</a:t>
            </a:r>
            <a:endParaRPr lang="zh-CN" altLang="en-US" b="1">
              <a:sym typeface="+mn-ea"/>
            </a:endParaRPr>
          </a:p>
          <a:p>
            <a:endParaRPr lang="zh-CN" altLang="en-US" b="1">
              <a:sym typeface="+mn-ea"/>
            </a:endParaRPr>
          </a:p>
          <a:p>
            <a:r>
              <a:rPr lang="zh-CN" altLang="en-US" b="1">
                <a:sym typeface="+mn-ea"/>
              </a:rPr>
              <a:t>1.帽子 2.头发 3.手套 4.太阳镜 5.上衣 6.连衣裙 </a:t>
            </a:r>
            <a:endParaRPr lang="zh-CN" altLang="en-US" b="1">
              <a:sym typeface="+mn-ea"/>
            </a:endParaRPr>
          </a:p>
          <a:p>
            <a:r>
              <a:rPr lang="zh-CN" altLang="en-US" b="1">
                <a:sym typeface="+mn-ea"/>
              </a:rPr>
              <a:t>7.外套 8.袜子9.裤子 10.躯干皮肤 11.围巾 12.裙子 </a:t>
            </a:r>
            <a:endParaRPr lang="zh-CN" altLang="en-US" b="1">
              <a:sym typeface="+mn-ea"/>
            </a:endParaRPr>
          </a:p>
          <a:p>
            <a:r>
              <a:rPr lang="zh-CN" altLang="en-US" b="1">
                <a:sym typeface="+mn-ea"/>
              </a:rPr>
              <a:t>13.脸 14.左臂 15.右臂 16.左腿 17.右腿 18.左鞋 </a:t>
            </a:r>
            <a:endParaRPr lang="zh-CN" altLang="en-US" b="1">
              <a:sym typeface="+mn-ea"/>
            </a:endParaRPr>
          </a:p>
          <a:p>
            <a:r>
              <a:rPr lang="zh-CN" altLang="en-US" b="1">
                <a:sym typeface="+mn-ea"/>
              </a:rPr>
              <a:t>19.右鞋</a:t>
            </a:r>
            <a:endParaRPr lang="zh-CN" altLang="en-US" b="1">
              <a:sym typeface="+mn-ea"/>
            </a:endParaRPr>
          </a:p>
          <a:p>
            <a:endParaRPr lang="zh-CN" altLang="en-US" b="1">
              <a:sym typeface="+mn-ea"/>
            </a:endParaRPr>
          </a:p>
          <a:p>
            <a:r>
              <a:rPr lang="zh-CN" altLang="en-US" b="1">
                <a:sym typeface="+mn-ea"/>
              </a:rPr>
              <a:t>1.Hat 2.Hair 3.Glove 4.Sunglasses 5.UpperClothes </a:t>
            </a:r>
            <a:endParaRPr lang="zh-CN" altLang="en-US" b="1">
              <a:sym typeface="+mn-ea"/>
            </a:endParaRPr>
          </a:p>
          <a:p>
            <a:r>
              <a:rPr lang="zh-CN" altLang="en-US" b="1">
                <a:sym typeface="+mn-ea"/>
              </a:rPr>
              <a:t>6.Dress 7.Coat 8.Socks 9.Pants 10.Torso-skin 11.Scarf </a:t>
            </a:r>
            <a:endParaRPr lang="zh-CN" altLang="en-US" b="1">
              <a:sym typeface="+mn-ea"/>
            </a:endParaRPr>
          </a:p>
          <a:p>
            <a:r>
              <a:rPr lang="zh-CN" altLang="en-US" b="1">
                <a:sym typeface="+mn-ea"/>
              </a:rPr>
              <a:t>12.Skirt 13.Face 14.Left-arm 15.Right-arm 16.Left-leg </a:t>
            </a:r>
            <a:endParaRPr lang="zh-CN" altLang="en-US" b="1">
              <a:sym typeface="+mn-ea"/>
            </a:endParaRPr>
          </a:p>
          <a:p>
            <a:r>
              <a:rPr lang="zh-CN" altLang="en-US" b="1">
                <a:sym typeface="+mn-ea"/>
              </a:rPr>
              <a:t>17.Right-leg 18.Left-shoe 19.Right-shoe</a:t>
            </a:r>
            <a:endParaRPr lang="zh-CN" altLang="en-US" b="1"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47065" y="4481830"/>
            <a:ext cx="4051300" cy="1476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b="1"/>
              <a:t>自己取了其中</a:t>
            </a:r>
            <a:r>
              <a:rPr lang="en-US" altLang="zh-CN" b="1"/>
              <a:t>100</a:t>
            </a:r>
            <a:r>
              <a:rPr lang="zh-CN" altLang="en-US" b="1"/>
              <a:t>多张作为训练的图片，</a:t>
            </a:r>
            <a:endParaRPr lang="zh-CN" altLang="en-US" b="1"/>
          </a:p>
          <a:p>
            <a:r>
              <a:rPr lang="zh-CN" altLang="en-US" b="1"/>
              <a:t>且设定的类别变为：</a:t>
            </a:r>
            <a:endParaRPr lang="en-US" altLang="zh-CN" b="1"/>
          </a:p>
          <a:p>
            <a:endParaRPr lang="en-US" altLang="zh-CN" b="1"/>
          </a:p>
          <a:p>
            <a:r>
              <a:rPr lang="en-US" altLang="zh-CN" b="1"/>
              <a:t>0.</a:t>
            </a:r>
            <a:r>
              <a:rPr lang="zh-CN" altLang="en-US" b="1"/>
              <a:t>hat </a:t>
            </a:r>
            <a:r>
              <a:rPr lang="en-US" altLang="zh-CN" b="1"/>
              <a:t>1.</a:t>
            </a:r>
            <a:r>
              <a:rPr lang="zh-CN" altLang="en-US" b="1"/>
              <a:t>UpperClothes</a:t>
            </a:r>
            <a:r>
              <a:rPr lang="en-US" altLang="zh-CN" b="1"/>
              <a:t> 2.</a:t>
            </a:r>
            <a:r>
              <a:rPr lang="zh-CN" altLang="en-US" b="1"/>
              <a:t>pants</a:t>
            </a:r>
            <a:r>
              <a:rPr lang="en-US" altLang="zh-CN" b="1"/>
              <a:t> 3.</a:t>
            </a:r>
            <a:r>
              <a:rPr lang="zh-CN" altLang="en-US" b="1"/>
              <a:t>shoe </a:t>
            </a:r>
            <a:r>
              <a:rPr lang="en-US" altLang="zh-CN" b="1"/>
              <a:t>4.</a:t>
            </a:r>
            <a:r>
              <a:rPr lang="zh-CN" altLang="en-US" b="1"/>
              <a:t>skirt </a:t>
            </a:r>
            <a:r>
              <a:rPr lang="en-US" altLang="zh-CN" b="1"/>
              <a:t>5.</a:t>
            </a:r>
            <a:r>
              <a:rPr lang="zh-CN" altLang="en-US" b="1"/>
              <a:t>head</a:t>
            </a:r>
            <a:r>
              <a:rPr lang="en-US" altLang="zh-CN" b="1"/>
              <a:t> 6.</a:t>
            </a:r>
            <a:r>
              <a:rPr lang="zh-CN" altLang="en-US" b="1"/>
              <a:t>arm </a:t>
            </a:r>
            <a:r>
              <a:rPr lang="en-US" altLang="zh-CN" b="1"/>
              <a:t>7.</a:t>
            </a:r>
            <a:r>
              <a:rPr lang="zh-CN" altLang="en-US" b="1"/>
              <a:t>leg </a:t>
            </a:r>
            <a:r>
              <a:rPr lang="en-US" altLang="zh-CN" b="1"/>
              <a:t>8.</a:t>
            </a:r>
            <a:r>
              <a:rPr lang="zh-CN" altLang="en-US" b="1"/>
              <a:t>body</a:t>
            </a:r>
            <a:endParaRPr lang="zh-CN" altLang="en-US" b="1"/>
          </a:p>
        </p:txBody>
      </p:sp>
      <p:sp>
        <p:nvSpPr>
          <p:cNvPr id="6" name="文本框 5"/>
          <p:cNvSpPr txBox="1"/>
          <p:nvPr/>
        </p:nvSpPr>
        <p:spPr>
          <a:xfrm>
            <a:off x="5879465" y="937895"/>
            <a:ext cx="5999480" cy="25533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000" b="1"/>
              <a:t>说明：</a:t>
            </a:r>
            <a:r>
              <a:rPr lang="en-US" altLang="zh-CN" sz="2000" b="1"/>
              <a:t>CIHP</a:t>
            </a:r>
            <a:r>
              <a:rPr lang="zh-CN" altLang="en-US" sz="2000" b="1"/>
              <a:t>数据集过大（至少有两三万张），且数据集中没有对应的</a:t>
            </a:r>
            <a:r>
              <a:rPr lang="en-US" altLang="zh-CN" sz="2000" b="1"/>
              <a:t>json</a:t>
            </a:r>
            <a:r>
              <a:rPr lang="zh-CN" altLang="en-US" sz="2000" b="1"/>
              <a:t>或者</a:t>
            </a:r>
            <a:r>
              <a:rPr lang="en-US" altLang="zh-CN" sz="2000" b="1"/>
              <a:t>txt</a:t>
            </a:r>
            <a:r>
              <a:rPr lang="zh-CN" altLang="en-US" sz="2000" b="1"/>
              <a:t>文件（只有掩膜对应的图片），不知道怎么转。</a:t>
            </a:r>
            <a:endParaRPr lang="zh-CN" altLang="en-US" sz="2000" b="1"/>
          </a:p>
          <a:p>
            <a:r>
              <a:rPr lang="zh-CN" altLang="en-US" sz="2000" b="1"/>
              <a:t>关于含有人体部位（或者衣服躯干啥的，至少得有裸露部分）的分割任务的数据集，网上很难找（</a:t>
            </a:r>
            <a:r>
              <a:rPr lang="en-US" altLang="zh-CN" sz="2000" b="1"/>
              <a:t>CIHP</a:t>
            </a:r>
            <a:r>
              <a:rPr lang="zh-CN" altLang="en-US" sz="2000" b="1"/>
              <a:t>系列的是目前找到的比较靠谱的），且之前实验室电脑有人在训练三四天，没发训练，故只能自己做数据集，简化类别，在笔记本上训练。</a:t>
            </a:r>
            <a:endParaRPr lang="zh-CN" altLang="en-US" sz="2000" b="1"/>
          </a:p>
        </p:txBody>
      </p:sp>
      <p:cxnSp>
        <p:nvCxnSpPr>
          <p:cNvPr id="7" name="直接连接符 6"/>
          <p:cNvCxnSpPr/>
          <p:nvPr/>
        </p:nvCxnSpPr>
        <p:spPr>
          <a:xfrm>
            <a:off x="5499735" y="937895"/>
            <a:ext cx="47625" cy="5894705"/>
          </a:xfrm>
          <a:prstGeom prst="line">
            <a:avLst/>
          </a:prstGeom>
          <a:ln w="44450"/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9" name="文本框 8"/>
          <p:cNvSpPr txBox="1"/>
          <p:nvPr/>
        </p:nvSpPr>
        <p:spPr>
          <a:xfrm>
            <a:off x="7038975" y="3684270"/>
            <a:ext cx="354838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2000" b="1" dirty="0"/>
              <a:t>CHIP</a:t>
            </a:r>
            <a:r>
              <a:rPr lang="zh-CN" altLang="en-US" sz="2000" b="1" dirty="0"/>
              <a:t>等数据集的介绍参考链接</a:t>
            </a:r>
            <a:endParaRPr lang="zh-CN" altLang="en-US" sz="2000" b="1" dirty="0"/>
          </a:p>
        </p:txBody>
      </p:sp>
      <p:sp>
        <p:nvSpPr>
          <p:cNvPr id="10" name="文本框 9"/>
          <p:cNvSpPr txBox="1"/>
          <p:nvPr/>
        </p:nvSpPr>
        <p:spPr>
          <a:xfrm>
            <a:off x="5547360" y="4229735"/>
            <a:ext cx="6710680" cy="16300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2000" dirty="0">
                <a:hlinkClick r:id="rId1"/>
              </a:rPr>
              <a:t>https://blog.csdn.net/wxf19940618/article/details/83661891</a:t>
            </a:r>
            <a:endParaRPr lang="en-US" altLang="zh-CN" sz="2000" dirty="0"/>
          </a:p>
          <a:p>
            <a:r>
              <a:rPr lang="en-US" altLang="zh-CN" sz="2000" dirty="0">
                <a:hlinkClick r:id="rId2"/>
              </a:rPr>
              <a:t>https://blog.csdn.net/qq_41994006/article/details/126191667</a:t>
            </a:r>
            <a:endParaRPr lang="en-US" altLang="zh-CN" sz="2000" dirty="0"/>
          </a:p>
          <a:p>
            <a:r>
              <a:rPr lang="en-US" altLang="zh-CN" sz="2000" dirty="0">
                <a:hlinkClick r:id="rId3"/>
              </a:rPr>
              <a:t>https://blog.csdn.net/weixin_41809530/article/details/120237242</a:t>
            </a:r>
            <a:endParaRPr lang="en-US" altLang="zh-CN" sz="2000" dirty="0"/>
          </a:p>
          <a:p>
            <a:r>
              <a:rPr lang="en-US" altLang="zh-CN" sz="2000" dirty="0">
                <a:hlinkClick r:id="rId4"/>
              </a:rPr>
              <a:t>https://blog.csdn.net/hyk_1996/article/details/91974621</a:t>
            </a:r>
            <a:endParaRPr lang="en-US" altLang="zh-CN" sz="2000" dirty="0"/>
          </a:p>
        </p:txBody>
      </p:sp>
      <p:sp>
        <p:nvSpPr>
          <p:cNvPr id="11" name="文本框 10"/>
          <p:cNvSpPr txBox="1"/>
          <p:nvPr/>
        </p:nvSpPr>
        <p:spPr>
          <a:xfrm>
            <a:off x="7199630" y="5892800"/>
            <a:ext cx="322707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2000" b="1"/>
              <a:t>CHIP</a:t>
            </a:r>
            <a:r>
              <a:rPr lang="zh-CN" altLang="en-US" sz="2000" b="1"/>
              <a:t>等数据集的下载链接</a:t>
            </a:r>
            <a:endParaRPr lang="zh-CN" altLang="en-US" sz="2000" b="1"/>
          </a:p>
        </p:txBody>
      </p:sp>
      <p:sp>
        <p:nvSpPr>
          <p:cNvPr id="12" name="文本框 11"/>
          <p:cNvSpPr txBox="1"/>
          <p:nvPr/>
        </p:nvSpPr>
        <p:spPr>
          <a:xfrm>
            <a:off x="6634480" y="6324600"/>
            <a:ext cx="4537075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lvl="0" algn="l">
              <a:buClrTx/>
              <a:buSzTx/>
              <a:buFontTx/>
            </a:pPr>
            <a:r>
              <a:rPr lang="en-US" altLang="zh-CN" sz="2000" dirty="0">
                <a:sym typeface="+mn-ea"/>
                <a:hlinkClick r:id="rId5"/>
              </a:rPr>
              <a:t>https://sysu-hcp.net/lip/overview.php</a:t>
            </a:r>
            <a:endParaRPr lang="en-US" altLang="zh-CN" sz="2000" dirty="0"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4530201" y="102319"/>
            <a:ext cx="313159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sz="2400" b="1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defRPr>
            </a:lvl1pPr>
          </a:lstStyle>
          <a:p>
            <a:r>
              <a:rPr lang="zh-CN" altLang="en-US" dirty="0"/>
              <a:t>一、打标签</a:t>
            </a:r>
            <a:endParaRPr lang="zh-CN" altLang="en-US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2930" y="654050"/>
            <a:ext cx="11026775" cy="6203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4530200" y="196645"/>
            <a:ext cx="313159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sz="2400" b="1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defRPr>
            </a:lvl1pPr>
          </a:lstStyle>
          <a:p>
            <a:r>
              <a:rPr lang="zh-CN" altLang="en-US" dirty="0"/>
              <a:t>一、打标签</a:t>
            </a:r>
            <a:endParaRPr lang="zh-CN" altLang="en-US" dirty="0"/>
          </a:p>
        </p:txBody>
      </p:sp>
      <p:pic>
        <p:nvPicPr>
          <p:cNvPr id="5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6105" y="658495"/>
            <a:ext cx="11019790" cy="61995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4530200" y="196645"/>
            <a:ext cx="313159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sz="2400" b="1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defRPr>
            </a:lvl1pPr>
          </a:lstStyle>
          <a:p>
            <a:r>
              <a:rPr lang="zh-CN" altLang="en-US" dirty="0"/>
              <a:t>一、打标签</a:t>
            </a:r>
            <a:endParaRPr lang="zh-CN" altLang="en-US" dirty="0"/>
          </a:p>
        </p:txBody>
      </p:sp>
      <p:pic>
        <p:nvPicPr>
          <p:cNvPr id="6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1350" y="719455"/>
            <a:ext cx="10909935" cy="61379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4530200" y="196645"/>
            <a:ext cx="313159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sz="2400" b="1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defRPr>
            </a:lvl1pPr>
          </a:lstStyle>
          <a:p>
            <a:r>
              <a:rPr lang="zh-CN" altLang="en-US" dirty="0"/>
              <a:t>一、打标签</a:t>
            </a:r>
            <a:endParaRPr lang="zh-CN" altLang="en-US" dirty="0"/>
          </a:p>
        </p:txBody>
      </p:sp>
      <p:pic>
        <p:nvPicPr>
          <p:cNvPr id="15" name="图片 1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7220" y="693420"/>
            <a:ext cx="10957560" cy="61645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confusion_matrix_normalized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55140" y="347345"/>
            <a:ext cx="8681085" cy="651065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5138016" y="187"/>
            <a:ext cx="19167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sz="2400" b="1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defRPr>
            </a:lvl1pPr>
          </a:lstStyle>
          <a:p>
            <a:r>
              <a:rPr lang="zh-CN" altLang="en-US" dirty="0"/>
              <a:t>二、训练</a:t>
            </a:r>
            <a:endParaRPr lang="zh-CN" alt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labels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67000" y="0"/>
            <a:ext cx="6858000" cy="685800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5138016" y="187"/>
            <a:ext cx="19167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sz="2400" b="1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defRPr>
            </a:lvl1pPr>
          </a:lstStyle>
          <a:p>
            <a:r>
              <a:rPr lang="zh-CN" altLang="en-US" dirty="0"/>
              <a:t>二、训练</a:t>
            </a:r>
            <a:endParaRPr lang="zh-CN" alt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5138016" y="187"/>
            <a:ext cx="19167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sz="2400" b="1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defRPr>
            </a:lvl1pPr>
          </a:lstStyle>
          <a:p>
            <a:r>
              <a:rPr lang="zh-CN" altLang="en-US" dirty="0"/>
              <a:t>二、训练</a:t>
            </a:r>
            <a:endParaRPr lang="zh-CN" altLang="en-US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7960" y="519430"/>
            <a:ext cx="11816080" cy="633857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5138016" y="187"/>
            <a:ext cx="19167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sz="2400" b="1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defRPr>
            </a:lvl1pPr>
          </a:lstStyle>
          <a:p>
            <a:r>
              <a:rPr lang="zh-CN" altLang="en-US" dirty="0"/>
              <a:t>二、训练</a:t>
            </a:r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0025" y="531495"/>
            <a:ext cx="11791315" cy="632587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 descr="BoxPR_curv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5315" y="-13335"/>
            <a:ext cx="10306685" cy="6871335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112626" y="1756597"/>
            <a:ext cx="19167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sz="2400" b="1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defRPr>
            </a:lvl1pPr>
          </a:lstStyle>
          <a:p>
            <a:r>
              <a:rPr lang="zh-CN" altLang="en-US" dirty="0"/>
              <a:t>二、训练</a:t>
            </a:r>
            <a:endParaRPr lang="zh-CN" altLang="en-US" dirty="0"/>
          </a:p>
        </p:txBody>
      </p:sp>
      <p:sp>
        <p:nvSpPr>
          <p:cNvPr id="11" name="文本框 10"/>
          <p:cNvSpPr txBox="1"/>
          <p:nvPr/>
        </p:nvSpPr>
        <p:spPr>
          <a:xfrm>
            <a:off x="0" y="3945255"/>
            <a:ext cx="2123440" cy="10147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ctr">
              <a:spcBef>
                <a:spcPts val="0"/>
              </a:spcBef>
              <a:spcAft>
                <a:spcPts val="0"/>
              </a:spcAft>
            </a:pPr>
            <a:r>
              <a:rPr lang="zh-CN" altLang="en-US" sz="2000" b="1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charset="0"/>
              </a:rPr>
              <a:t>不同类别物体在不同置信度阈值下的指标曲线</a:t>
            </a:r>
            <a:endParaRPr lang="en-US" altLang="zh-CN" sz="2000" b="1" kern="100" dirty="0">
              <a:effectLst/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9583420" y="4099560"/>
            <a:ext cx="1727200" cy="8299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ctr">
              <a:spcBef>
                <a:spcPts val="0"/>
              </a:spcBef>
              <a:spcAft>
                <a:spcPts val="0"/>
              </a:spcAft>
            </a:pPr>
            <a:r>
              <a:rPr lang="zh-CN" altLang="en-US" sz="2400" b="1" kern="100" dirty="0">
                <a:effectLst/>
                <a:latin typeface="Times New Roman" panose="02020603050405020304" charset="0"/>
                <a:ea typeface="宋体" panose="02010600030101010101" pitchFamily="2" charset="-122"/>
              </a:rPr>
              <a:t>预测框的</a:t>
            </a:r>
            <a:endParaRPr lang="zh-CN" altLang="en-US" sz="2400" b="1" kern="100" dirty="0">
              <a:effectLst/>
              <a:latin typeface="Times New Roman" panose="02020603050405020304" charset="0"/>
              <a:ea typeface="宋体" panose="02010600030101010101" pitchFamily="2" charset="-122"/>
            </a:endParaRPr>
          </a:p>
          <a:p>
            <a:pPr marL="0" marR="0" indent="0" algn="ctr">
              <a:spcBef>
                <a:spcPts val="0"/>
              </a:spcBef>
              <a:spcAft>
                <a:spcPts val="0"/>
              </a:spcAft>
            </a:pPr>
            <a:r>
              <a:rPr lang="en-US" altLang="zh-CN" sz="2400" b="1" kern="100" dirty="0">
                <a:effectLst/>
                <a:latin typeface="Times New Roman" panose="02020603050405020304" charset="0"/>
                <a:ea typeface="宋体" panose="02010600030101010101" pitchFamily="2" charset="-122"/>
              </a:rPr>
              <a:t>P-R</a:t>
            </a:r>
            <a:r>
              <a:rPr lang="zh-CN" altLang="en-US" sz="2400" b="1" kern="100" dirty="0">
                <a:effectLst/>
                <a:latin typeface="Times New Roman" panose="02020603050405020304" charset="0"/>
                <a:ea typeface="宋体" panose="02010600030101010101" pitchFamily="2" charset="-122"/>
              </a:rPr>
              <a:t>曲线</a:t>
            </a:r>
            <a:endParaRPr lang="zh-CN" altLang="en-US" sz="2400" b="1" kern="100" dirty="0">
              <a:effectLst/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BoxP_curv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12620" y="0"/>
            <a:ext cx="10279380" cy="6854190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112626" y="1756597"/>
            <a:ext cx="19167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sz="2400" b="1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defRPr>
            </a:lvl1pPr>
          </a:lstStyle>
          <a:p>
            <a:r>
              <a:rPr lang="zh-CN" altLang="en-US" dirty="0"/>
              <a:t>二、训练</a:t>
            </a:r>
            <a:endParaRPr lang="zh-CN" altLang="en-US" dirty="0"/>
          </a:p>
        </p:txBody>
      </p:sp>
      <p:sp>
        <p:nvSpPr>
          <p:cNvPr id="11" name="文本框 10"/>
          <p:cNvSpPr txBox="1"/>
          <p:nvPr/>
        </p:nvSpPr>
        <p:spPr>
          <a:xfrm>
            <a:off x="0" y="3945255"/>
            <a:ext cx="2123440" cy="10147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ctr">
              <a:spcBef>
                <a:spcPts val="0"/>
              </a:spcBef>
              <a:spcAft>
                <a:spcPts val="0"/>
              </a:spcAft>
            </a:pPr>
            <a:r>
              <a:rPr lang="zh-CN" altLang="en-US" sz="2000" b="1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charset="0"/>
              </a:rPr>
              <a:t>不同类别物体在不同置信度阈值下的指标曲线</a:t>
            </a:r>
            <a:endParaRPr lang="en-US" altLang="zh-CN" sz="2000" b="1" kern="100" dirty="0">
              <a:effectLst/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9583420" y="4099560"/>
            <a:ext cx="1727200" cy="8299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ctr">
              <a:spcBef>
                <a:spcPts val="0"/>
              </a:spcBef>
              <a:spcAft>
                <a:spcPts val="0"/>
              </a:spcAft>
            </a:pPr>
            <a:r>
              <a:rPr lang="zh-CN" altLang="en-US" sz="2400" b="1" kern="100" dirty="0">
                <a:effectLst/>
                <a:latin typeface="Times New Roman" panose="02020603050405020304" charset="0"/>
                <a:ea typeface="宋体" panose="02010600030101010101" pitchFamily="2" charset="-122"/>
              </a:rPr>
              <a:t>预测框的</a:t>
            </a:r>
            <a:endParaRPr lang="zh-CN" altLang="en-US" sz="2400" b="1" kern="100" dirty="0">
              <a:effectLst/>
              <a:latin typeface="Times New Roman" panose="02020603050405020304" charset="0"/>
              <a:ea typeface="宋体" panose="02010600030101010101" pitchFamily="2" charset="-122"/>
            </a:endParaRPr>
          </a:p>
          <a:p>
            <a:pPr marL="0" marR="0" indent="0" algn="ctr">
              <a:spcBef>
                <a:spcPts val="0"/>
              </a:spcBef>
              <a:spcAft>
                <a:spcPts val="0"/>
              </a:spcAft>
            </a:pPr>
            <a:r>
              <a:rPr lang="zh-CN" altLang="en-US" sz="2400" b="1" kern="100" dirty="0">
                <a:effectLst/>
                <a:latin typeface="Times New Roman" panose="02020603050405020304" charset="0"/>
                <a:ea typeface="宋体" panose="02010600030101010101" pitchFamily="2" charset="-122"/>
              </a:rPr>
              <a:t>准确率曲线</a:t>
            </a:r>
            <a:endParaRPr lang="zh-CN" altLang="en-US" sz="2400" b="1" kern="100" dirty="0">
              <a:effectLst/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BoxR_curv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05635" y="0"/>
            <a:ext cx="10286365" cy="6858000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112626" y="1756597"/>
            <a:ext cx="19167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sz="2400" b="1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defRPr>
            </a:lvl1pPr>
          </a:lstStyle>
          <a:p>
            <a:r>
              <a:rPr lang="zh-CN" altLang="en-US" dirty="0"/>
              <a:t>二、训练</a:t>
            </a:r>
            <a:endParaRPr lang="zh-CN" altLang="en-US" dirty="0"/>
          </a:p>
        </p:txBody>
      </p:sp>
      <p:sp>
        <p:nvSpPr>
          <p:cNvPr id="11" name="文本框 10"/>
          <p:cNvSpPr txBox="1"/>
          <p:nvPr/>
        </p:nvSpPr>
        <p:spPr>
          <a:xfrm>
            <a:off x="0" y="3945255"/>
            <a:ext cx="2123440" cy="10147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ctr">
              <a:spcBef>
                <a:spcPts val="0"/>
              </a:spcBef>
              <a:spcAft>
                <a:spcPts val="0"/>
              </a:spcAft>
            </a:pPr>
            <a:r>
              <a:rPr lang="zh-CN" altLang="en-US" sz="2000" b="1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charset="0"/>
              </a:rPr>
              <a:t>不同类别物体在不同置信度阈值下的指标曲线</a:t>
            </a:r>
            <a:endParaRPr lang="en-US" altLang="zh-CN" sz="2000" b="1" kern="100" dirty="0">
              <a:effectLst/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9583420" y="4099560"/>
            <a:ext cx="1727200" cy="8299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ctr">
              <a:spcBef>
                <a:spcPts val="0"/>
              </a:spcBef>
              <a:spcAft>
                <a:spcPts val="0"/>
              </a:spcAft>
            </a:pPr>
            <a:r>
              <a:rPr lang="zh-CN" altLang="en-US" sz="2400" b="1" kern="100" dirty="0">
                <a:effectLst/>
                <a:latin typeface="Times New Roman" panose="02020603050405020304" charset="0"/>
                <a:ea typeface="宋体" panose="02010600030101010101" pitchFamily="2" charset="-122"/>
              </a:rPr>
              <a:t>预测框的</a:t>
            </a:r>
            <a:endParaRPr lang="zh-CN" altLang="en-US" sz="2400" b="1" kern="100" dirty="0">
              <a:effectLst/>
              <a:latin typeface="Times New Roman" panose="02020603050405020304" charset="0"/>
              <a:ea typeface="宋体" panose="02010600030101010101" pitchFamily="2" charset="-122"/>
            </a:endParaRPr>
          </a:p>
          <a:p>
            <a:pPr marL="0" marR="0" indent="0" algn="ctr">
              <a:spcBef>
                <a:spcPts val="0"/>
              </a:spcBef>
              <a:spcAft>
                <a:spcPts val="0"/>
              </a:spcAft>
            </a:pPr>
            <a:r>
              <a:rPr lang="zh-CN" altLang="en-US" sz="2400" b="1" kern="100" dirty="0">
                <a:effectLst/>
                <a:latin typeface="Times New Roman" panose="02020603050405020304" charset="0"/>
                <a:ea typeface="宋体" panose="02010600030101010101" pitchFamily="2" charset="-122"/>
              </a:rPr>
              <a:t>召回率曲线</a:t>
            </a:r>
            <a:endParaRPr lang="zh-CN" altLang="en-US" sz="2400" b="1" kern="100" dirty="0">
              <a:effectLst/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BoxF1_curv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94840" y="0"/>
            <a:ext cx="10297160" cy="6864985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112626" y="1756597"/>
            <a:ext cx="19167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sz="2400" b="1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defRPr>
            </a:lvl1pPr>
          </a:lstStyle>
          <a:p>
            <a:r>
              <a:rPr lang="zh-CN" altLang="en-US" dirty="0"/>
              <a:t>二、训练</a:t>
            </a:r>
            <a:endParaRPr lang="zh-CN" altLang="en-US" dirty="0"/>
          </a:p>
        </p:txBody>
      </p:sp>
      <p:sp>
        <p:nvSpPr>
          <p:cNvPr id="11" name="文本框 10"/>
          <p:cNvSpPr txBox="1"/>
          <p:nvPr/>
        </p:nvSpPr>
        <p:spPr>
          <a:xfrm>
            <a:off x="0" y="3945255"/>
            <a:ext cx="2123440" cy="10147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ctr">
              <a:spcBef>
                <a:spcPts val="0"/>
              </a:spcBef>
              <a:spcAft>
                <a:spcPts val="0"/>
              </a:spcAft>
            </a:pPr>
            <a:r>
              <a:rPr lang="zh-CN" altLang="en-US" sz="2000" b="1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charset="0"/>
              </a:rPr>
              <a:t>不同类别物体在不同置信度阈值下的指标曲线</a:t>
            </a:r>
            <a:endParaRPr lang="en-US" altLang="zh-CN" sz="2000" b="1" kern="100" dirty="0">
              <a:effectLst/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9583420" y="4099560"/>
            <a:ext cx="1727200" cy="8299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ctr">
              <a:spcBef>
                <a:spcPts val="0"/>
              </a:spcBef>
              <a:spcAft>
                <a:spcPts val="0"/>
              </a:spcAft>
            </a:pPr>
            <a:r>
              <a:rPr lang="zh-CN" altLang="en-US" sz="2400" b="1" kern="100" dirty="0">
                <a:effectLst/>
                <a:latin typeface="Times New Roman" panose="02020603050405020304" charset="0"/>
                <a:ea typeface="宋体" panose="02010600030101010101" pitchFamily="2" charset="-122"/>
              </a:rPr>
              <a:t>预测框的</a:t>
            </a:r>
            <a:endParaRPr lang="zh-CN" altLang="en-US" sz="2400" b="1" kern="100" dirty="0">
              <a:effectLst/>
              <a:latin typeface="Times New Roman" panose="02020603050405020304" charset="0"/>
              <a:ea typeface="宋体" panose="02010600030101010101" pitchFamily="2" charset="-122"/>
            </a:endParaRPr>
          </a:p>
          <a:p>
            <a:pPr marL="0" marR="0" indent="0" algn="ctr">
              <a:spcBef>
                <a:spcPts val="0"/>
              </a:spcBef>
              <a:spcAft>
                <a:spcPts val="0"/>
              </a:spcAft>
            </a:pPr>
            <a:r>
              <a:rPr lang="en-US" altLang="zh-CN" sz="2400" b="1" kern="100" dirty="0">
                <a:effectLst/>
                <a:latin typeface="Times New Roman" panose="02020603050405020304" charset="0"/>
                <a:ea typeface="宋体" panose="02010600030101010101" pitchFamily="2" charset="-122"/>
              </a:rPr>
              <a:t>F1</a:t>
            </a:r>
            <a:r>
              <a:rPr lang="zh-CN" altLang="en-US" sz="2400" b="1" kern="100" dirty="0">
                <a:effectLst/>
                <a:latin typeface="Times New Roman" panose="02020603050405020304" charset="0"/>
                <a:ea typeface="宋体" panose="02010600030101010101" pitchFamily="2" charset="-122"/>
              </a:rPr>
              <a:t>曲线</a:t>
            </a:r>
            <a:endParaRPr lang="zh-CN" altLang="en-US" sz="2400" b="1" kern="100" dirty="0">
              <a:effectLst/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/>
          <p:cNvSpPr txBox="1"/>
          <p:nvPr/>
        </p:nvSpPr>
        <p:spPr>
          <a:xfrm>
            <a:off x="112626" y="1756597"/>
            <a:ext cx="19167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sz="2400" b="1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defRPr>
            </a:lvl1pPr>
          </a:lstStyle>
          <a:p>
            <a:r>
              <a:rPr lang="zh-CN" altLang="en-US" dirty="0"/>
              <a:t>二、训练</a:t>
            </a:r>
            <a:endParaRPr lang="zh-CN" altLang="en-US" dirty="0"/>
          </a:p>
        </p:txBody>
      </p:sp>
      <p:sp>
        <p:nvSpPr>
          <p:cNvPr id="11" name="文本框 10"/>
          <p:cNvSpPr txBox="1"/>
          <p:nvPr/>
        </p:nvSpPr>
        <p:spPr>
          <a:xfrm>
            <a:off x="-93980" y="3945255"/>
            <a:ext cx="2123440" cy="10147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ctr">
              <a:spcBef>
                <a:spcPts val="0"/>
              </a:spcBef>
              <a:spcAft>
                <a:spcPts val="0"/>
              </a:spcAft>
            </a:pPr>
            <a:r>
              <a:rPr lang="zh-CN" altLang="en-US" sz="2000" b="1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charset="0"/>
              </a:rPr>
              <a:t>不同类别物体在不同置信度阈值下的指标曲线</a:t>
            </a:r>
            <a:endParaRPr lang="en-US" altLang="zh-CN" sz="2000" b="1" kern="100" dirty="0">
              <a:effectLst/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pic>
        <p:nvPicPr>
          <p:cNvPr id="5" name="图片 4" descr="MaskPR_curv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05635" y="0"/>
            <a:ext cx="10286365" cy="6858000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9583420" y="4099560"/>
            <a:ext cx="1727200" cy="8299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ctr">
              <a:spcBef>
                <a:spcPts val="0"/>
              </a:spcBef>
              <a:spcAft>
                <a:spcPts val="0"/>
              </a:spcAft>
            </a:pPr>
            <a:r>
              <a:rPr lang="en-US" altLang="zh-CN" sz="2400" b="1" kern="100" dirty="0">
                <a:effectLst/>
                <a:latin typeface="Times New Roman" panose="02020603050405020304" charset="0"/>
                <a:ea typeface="宋体" panose="02010600030101010101" pitchFamily="2" charset="-122"/>
              </a:rPr>
              <a:t>mask</a:t>
            </a:r>
            <a:r>
              <a:rPr lang="zh-CN" altLang="en-US" sz="2400" b="1" kern="100" dirty="0">
                <a:effectLst/>
                <a:latin typeface="Times New Roman" panose="02020603050405020304" charset="0"/>
                <a:ea typeface="宋体" panose="02010600030101010101" pitchFamily="2" charset="-122"/>
              </a:rPr>
              <a:t>的</a:t>
            </a:r>
            <a:endParaRPr lang="zh-CN" altLang="en-US" sz="2400" b="1" kern="100" dirty="0">
              <a:effectLst/>
              <a:latin typeface="Times New Roman" panose="02020603050405020304" charset="0"/>
              <a:ea typeface="宋体" panose="02010600030101010101" pitchFamily="2" charset="-122"/>
            </a:endParaRPr>
          </a:p>
          <a:p>
            <a:pPr marL="0" marR="0" indent="0" algn="ctr">
              <a:spcBef>
                <a:spcPts val="0"/>
              </a:spcBef>
              <a:spcAft>
                <a:spcPts val="0"/>
              </a:spcAft>
            </a:pPr>
            <a:r>
              <a:rPr lang="en-US" altLang="zh-CN" sz="2400" b="1" kern="100" dirty="0">
                <a:effectLst/>
                <a:latin typeface="Times New Roman" panose="02020603050405020304" charset="0"/>
                <a:ea typeface="宋体" panose="02010600030101010101" pitchFamily="2" charset="-122"/>
              </a:rPr>
              <a:t>P-R</a:t>
            </a:r>
            <a:r>
              <a:rPr lang="zh-CN" altLang="en-US" sz="2400" b="1" kern="100" dirty="0">
                <a:effectLst/>
                <a:latin typeface="Times New Roman" panose="02020603050405020304" charset="0"/>
                <a:ea typeface="宋体" panose="02010600030101010101" pitchFamily="2" charset="-122"/>
              </a:rPr>
              <a:t>曲线</a:t>
            </a:r>
            <a:endParaRPr lang="zh-CN" altLang="en-US" sz="2400" b="1" kern="100" dirty="0">
              <a:effectLst/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/>
          <p:cNvSpPr txBox="1"/>
          <p:nvPr/>
        </p:nvSpPr>
        <p:spPr>
          <a:xfrm>
            <a:off x="112626" y="1756597"/>
            <a:ext cx="19167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sz="2400" b="1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defRPr>
            </a:lvl1pPr>
          </a:lstStyle>
          <a:p>
            <a:r>
              <a:rPr lang="zh-CN" altLang="en-US" dirty="0"/>
              <a:t>二、训练</a:t>
            </a:r>
            <a:endParaRPr lang="zh-CN" altLang="en-US" dirty="0"/>
          </a:p>
        </p:txBody>
      </p:sp>
      <p:sp>
        <p:nvSpPr>
          <p:cNvPr id="11" name="文本框 10"/>
          <p:cNvSpPr txBox="1"/>
          <p:nvPr/>
        </p:nvSpPr>
        <p:spPr>
          <a:xfrm>
            <a:off x="-93980" y="3945255"/>
            <a:ext cx="2123440" cy="10147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ctr">
              <a:spcBef>
                <a:spcPts val="0"/>
              </a:spcBef>
              <a:spcAft>
                <a:spcPts val="0"/>
              </a:spcAft>
            </a:pPr>
            <a:r>
              <a:rPr lang="zh-CN" altLang="en-US" sz="2000" b="1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charset="0"/>
              </a:rPr>
              <a:t>不同类别物体在不同置信度阈值下的指标曲线</a:t>
            </a:r>
            <a:endParaRPr lang="en-US" altLang="zh-CN" sz="2000" b="1" kern="100" dirty="0">
              <a:effectLst/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pic>
        <p:nvPicPr>
          <p:cNvPr id="4" name="图片 3" descr="MaskP_curv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05635" y="0"/>
            <a:ext cx="10286365" cy="6858000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9583420" y="4099560"/>
            <a:ext cx="1727200" cy="8299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ctr">
              <a:spcBef>
                <a:spcPts val="0"/>
              </a:spcBef>
              <a:spcAft>
                <a:spcPts val="0"/>
              </a:spcAft>
            </a:pPr>
            <a:r>
              <a:rPr lang="en-US" altLang="zh-CN" sz="2400" b="1" kern="100" dirty="0">
                <a:effectLst/>
                <a:latin typeface="Times New Roman" panose="02020603050405020304" charset="0"/>
                <a:ea typeface="宋体" panose="02010600030101010101" pitchFamily="2" charset="-122"/>
              </a:rPr>
              <a:t>mask</a:t>
            </a:r>
            <a:r>
              <a:rPr lang="zh-CN" altLang="en-US" sz="2400" b="1" kern="100" dirty="0">
                <a:effectLst/>
                <a:latin typeface="Times New Roman" panose="02020603050405020304" charset="0"/>
                <a:ea typeface="宋体" panose="02010600030101010101" pitchFamily="2" charset="-122"/>
              </a:rPr>
              <a:t>的</a:t>
            </a:r>
            <a:endParaRPr lang="zh-CN" altLang="en-US" sz="2400" b="1" kern="100" dirty="0">
              <a:effectLst/>
              <a:latin typeface="Times New Roman" panose="02020603050405020304" charset="0"/>
              <a:ea typeface="宋体" panose="02010600030101010101" pitchFamily="2" charset="-122"/>
            </a:endParaRPr>
          </a:p>
          <a:p>
            <a:pPr marL="0" marR="0" indent="0" algn="ctr">
              <a:spcBef>
                <a:spcPts val="0"/>
              </a:spcBef>
              <a:spcAft>
                <a:spcPts val="0"/>
              </a:spcAft>
            </a:pPr>
            <a:r>
              <a:rPr lang="zh-CN" altLang="en-US" sz="2400" b="1" kern="100" dirty="0">
                <a:effectLst/>
                <a:latin typeface="Times New Roman" panose="02020603050405020304" charset="0"/>
                <a:ea typeface="宋体" panose="02010600030101010101" pitchFamily="2" charset="-122"/>
              </a:rPr>
              <a:t>准确率曲线</a:t>
            </a:r>
            <a:endParaRPr lang="zh-CN" altLang="en-US" sz="2400" b="1" kern="100" dirty="0">
              <a:effectLst/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/>
          <p:cNvSpPr txBox="1"/>
          <p:nvPr/>
        </p:nvSpPr>
        <p:spPr>
          <a:xfrm>
            <a:off x="112626" y="1756597"/>
            <a:ext cx="19167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sz="2400" b="1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defRPr>
            </a:lvl1pPr>
          </a:lstStyle>
          <a:p>
            <a:r>
              <a:rPr lang="zh-CN" altLang="en-US" dirty="0"/>
              <a:t>二、训练</a:t>
            </a:r>
            <a:endParaRPr lang="zh-CN" altLang="en-US" dirty="0"/>
          </a:p>
        </p:txBody>
      </p:sp>
      <p:sp>
        <p:nvSpPr>
          <p:cNvPr id="11" name="文本框 10"/>
          <p:cNvSpPr txBox="1"/>
          <p:nvPr/>
        </p:nvSpPr>
        <p:spPr>
          <a:xfrm>
            <a:off x="-93980" y="3945255"/>
            <a:ext cx="2123440" cy="10147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ctr">
              <a:spcBef>
                <a:spcPts val="0"/>
              </a:spcBef>
              <a:spcAft>
                <a:spcPts val="0"/>
              </a:spcAft>
            </a:pPr>
            <a:r>
              <a:rPr lang="zh-CN" altLang="en-US" sz="2000" b="1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charset="0"/>
              </a:rPr>
              <a:t>不同类别物体在不同置信度阈值下的指标曲线</a:t>
            </a:r>
            <a:endParaRPr lang="en-US" altLang="zh-CN" sz="2000" b="1" kern="100" dirty="0">
              <a:effectLst/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pic>
        <p:nvPicPr>
          <p:cNvPr id="2" name="图片 1" descr="MaskR_curv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13255" y="0"/>
            <a:ext cx="10278745" cy="6852285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9583420" y="4099560"/>
            <a:ext cx="1727200" cy="8299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ctr">
              <a:spcBef>
                <a:spcPts val="0"/>
              </a:spcBef>
              <a:spcAft>
                <a:spcPts val="0"/>
              </a:spcAft>
            </a:pPr>
            <a:r>
              <a:rPr lang="en-US" altLang="zh-CN" sz="2400" b="1" kern="100" dirty="0">
                <a:effectLst/>
                <a:latin typeface="Times New Roman" panose="02020603050405020304" charset="0"/>
                <a:ea typeface="宋体" panose="02010600030101010101" pitchFamily="2" charset="-122"/>
              </a:rPr>
              <a:t>mask</a:t>
            </a:r>
            <a:r>
              <a:rPr lang="zh-CN" altLang="en-US" sz="2400" b="1" kern="100" dirty="0">
                <a:effectLst/>
                <a:latin typeface="Times New Roman" panose="02020603050405020304" charset="0"/>
                <a:ea typeface="宋体" panose="02010600030101010101" pitchFamily="2" charset="-122"/>
              </a:rPr>
              <a:t>的</a:t>
            </a:r>
            <a:endParaRPr lang="zh-CN" altLang="en-US" sz="2400" b="1" kern="100" dirty="0">
              <a:effectLst/>
              <a:latin typeface="Times New Roman" panose="02020603050405020304" charset="0"/>
              <a:ea typeface="宋体" panose="02010600030101010101" pitchFamily="2" charset="-122"/>
            </a:endParaRPr>
          </a:p>
          <a:p>
            <a:pPr marL="0" marR="0" indent="0" algn="ctr">
              <a:spcBef>
                <a:spcPts val="0"/>
              </a:spcBef>
              <a:spcAft>
                <a:spcPts val="0"/>
              </a:spcAft>
            </a:pPr>
            <a:r>
              <a:rPr lang="zh-CN" altLang="en-US" sz="2400" b="1" kern="100" dirty="0">
                <a:effectLst/>
                <a:latin typeface="Times New Roman" panose="02020603050405020304" charset="0"/>
                <a:ea typeface="宋体" panose="02010600030101010101" pitchFamily="2" charset="-122"/>
              </a:rPr>
              <a:t>召回率曲线</a:t>
            </a:r>
            <a:endParaRPr lang="zh-CN" altLang="en-US" sz="2400" b="1" kern="100" dirty="0">
              <a:effectLst/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/>
          <p:cNvSpPr txBox="1"/>
          <p:nvPr/>
        </p:nvSpPr>
        <p:spPr>
          <a:xfrm>
            <a:off x="112626" y="1756597"/>
            <a:ext cx="19167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sz="2400" b="1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defRPr>
            </a:lvl1pPr>
          </a:lstStyle>
          <a:p>
            <a:r>
              <a:rPr lang="zh-CN" altLang="en-US" dirty="0"/>
              <a:t>二、训练</a:t>
            </a:r>
            <a:endParaRPr lang="zh-CN" altLang="en-US" dirty="0"/>
          </a:p>
        </p:txBody>
      </p:sp>
      <p:sp>
        <p:nvSpPr>
          <p:cNvPr id="11" name="文本框 10"/>
          <p:cNvSpPr txBox="1"/>
          <p:nvPr/>
        </p:nvSpPr>
        <p:spPr>
          <a:xfrm>
            <a:off x="-93980" y="3945255"/>
            <a:ext cx="2123440" cy="10147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ctr">
              <a:spcBef>
                <a:spcPts val="0"/>
              </a:spcBef>
              <a:spcAft>
                <a:spcPts val="0"/>
              </a:spcAft>
            </a:pPr>
            <a:r>
              <a:rPr lang="zh-CN" altLang="en-US" sz="2000" b="1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charset="0"/>
              </a:rPr>
              <a:t>不同类别物体在不同置信度阈值下的指标曲线</a:t>
            </a:r>
            <a:endParaRPr lang="en-US" altLang="zh-CN" sz="2000" b="1" kern="100" dirty="0">
              <a:effectLst/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pic>
        <p:nvPicPr>
          <p:cNvPr id="3" name="图片 2" descr="MaskF1_curv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04365" y="0"/>
            <a:ext cx="10287635" cy="6858635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9583420" y="4099560"/>
            <a:ext cx="1727200" cy="8299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ctr">
              <a:spcBef>
                <a:spcPts val="0"/>
              </a:spcBef>
              <a:spcAft>
                <a:spcPts val="0"/>
              </a:spcAft>
            </a:pPr>
            <a:r>
              <a:rPr lang="en-US" altLang="zh-CN" sz="2400" b="1" kern="100" dirty="0">
                <a:effectLst/>
                <a:latin typeface="Times New Roman" panose="02020603050405020304" charset="0"/>
                <a:ea typeface="宋体" panose="02010600030101010101" pitchFamily="2" charset="-122"/>
              </a:rPr>
              <a:t>mask</a:t>
            </a:r>
            <a:r>
              <a:rPr lang="zh-CN" altLang="en-US" sz="2400" b="1" kern="100" dirty="0">
                <a:effectLst/>
                <a:latin typeface="Times New Roman" panose="02020603050405020304" charset="0"/>
                <a:ea typeface="宋体" panose="02010600030101010101" pitchFamily="2" charset="-122"/>
              </a:rPr>
              <a:t>的</a:t>
            </a:r>
            <a:endParaRPr lang="zh-CN" altLang="en-US" sz="2400" b="1" kern="100" dirty="0">
              <a:effectLst/>
              <a:latin typeface="Times New Roman" panose="02020603050405020304" charset="0"/>
              <a:ea typeface="宋体" panose="02010600030101010101" pitchFamily="2" charset="-122"/>
            </a:endParaRPr>
          </a:p>
          <a:p>
            <a:pPr marL="0" marR="0" indent="0" algn="ctr">
              <a:spcBef>
                <a:spcPts val="0"/>
              </a:spcBef>
              <a:spcAft>
                <a:spcPts val="0"/>
              </a:spcAft>
            </a:pPr>
            <a:r>
              <a:rPr lang="en-US" altLang="zh-CN" sz="2400" b="1" kern="100" dirty="0">
                <a:effectLst/>
                <a:latin typeface="Times New Roman" panose="02020603050405020304" charset="0"/>
                <a:ea typeface="宋体" panose="02010600030101010101" pitchFamily="2" charset="-122"/>
              </a:rPr>
              <a:t>F1</a:t>
            </a:r>
            <a:r>
              <a:rPr lang="zh-CN" altLang="en-US" sz="2400" b="1" kern="100" dirty="0">
                <a:effectLst/>
                <a:latin typeface="Times New Roman" panose="02020603050405020304" charset="0"/>
                <a:ea typeface="宋体" panose="02010600030101010101" pitchFamily="2" charset="-122"/>
              </a:rPr>
              <a:t>曲线</a:t>
            </a:r>
            <a:endParaRPr lang="zh-CN" altLang="en-US" sz="2400" b="1" kern="100" dirty="0">
              <a:effectLst/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-126730" y="160764"/>
            <a:ext cx="313159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sz="2400" b="1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defRPr>
            </a:lvl1pPr>
          </a:lstStyle>
          <a:p>
            <a:r>
              <a:rPr lang="zh-CN" altLang="en-US" dirty="0"/>
              <a:t>二、训练</a:t>
            </a:r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4429849" y="498028"/>
            <a:ext cx="3332301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ctr">
              <a:spcBef>
                <a:spcPts val="0"/>
              </a:spcBef>
              <a:spcAft>
                <a:spcPts val="0"/>
              </a:spcAft>
            </a:pPr>
            <a:r>
              <a:rPr lang="zh-CN" altLang="en-US" sz="2400" b="1" kern="100" dirty="0">
                <a:effectLst/>
                <a:latin typeface="Times New Roman" panose="02020603050405020304" charset="0"/>
                <a:ea typeface="宋体" panose="02010600030101010101" pitchFamily="2" charset="-122"/>
              </a:rPr>
              <a:t>所有曲线总结</a:t>
            </a:r>
            <a:endParaRPr lang="zh-CN" altLang="en-US" sz="2400" b="1" kern="100" dirty="0">
              <a:effectLst/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pic>
        <p:nvPicPr>
          <p:cNvPr id="5" name="图片 4" descr="results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538605"/>
            <a:ext cx="12192000" cy="4064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val_batch0_labels"/>
          <p:cNvPicPr>
            <a:picLocks noChangeAspect="1"/>
          </p:cNvPicPr>
          <p:nvPr/>
        </p:nvPicPr>
        <p:blipFill>
          <a:blip r:embed="rId1"/>
          <a:srcRect r="18824"/>
          <a:stretch>
            <a:fillRect/>
          </a:stretch>
        </p:blipFill>
        <p:spPr>
          <a:xfrm>
            <a:off x="779780" y="0"/>
            <a:ext cx="5567045" cy="6858000"/>
          </a:xfrm>
          <a:prstGeom prst="rect">
            <a:avLst/>
          </a:prstGeom>
        </p:spPr>
      </p:pic>
      <p:pic>
        <p:nvPicPr>
          <p:cNvPr id="9" name="图片 8" descr="val_batch0_pred"/>
          <p:cNvPicPr>
            <a:picLocks noChangeAspect="1"/>
          </p:cNvPicPr>
          <p:nvPr/>
        </p:nvPicPr>
        <p:blipFill>
          <a:blip r:embed="rId2"/>
          <a:srcRect r="14769"/>
          <a:stretch>
            <a:fillRect/>
          </a:stretch>
        </p:blipFill>
        <p:spPr>
          <a:xfrm>
            <a:off x="6346825" y="0"/>
            <a:ext cx="5845175" cy="6858000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4155440" y="5624830"/>
            <a:ext cx="219138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zh-CN" altLang="en-US" b="1"/>
              <a:t>val_batch0</a:t>
            </a:r>
            <a:endParaRPr lang="zh-CN" altLang="en-US" b="1"/>
          </a:p>
          <a:p>
            <a:pPr algn="ctr"/>
            <a:r>
              <a:rPr lang="zh-CN" altLang="en-US" b="1"/>
              <a:t>_labels</a:t>
            </a:r>
            <a:endParaRPr lang="zh-CN" altLang="en-US" b="1"/>
          </a:p>
        </p:txBody>
      </p:sp>
      <p:sp>
        <p:nvSpPr>
          <p:cNvPr id="12" name="文本框 11"/>
          <p:cNvSpPr txBox="1"/>
          <p:nvPr/>
        </p:nvSpPr>
        <p:spPr>
          <a:xfrm>
            <a:off x="10000615" y="5624830"/>
            <a:ext cx="219138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zh-CN" altLang="en-US" b="1"/>
              <a:t>val_batch0</a:t>
            </a:r>
            <a:endParaRPr lang="zh-CN" altLang="en-US" b="1"/>
          </a:p>
          <a:p>
            <a:pPr algn="ctr"/>
            <a:r>
              <a:rPr lang="zh-CN" altLang="en-US" b="1"/>
              <a:t>_</a:t>
            </a:r>
            <a:r>
              <a:rPr lang="en-US" altLang="zh-CN" b="1"/>
              <a:t>pred</a:t>
            </a:r>
            <a:endParaRPr lang="en-US" altLang="zh-CN" b="1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16"/>
          <p:cNvSpPr txBox="1"/>
          <p:nvPr/>
        </p:nvSpPr>
        <p:spPr>
          <a:xfrm>
            <a:off x="0" y="0"/>
            <a:ext cx="1932305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sz="2400" b="1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defRPr>
            </a:lvl1pPr>
          </a:lstStyle>
          <a:p>
            <a:r>
              <a:rPr lang="zh-CN" altLang="en-US" sz="2000" dirty="0"/>
              <a:t>三、推理</a:t>
            </a:r>
            <a:endParaRPr lang="zh-CN" altLang="en-US" sz="2000" dirty="0"/>
          </a:p>
        </p:txBody>
      </p:sp>
      <p:pic>
        <p:nvPicPr>
          <p:cNvPr id="2" name="图片 1" descr="Figure of 0001031"/>
          <p:cNvPicPr>
            <a:picLocks noChangeAspect="1"/>
          </p:cNvPicPr>
          <p:nvPr/>
        </p:nvPicPr>
        <p:blipFill>
          <a:blip r:embed="rId1"/>
          <a:srcRect l="10016" t="16345" r="64104" b="53552"/>
          <a:stretch>
            <a:fillRect/>
          </a:stretch>
        </p:blipFill>
        <p:spPr>
          <a:xfrm>
            <a:off x="861695" y="585470"/>
            <a:ext cx="3048000" cy="1770380"/>
          </a:xfrm>
          <a:prstGeom prst="rect">
            <a:avLst/>
          </a:prstGeom>
        </p:spPr>
      </p:pic>
      <p:pic>
        <p:nvPicPr>
          <p:cNvPr id="3" name="图片 2" descr="Figure of 0001031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"/>
          <a:srcRect l="37490" t="15094" r="37099" b="53552"/>
          <a:stretch>
            <a:fillRect/>
          </a:stretch>
        </p:blipFill>
        <p:spPr>
          <a:xfrm>
            <a:off x="4857750" y="558800"/>
            <a:ext cx="2994025" cy="1844675"/>
          </a:xfrm>
          <a:prstGeom prst="rect">
            <a:avLst/>
          </a:prstGeom>
        </p:spPr>
      </p:pic>
      <p:pic>
        <p:nvPicPr>
          <p:cNvPr id="4" name="图片 3" descr="Figure of 0001031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"/>
          <a:srcRect l="64989" t="15208" r="9542" b="53552"/>
          <a:stretch>
            <a:fillRect/>
          </a:stretch>
        </p:blipFill>
        <p:spPr>
          <a:xfrm>
            <a:off x="8895080" y="565785"/>
            <a:ext cx="3000375" cy="1837690"/>
          </a:xfrm>
          <a:prstGeom prst="rect">
            <a:avLst/>
          </a:prstGeom>
        </p:spPr>
      </p:pic>
      <p:pic>
        <p:nvPicPr>
          <p:cNvPr id="5" name="图片 4" descr="Figure of 0001031"/>
          <p:cNvPicPr>
            <a:picLocks noChangeAspect="1"/>
          </p:cNvPicPr>
          <p:nvPr/>
        </p:nvPicPr>
        <p:blipFill>
          <a:blip r:embed="rId1"/>
          <a:srcRect l="10094" t="57911" r="64260" b="11036"/>
          <a:stretch>
            <a:fillRect/>
          </a:stretch>
        </p:blipFill>
        <p:spPr>
          <a:xfrm>
            <a:off x="861695" y="2908935"/>
            <a:ext cx="3058795" cy="1849755"/>
          </a:xfrm>
          <a:prstGeom prst="rect">
            <a:avLst/>
          </a:prstGeom>
        </p:spPr>
      </p:pic>
      <p:pic>
        <p:nvPicPr>
          <p:cNvPr id="6" name="图片 5" descr="Figure of 0001031"/>
          <p:cNvPicPr>
            <a:picLocks noChangeAspect="1"/>
          </p:cNvPicPr>
          <p:nvPr/>
        </p:nvPicPr>
        <p:blipFill>
          <a:blip r:embed="rId1"/>
          <a:srcRect l="37719" t="57703" r="37021" b="11036"/>
          <a:stretch>
            <a:fillRect/>
          </a:stretch>
        </p:blipFill>
        <p:spPr>
          <a:xfrm>
            <a:off x="8920480" y="2908935"/>
            <a:ext cx="2974975" cy="1838325"/>
          </a:xfrm>
          <a:prstGeom prst="rect">
            <a:avLst/>
          </a:prstGeom>
        </p:spPr>
      </p:pic>
      <p:pic>
        <p:nvPicPr>
          <p:cNvPr id="7" name="图片 6" descr="Figure of 0001031"/>
          <p:cNvPicPr>
            <a:picLocks noChangeAspect="1"/>
          </p:cNvPicPr>
          <p:nvPr/>
        </p:nvPicPr>
        <p:blipFill>
          <a:blip r:embed="rId1"/>
          <a:srcRect l="64959" t="58736" r="9229" b="11036"/>
          <a:stretch>
            <a:fillRect/>
          </a:stretch>
        </p:blipFill>
        <p:spPr>
          <a:xfrm>
            <a:off x="8930005" y="5080000"/>
            <a:ext cx="3039745" cy="177800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rcRect t="7374"/>
          <a:stretch>
            <a:fillRect/>
          </a:stretch>
        </p:blipFill>
        <p:spPr>
          <a:xfrm>
            <a:off x="979805" y="5133340"/>
            <a:ext cx="2997200" cy="1656080"/>
          </a:xfrm>
          <a:prstGeom prst="rect">
            <a:avLst/>
          </a:prstGeom>
        </p:spPr>
      </p:pic>
      <p:cxnSp>
        <p:nvCxnSpPr>
          <p:cNvPr id="9" name="直接箭头连接符 8"/>
          <p:cNvCxnSpPr>
            <a:stCxn id="2" idx="3"/>
            <a:endCxn id="3" idx="1"/>
          </p:cNvCxnSpPr>
          <p:nvPr>
            <p:custDataLst>
              <p:tags r:id="rId5"/>
            </p:custDataLst>
          </p:nvPr>
        </p:nvCxnSpPr>
        <p:spPr>
          <a:xfrm>
            <a:off x="3909695" y="1470660"/>
            <a:ext cx="948055" cy="10795"/>
          </a:xfrm>
          <a:prstGeom prst="straightConnector1">
            <a:avLst/>
          </a:prstGeom>
          <a:ln w="63500"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3" name="直接箭头连接符 12"/>
          <p:cNvCxnSpPr>
            <a:stCxn id="3" idx="3"/>
            <a:endCxn id="4" idx="1"/>
          </p:cNvCxnSpPr>
          <p:nvPr>
            <p:custDataLst>
              <p:tags r:id="rId6"/>
            </p:custDataLst>
          </p:nvPr>
        </p:nvCxnSpPr>
        <p:spPr>
          <a:xfrm>
            <a:off x="7851775" y="1481455"/>
            <a:ext cx="1043305" cy="3175"/>
          </a:xfrm>
          <a:prstGeom prst="straightConnector1">
            <a:avLst/>
          </a:prstGeom>
          <a:ln w="63500"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6" name="直接箭头连接符 15"/>
          <p:cNvCxnSpPr>
            <a:stCxn id="8" idx="3"/>
            <a:endCxn id="25" idx="1"/>
          </p:cNvCxnSpPr>
          <p:nvPr/>
        </p:nvCxnSpPr>
        <p:spPr>
          <a:xfrm>
            <a:off x="3977005" y="5961380"/>
            <a:ext cx="1830070" cy="8255"/>
          </a:xfrm>
          <a:prstGeom prst="straightConnector1">
            <a:avLst/>
          </a:prstGeom>
          <a:ln w="635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8" name="肘形连接符 17"/>
          <p:cNvCxnSpPr>
            <a:stCxn id="4" idx="2"/>
            <a:endCxn id="20" idx="0"/>
          </p:cNvCxnSpPr>
          <p:nvPr/>
        </p:nvCxnSpPr>
        <p:spPr>
          <a:xfrm rot="5400000">
            <a:off x="7633335" y="865505"/>
            <a:ext cx="1224915" cy="4299585"/>
          </a:xfrm>
          <a:prstGeom prst="bentConnector3">
            <a:avLst>
              <a:gd name="adj1" fmla="val 26127"/>
            </a:avLst>
          </a:prstGeom>
          <a:ln w="63500"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9" name="直接箭头连接符 18"/>
          <p:cNvCxnSpPr>
            <a:stCxn id="5" idx="3"/>
            <a:endCxn id="20" idx="2"/>
          </p:cNvCxnSpPr>
          <p:nvPr/>
        </p:nvCxnSpPr>
        <p:spPr>
          <a:xfrm flipV="1">
            <a:off x="3920490" y="3833495"/>
            <a:ext cx="1969135" cy="635"/>
          </a:xfrm>
          <a:prstGeom prst="straightConnector1">
            <a:avLst/>
          </a:prstGeom>
          <a:ln w="63500"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0" name="椭圆 19"/>
          <p:cNvSpPr/>
          <p:nvPr/>
        </p:nvSpPr>
        <p:spPr>
          <a:xfrm>
            <a:off x="5889625" y="3628390"/>
            <a:ext cx="412750" cy="410210"/>
          </a:xfrm>
          <a:prstGeom prst="ellips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b="1"/>
              <a:t>+</a:t>
            </a:r>
            <a:endParaRPr lang="en-US" altLang="zh-CN" sz="3200" b="1"/>
          </a:p>
        </p:txBody>
      </p:sp>
      <p:cxnSp>
        <p:nvCxnSpPr>
          <p:cNvPr id="21" name="直接箭头连接符 20"/>
          <p:cNvCxnSpPr>
            <a:stCxn id="20" idx="6"/>
            <a:endCxn id="6" idx="1"/>
          </p:cNvCxnSpPr>
          <p:nvPr/>
        </p:nvCxnSpPr>
        <p:spPr>
          <a:xfrm flipV="1">
            <a:off x="6302375" y="3828415"/>
            <a:ext cx="2618105" cy="5080"/>
          </a:xfrm>
          <a:prstGeom prst="straightConnector1">
            <a:avLst/>
          </a:prstGeom>
          <a:ln w="63500">
            <a:solidFill>
              <a:srgbClr val="7030A0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2" name="直接箭头连接符 21"/>
          <p:cNvCxnSpPr/>
          <p:nvPr/>
        </p:nvCxnSpPr>
        <p:spPr>
          <a:xfrm>
            <a:off x="3920490" y="3834130"/>
            <a:ext cx="1969135" cy="15240"/>
          </a:xfrm>
          <a:prstGeom prst="straightConnector1">
            <a:avLst/>
          </a:prstGeom>
          <a:ln w="63500"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4" name="肘形连接符 23"/>
          <p:cNvCxnSpPr>
            <a:stCxn id="6" idx="2"/>
            <a:endCxn id="25" idx="0"/>
          </p:cNvCxnSpPr>
          <p:nvPr/>
        </p:nvCxnSpPr>
        <p:spPr>
          <a:xfrm rot="5400000">
            <a:off x="8055293" y="3309303"/>
            <a:ext cx="915035" cy="3790950"/>
          </a:xfrm>
          <a:prstGeom prst="bentConnector3">
            <a:avLst>
              <a:gd name="adj1" fmla="val 15197"/>
            </a:avLst>
          </a:prstGeom>
          <a:ln w="63500"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5" name="矩形 24"/>
          <p:cNvSpPr/>
          <p:nvPr/>
        </p:nvSpPr>
        <p:spPr>
          <a:xfrm>
            <a:off x="5807075" y="5662295"/>
            <a:ext cx="1619885" cy="614045"/>
          </a:xfrm>
          <a:prstGeom prst="rect">
            <a:avLst/>
          </a:prstGeom>
          <a:noFill/>
          <a:ln w="63500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>
                <a:solidFill>
                  <a:schemeClr val="tx1"/>
                </a:solidFill>
              </a:rPr>
              <a:t>替换推理结果</a:t>
            </a:r>
            <a:endParaRPr lang="zh-CN" altLang="en-US" b="1">
              <a:solidFill>
                <a:schemeClr val="tx1"/>
              </a:solidFill>
            </a:endParaRPr>
          </a:p>
          <a:p>
            <a:pPr algn="ctr"/>
            <a:r>
              <a:rPr lang="zh-CN" altLang="en-US" b="1">
                <a:solidFill>
                  <a:schemeClr val="tx1"/>
                </a:solidFill>
              </a:rPr>
              <a:t>中的图像</a:t>
            </a:r>
            <a:endParaRPr lang="zh-CN" altLang="en-US" b="1">
              <a:solidFill>
                <a:schemeClr val="tx1"/>
              </a:solidFill>
            </a:endParaRPr>
          </a:p>
        </p:txBody>
      </p:sp>
      <p:cxnSp>
        <p:nvCxnSpPr>
          <p:cNvPr id="26" name="直接箭头连接符 25"/>
          <p:cNvCxnSpPr>
            <a:stCxn id="25" idx="3"/>
            <a:endCxn id="7" idx="1"/>
          </p:cNvCxnSpPr>
          <p:nvPr/>
        </p:nvCxnSpPr>
        <p:spPr>
          <a:xfrm flipV="1">
            <a:off x="7426960" y="5969000"/>
            <a:ext cx="1503045" cy="635"/>
          </a:xfrm>
          <a:prstGeom prst="straightConnector1">
            <a:avLst/>
          </a:prstGeom>
          <a:ln w="635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7" name="文本框 26"/>
          <p:cNvSpPr txBox="1"/>
          <p:nvPr/>
        </p:nvSpPr>
        <p:spPr>
          <a:xfrm>
            <a:off x="1938655" y="151130"/>
            <a:ext cx="1079500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sz="2400" b="1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defRPr>
            </a:lvl1pPr>
          </a:lstStyle>
          <a:p>
            <a:r>
              <a:rPr lang="zh-CN" altLang="en-US" sz="2000" dirty="0"/>
              <a:t>原图像</a:t>
            </a:r>
            <a:endParaRPr lang="zh-CN" altLang="en-US" sz="2000" dirty="0"/>
          </a:p>
        </p:txBody>
      </p:sp>
      <p:sp>
        <p:nvSpPr>
          <p:cNvPr id="28" name="文本框 27"/>
          <p:cNvSpPr txBox="1"/>
          <p:nvPr>
            <p:custDataLst>
              <p:tags r:id="rId7"/>
            </p:custDataLst>
          </p:nvPr>
        </p:nvSpPr>
        <p:spPr>
          <a:xfrm>
            <a:off x="5313680" y="0"/>
            <a:ext cx="2244725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sz="2400" b="1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defRPr>
            </a:lvl1pPr>
          </a:lstStyle>
          <a:p>
            <a:r>
              <a:rPr lang="zh-CN" altLang="en-US" sz="1800" dirty="0"/>
              <a:t>对整个原图像打码</a:t>
            </a:r>
            <a:endParaRPr lang="zh-CN" altLang="en-US" sz="1800" dirty="0"/>
          </a:p>
          <a:p>
            <a:r>
              <a:rPr lang="zh-CN" altLang="en-US" sz="1800" dirty="0"/>
              <a:t>后的图像</a:t>
            </a:r>
            <a:endParaRPr lang="zh-CN" altLang="en-US" sz="1800" dirty="0"/>
          </a:p>
        </p:txBody>
      </p:sp>
      <p:sp>
        <p:nvSpPr>
          <p:cNvPr id="29" name="文本框 28"/>
          <p:cNvSpPr txBox="1"/>
          <p:nvPr>
            <p:custDataLst>
              <p:tags r:id="rId8"/>
            </p:custDataLst>
          </p:nvPr>
        </p:nvSpPr>
        <p:spPr>
          <a:xfrm>
            <a:off x="3920490" y="948690"/>
            <a:ext cx="824230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sz="2400" b="1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defRPr>
            </a:lvl1pPr>
          </a:lstStyle>
          <a:p>
            <a:r>
              <a:rPr lang="zh-CN" altLang="en-US" sz="1800" dirty="0"/>
              <a:t>打码</a:t>
            </a:r>
            <a:endParaRPr lang="zh-CN" altLang="en-US" sz="1800" dirty="0"/>
          </a:p>
        </p:txBody>
      </p:sp>
      <p:sp>
        <p:nvSpPr>
          <p:cNvPr id="30" name="文本框 29"/>
          <p:cNvSpPr txBox="1"/>
          <p:nvPr>
            <p:custDataLst>
              <p:tags r:id="rId9"/>
            </p:custDataLst>
          </p:nvPr>
        </p:nvSpPr>
        <p:spPr>
          <a:xfrm>
            <a:off x="7964805" y="948690"/>
            <a:ext cx="824230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sz="2400" b="1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defRPr>
            </a:lvl1pPr>
          </a:lstStyle>
          <a:p>
            <a:r>
              <a:rPr lang="zh-CN" altLang="en-US" sz="1800" dirty="0"/>
              <a:t>抠图</a:t>
            </a:r>
            <a:endParaRPr lang="zh-CN" altLang="en-US" sz="1800" dirty="0"/>
          </a:p>
        </p:txBody>
      </p:sp>
      <p:sp>
        <p:nvSpPr>
          <p:cNvPr id="31" name="文本框 30"/>
          <p:cNvSpPr txBox="1"/>
          <p:nvPr>
            <p:custDataLst>
              <p:tags r:id="rId10"/>
            </p:custDataLst>
          </p:nvPr>
        </p:nvSpPr>
        <p:spPr>
          <a:xfrm>
            <a:off x="9279255" y="0"/>
            <a:ext cx="2258060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sz="2400" b="1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defRPr>
            </a:lvl1pPr>
          </a:lstStyle>
          <a:p>
            <a:r>
              <a:rPr lang="zh-CN" altLang="en-US" sz="1800" dirty="0"/>
              <a:t>打码后的图像</a:t>
            </a:r>
            <a:endParaRPr lang="zh-CN" altLang="en-US" sz="1800" dirty="0"/>
          </a:p>
          <a:p>
            <a:r>
              <a:rPr lang="zh-CN" altLang="en-US" sz="1800" dirty="0"/>
              <a:t>（只有掩膜部分）</a:t>
            </a:r>
            <a:endParaRPr lang="zh-CN" altLang="en-US" sz="1800" dirty="0"/>
          </a:p>
        </p:txBody>
      </p:sp>
      <p:sp>
        <p:nvSpPr>
          <p:cNvPr id="32" name="文本框 31"/>
          <p:cNvSpPr txBox="1"/>
          <p:nvPr/>
        </p:nvSpPr>
        <p:spPr>
          <a:xfrm>
            <a:off x="1629410" y="2263775"/>
            <a:ext cx="1697990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sz="2400" b="1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defRPr>
            </a:lvl1pPr>
          </a:lstStyle>
          <a:p>
            <a:r>
              <a:rPr lang="zh-CN" altLang="en-US" sz="1800" dirty="0"/>
              <a:t>去掉掩膜部分</a:t>
            </a:r>
            <a:endParaRPr lang="zh-CN" altLang="en-US" sz="1800" dirty="0"/>
          </a:p>
          <a:p>
            <a:r>
              <a:rPr lang="zh-CN" altLang="en-US" sz="1800" dirty="0"/>
              <a:t>的图像</a:t>
            </a:r>
            <a:endParaRPr lang="zh-CN" altLang="en-US" sz="1800" dirty="0"/>
          </a:p>
        </p:txBody>
      </p:sp>
      <p:cxnSp>
        <p:nvCxnSpPr>
          <p:cNvPr id="33" name="肘形连接符 32"/>
          <p:cNvCxnSpPr/>
          <p:nvPr/>
        </p:nvCxnSpPr>
        <p:spPr>
          <a:xfrm rot="10800000" flipH="1" flipV="1">
            <a:off x="847725" y="1485900"/>
            <a:ext cx="3175" cy="2363470"/>
          </a:xfrm>
          <a:prstGeom prst="bentConnector3">
            <a:avLst>
              <a:gd name="adj1" fmla="val -23000000"/>
            </a:avLst>
          </a:prstGeom>
          <a:ln w="63500"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4" name="文本框 33"/>
          <p:cNvSpPr txBox="1"/>
          <p:nvPr/>
        </p:nvSpPr>
        <p:spPr>
          <a:xfrm>
            <a:off x="169545" y="2199005"/>
            <a:ext cx="678180" cy="9220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sz="2400" b="1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defRPr>
            </a:lvl1pPr>
          </a:lstStyle>
          <a:p>
            <a:r>
              <a:rPr lang="zh-CN" altLang="en-US" sz="1800" dirty="0"/>
              <a:t>抠掉</a:t>
            </a:r>
            <a:endParaRPr lang="zh-CN" altLang="en-US" sz="1800" dirty="0"/>
          </a:p>
          <a:p>
            <a:r>
              <a:rPr lang="zh-CN" altLang="en-US" sz="1800" dirty="0"/>
              <a:t>掩膜</a:t>
            </a:r>
            <a:endParaRPr lang="zh-CN" altLang="en-US" sz="1800" dirty="0"/>
          </a:p>
          <a:p>
            <a:r>
              <a:rPr lang="zh-CN" altLang="en-US" sz="1800" dirty="0"/>
              <a:t>部分</a:t>
            </a:r>
            <a:endParaRPr lang="zh-CN" altLang="en-US" sz="1800" dirty="0"/>
          </a:p>
        </p:txBody>
      </p:sp>
      <p:sp>
        <p:nvSpPr>
          <p:cNvPr id="35" name="文本框 34"/>
          <p:cNvSpPr txBox="1"/>
          <p:nvPr>
            <p:custDataLst>
              <p:tags r:id="rId11"/>
            </p:custDataLst>
          </p:nvPr>
        </p:nvSpPr>
        <p:spPr>
          <a:xfrm>
            <a:off x="5683885" y="4070350"/>
            <a:ext cx="824230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sz="2400" b="1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defRPr>
            </a:lvl1pPr>
          </a:lstStyle>
          <a:p>
            <a:r>
              <a:rPr lang="zh-CN" altLang="en-US" sz="1800" dirty="0"/>
              <a:t>拼接</a:t>
            </a:r>
            <a:endParaRPr lang="zh-CN" altLang="en-US" sz="1800" dirty="0"/>
          </a:p>
        </p:txBody>
      </p:sp>
      <p:sp>
        <p:nvSpPr>
          <p:cNvPr id="36" name="文本框 35"/>
          <p:cNvSpPr txBox="1"/>
          <p:nvPr>
            <p:custDataLst>
              <p:tags r:id="rId12"/>
            </p:custDataLst>
          </p:nvPr>
        </p:nvSpPr>
        <p:spPr>
          <a:xfrm>
            <a:off x="6296025" y="3121025"/>
            <a:ext cx="2599055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sz="2400" b="1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defRPr>
            </a:lvl1pPr>
          </a:lstStyle>
          <a:p>
            <a:r>
              <a:rPr lang="zh-CN" altLang="en-US" sz="1800" dirty="0"/>
              <a:t>打码图像</a:t>
            </a:r>
            <a:endParaRPr lang="zh-CN" altLang="en-US" sz="1800" dirty="0"/>
          </a:p>
          <a:p>
            <a:r>
              <a:rPr lang="zh-CN" altLang="en-US" sz="1800" dirty="0"/>
              <a:t>（无预测框和分割区域）</a:t>
            </a:r>
            <a:endParaRPr lang="zh-CN" altLang="en-US" sz="1800" dirty="0"/>
          </a:p>
        </p:txBody>
      </p:sp>
      <p:sp>
        <p:nvSpPr>
          <p:cNvPr id="37" name="文本框 36"/>
          <p:cNvSpPr txBox="1"/>
          <p:nvPr>
            <p:custDataLst>
              <p:tags r:id="rId13"/>
            </p:custDataLst>
          </p:nvPr>
        </p:nvSpPr>
        <p:spPr>
          <a:xfrm>
            <a:off x="4224020" y="5304155"/>
            <a:ext cx="1193800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sz="2400" b="1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defRPr>
            </a:lvl1pPr>
          </a:lstStyle>
          <a:p>
            <a:r>
              <a:rPr lang="zh-CN" altLang="en-US" sz="1800" dirty="0"/>
              <a:t>未打码的推理结果</a:t>
            </a:r>
            <a:endParaRPr lang="zh-CN" altLang="en-US" sz="1800" dirty="0"/>
          </a:p>
        </p:txBody>
      </p:sp>
      <p:sp>
        <p:nvSpPr>
          <p:cNvPr id="38" name="文本框 37"/>
          <p:cNvSpPr txBox="1"/>
          <p:nvPr>
            <p:custDataLst>
              <p:tags r:id="rId14"/>
            </p:custDataLst>
          </p:nvPr>
        </p:nvSpPr>
        <p:spPr>
          <a:xfrm>
            <a:off x="7558405" y="5308600"/>
            <a:ext cx="1193800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sz="2400" b="1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defRPr>
            </a:lvl1pPr>
          </a:lstStyle>
          <a:p>
            <a:r>
              <a:rPr lang="zh-CN" altLang="en-US" sz="1800" dirty="0"/>
              <a:t>打码的</a:t>
            </a:r>
            <a:endParaRPr lang="zh-CN" altLang="en-US" sz="1800" dirty="0"/>
          </a:p>
          <a:p>
            <a:r>
              <a:rPr lang="zh-CN" altLang="en-US" sz="1800" dirty="0"/>
              <a:t>推理结果</a:t>
            </a:r>
            <a:endParaRPr lang="zh-CN" altLang="en-US" sz="1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Figure of 0001031"/>
          <p:cNvPicPr>
            <a:picLocks noChangeAspect="1"/>
          </p:cNvPicPr>
          <p:nvPr/>
        </p:nvPicPr>
        <p:blipFill>
          <a:blip r:embed="rId1"/>
          <a:srcRect l="9979" t="11224" r="9073" b="11808"/>
          <a:stretch>
            <a:fillRect/>
          </a:stretch>
        </p:blipFill>
        <p:spPr>
          <a:xfrm>
            <a:off x="21590" y="829945"/>
            <a:ext cx="12206605" cy="5796280"/>
          </a:xfrm>
          <a:prstGeom prst="rect">
            <a:avLst/>
          </a:prstGeom>
        </p:spPr>
      </p:pic>
      <p:sp>
        <p:nvSpPr>
          <p:cNvPr id="17" name="文本框 16"/>
          <p:cNvSpPr txBox="1"/>
          <p:nvPr/>
        </p:nvSpPr>
        <p:spPr>
          <a:xfrm>
            <a:off x="586105" y="189230"/>
            <a:ext cx="1932305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sz="2400" b="1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defRPr>
            </a:lvl1pPr>
          </a:lstStyle>
          <a:p>
            <a:r>
              <a:rPr lang="zh-CN" altLang="en-US" dirty="0"/>
              <a:t>三、推理</a:t>
            </a:r>
            <a:endParaRPr lang="zh-CN" altLang="en-US" dirty="0"/>
          </a:p>
        </p:txBody>
      </p:sp>
      <p:sp>
        <p:nvSpPr>
          <p:cNvPr id="27" name="文本框 26"/>
          <p:cNvSpPr txBox="1"/>
          <p:nvPr/>
        </p:nvSpPr>
        <p:spPr>
          <a:xfrm>
            <a:off x="4479925" y="123190"/>
            <a:ext cx="3261995" cy="70675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sz="2400" b="1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defRPr>
            </a:lvl1pPr>
          </a:lstStyle>
          <a:p>
            <a:r>
              <a:rPr lang="zh-CN" altLang="en-US" sz="2000" dirty="0"/>
              <a:t>对推理结果打码</a:t>
            </a:r>
            <a:endParaRPr lang="zh-CN" altLang="en-US" sz="2000" dirty="0"/>
          </a:p>
          <a:p>
            <a:r>
              <a:rPr lang="zh-CN" altLang="en-US" sz="2000" dirty="0"/>
              <a:t>打码过程中的图像</a:t>
            </a:r>
            <a:endParaRPr lang="zh-CN" altLang="en-US" sz="2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-318784" y="-438150"/>
            <a:ext cx="2054282" cy="7742402"/>
            <a:chOff x="-318759" y="-438055"/>
            <a:chExt cx="2054231" cy="7742211"/>
          </a:xfrm>
        </p:grpSpPr>
        <p:grpSp>
          <p:nvGrpSpPr>
            <p:cNvPr id="3" name="组合 2"/>
            <p:cNvGrpSpPr/>
            <p:nvPr/>
          </p:nvGrpSpPr>
          <p:grpSpPr>
            <a:xfrm>
              <a:off x="-318758" y="-438055"/>
              <a:ext cx="2054230" cy="1341411"/>
              <a:chOff x="-318758" y="-438055"/>
              <a:chExt cx="2054230" cy="1341411"/>
            </a:xfrm>
          </p:grpSpPr>
          <p:sp>
            <p:nvSpPr>
              <p:cNvPr id="7" name="任意多边形 6"/>
              <p:cNvSpPr/>
              <p:nvPr/>
            </p:nvSpPr>
            <p:spPr>
              <a:xfrm rot="2700000">
                <a:off x="103782" y="-728333"/>
                <a:ext cx="1209149" cy="2054230"/>
              </a:xfrm>
              <a:custGeom>
                <a:avLst/>
                <a:gdLst>
                  <a:gd name="connsiteX0" fmla="*/ 579225 w 1209149"/>
                  <a:gd name="connsiteY0" fmla="*/ 629924 h 2054230"/>
                  <a:gd name="connsiteX1" fmla="*/ 1209149 w 1209149"/>
                  <a:gd name="connsiteY1" fmla="*/ 0 h 2054230"/>
                  <a:gd name="connsiteX2" fmla="*/ 1209149 w 1209149"/>
                  <a:gd name="connsiteY2" fmla="*/ 2054230 h 2054230"/>
                  <a:gd name="connsiteX3" fmla="*/ 629924 w 1209149"/>
                  <a:gd name="connsiteY3" fmla="*/ 2054230 h 2054230"/>
                  <a:gd name="connsiteX4" fmla="*/ 0 w 1209149"/>
                  <a:gd name="connsiteY4" fmla="*/ 1424306 h 2054230"/>
                  <a:gd name="connsiteX5" fmla="*/ 579225 w 1209149"/>
                  <a:gd name="connsiteY5" fmla="*/ 1424306 h 20542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209149" h="2054230">
                    <a:moveTo>
                      <a:pt x="579225" y="629924"/>
                    </a:moveTo>
                    <a:lnTo>
                      <a:pt x="1209149" y="0"/>
                    </a:lnTo>
                    <a:lnTo>
                      <a:pt x="1209149" y="2054230"/>
                    </a:lnTo>
                    <a:lnTo>
                      <a:pt x="629924" y="2054230"/>
                    </a:lnTo>
                    <a:lnTo>
                      <a:pt x="0" y="1424306"/>
                    </a:lnTo>
                    <a:lnTo>
                      <a:pt x="579225" y="1424306"/>
                    </a:lnTo>
                    <a:close/>
                  </a:path>
                </a:pathLst>
              </a:custGeom>
              <a:solidFill>
                <a:srgbClr val="5B6A7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8" name="任意多边形 7"/>
              <p:cNvSpPr/>
              <p:nvPr/>
            </p:nvSpPr>
            <p:spPr>
              <a:xfrm rot="2700000">
                <a:off x="28669" y="-657766"/>
                <a:ext cx="1072529" cy="1511952"/>
              </a:xfrm>
              <a:custGeom>
                <a:avLst/>
                <a:gdLst>
                  <a:gd name="connsiteX0" fmla="*/ 0 w 1072529"/>
                  <a:gd name="connsiteY0" fmla="*/ 1072529 h 1511952"/>
                  <a:gd name="connsiteX1" fmla="*/ 1072529 w 1072529"/>
                  <a:gd name="connsiteY1" fmla="*/ 0 h 1511952"/>
                  <a:gd name="connsiteX2" fmla="*/ 1072529 w 1072529"/>
                  <a:gd name="connsiteY2" fmla="*/ 1511952 h 1511952"/>
                  <a:gd name="connsiteX3" fmla="*/ 439424 w 1072529"/>
                  <a:gd name="connsiteY3" fmla="*/ 1511952 h 15119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72529" h="1511952">
                    <a:moveTo>
                      <a:pt x="0" y="1072529"/>
                    </a:moveTo>
                    <a:lnTo>
                      <a:pt x="1072529" y="0"/>
                    </a:lnTo>
                    <a:lnTo>
                      <a:pt x="1072529" y="1511952"/>
                    </a:lnTo>
                    <a:lnTo>
                      <a:pt x="439424" y="1511952"/>
                    </a:lnTo>
                    <a:close/>
                  </a:path>
                </a:pathLst>
              </a:custGeom>
              <a:noFill/>
              <a:ln w="57150">
                <a:gradFill flip="none" rotWithShape="1">
                  <a:gsLst>
                    <a:gs pos="0">
                      <a:srgbClr val="D7B26C"/>
                    </a:gs>
                    <a:gs pos="67000">
                      <a:srgbClr val="D7B26C">
                        <a:alpha val="40000"/>
                      </a:srgbClr>
                    </a:gs>
                    <a:gs pos="100000">
                      <a:srgbClr val="D7B26C">
                        <a:alpha val="65000"/>
                      </a:srgbClr>
                    </a:gs>
                  </a:gsLst>
                  <a:lin ang="16200000" scaled="1"/>
                  <a:tileRect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4" name="组合 3"/>
            <p:cNvGrpSpPr/>
            <p:nvPr/>
          </p:nvGrpSpPr>
          <p:grpSpPr>
            <a:xfrm flipV="1">
              <a:off x="-318759" y="5962745"/>
              <a:ext cx="2054230" cy="1341411"/>
              <a:chOff x="-318758" y="-438055"/>
              <a:chExt cx="2054230" cy="1341411"/>
            </a:xfrm>
          </p:grpSpPr>
          <p:sp>
            <p:nvSpPr>
              <p:cNvPr id="5" name="任意多边形 4"/>
              <p:cNvSpPr/>
              <p:nvPr/>
            </p:nvSpPr>
            <p:spPr>
              <a:xfrm rot="2700000">
                <a:off x="103782" y="-728333"/>
                <a:ext cx="1209149" cy="2054230"/>
              </a:xfrm>
              <a:custGeom>
                <a:avLst/>
                <a:gdLst>
                  <a:gd name="connsiteX0" fmla="*/ 579225 w 1209149"/>
                  <a:gd name="connsiteY0" fmla="*/ 629924 h 2054230"/>
                  <a:gd name="connsiteX1" fmla="*/ 1209149 w 1209149"/>
                  <a:gd name="connsiteY1" fmla="*/ 0 h 2054230"/>
                  <a:gd name="connsiteX2" fmla="*/ 1209149 w 1209149"/>
                  <a:gd name="connsiteY2" fmla="*/ 2054230 h 2054230"/>
                  <a:gd name="connsiteX3" fmla="*/ 629924 w 1209149"/>
                  <a:gd name="connsiteY3" fmla="*/ 2054230 h 2054230"/>
                  <a:gd name="connsiteX4" fmla="*/ 0 w 1209149"/>
                  <a:gd name="connsiteY4" fmla="*/ 1424306 h 2054230"/>
                  <a:gd name="connsiteX5" fmla="*/ 579225 w 1209149"/>
                  <a:gd name="connsiteY5" fmla="*/ 1424306 h 20542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209149" h="2054230">
                    <a:moveTo>
                      <a:pt x="579225" y="629924"/>
                    </a:moveTo>
                    <a:lnTo>
                      <a:pt x="1209149" y="0"/>
                    </a:lnTo>
                    <a:lnTo>
                      <a:pt x="1209149" y="2054230"/>
                    </a:lnTo>
                    <a:lnTo>
                      <a:pt x="629924" y="2054230"/>
                    </a:lnTo>
                    <a:lnTo>
                      <a:pt x="0" y="1424306"/>
                    </a:lnTo>
                    <a:lnTo>
                      <a:pt x="579225" y="1424306"/>
                    </a:lnTo>
                    <a:close/>
                  </a:path>
                </a:pathLst>
              </a:custGeom>
              <a:solidFill>
                <a:srgbClr val="5B6A7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6" name="任意多边形 5"/>
              <p:cNvSpPr/>
              <p:nvPr/>
            </p:nvSpPr>
            <p:spPr>
              <a:xfrm rot="2700000">
                <a:off x="28669" y="-657766"/>
                <a:ext cx="1072529" cy="1511952"/>
              </a:xfrm>
              <a:custGeom>
                <a:avLst/>
                <a:gdLst>
                  <a:gd name="connsiteX0" fmla="*/ 0 w 1072529"/>
                  <a:gd name="connsiteY0" fmla="*/ 1072529 h 1511952"/>
                  <a:gd name="connsiteX1" fmla="*/ 1072529 w 1072529"/>
                  <a:gd name="connsiteY1" fmla="*/ 0 h 1511952"/>
                  <a:gd name="connsiteX2" fmla="*/ 1072529 w 1072529"/>
                  <a:gd name="connsiteY2" fmla="*/ 1511952 h 1511952"/>
                  <a:gd name="connsiteX3" fmla="*/ 439424 w 1072529"/>
                  <a:gd name="connsiteY3" fmla="*/ 1511952 h 15119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72529" h="1511952">
                    <a:moveTo>
                      <a:pt x="0" y="1072529"/>
                    </a:moveTo>
                    <a:lnTo>
                      <a:pt x="1072529" y="0"/>
                    </a:lnTo>
                    <a:lnTo>
                      <a:pt x="1072529" y="1511952"/>
                    </a:lnTo>
                    <a:lnTo>
                      <a:pt x="439424" y="1511952"/>
                    </a:lnTo>
                    <a:close/>
                  </a:path>
                </a:pathLst>
              </a:custGeom>
              <a:noFill/>
              <a:ln w="57150">
                <a:gradFill flip="none" rotWithShape="1">
                  <a:gsLst>
                    <a:gs pos="0">
                      <a:srgbClr val="D7B26C"/>
                    </a:gs>
                    <a:gs pos="67000">
                      <a:srgbClr val="D7B26C">
                        <a:alpha val="40000"/>
                      </a:srgbClr>
                    </a:gs>
                    <a:gs pos="100000">
                      <a:srgbClr val="D7B26C">
                        <a:alpha val="65000"/>
                      </a:srgbClr>
                    </a:gs>
                  </a:gsLst>
                  <a:lin ang="16200000" scaled="1"/>
                  <a:tileRect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grpSp>
        <p:nvGrpSpPr>
          <p:cNvPr id="9" name="组合 8"/>
          <p:cNvGrpSpPr/>
          <p:nvPr/>
        </p:nvGrpSpPr>
        <p:grpSpPr>
          <a:xfrm>
            <a:off x="9629471" y="-57386"/>
            <a:ext cx="4744029" cy="6972537"/>
            <a:chOff x="9629471" y="-57386"/>
            <a:chExt cx="4744029" cy="6972537"/>
          </a:xfrm>
        </p:grpSpPr>
        <p:sp>
          <p:nvSpPr>
            <p:cNvPr id="10" name="任意多边形 9"/>
            <p:cNvSpPr/>
            <p:nvPr/>
          </p:nvSpPr>
          <p:spPr>
            <a:xfrm rot="2700000">
              <a:off x="10004350" y="1244426"/>
              <a:ext cx="4369150" cy="4369150"/>
            </a:xfrm>
            <a:custGeom>
              <a:avLst/>
              <a:gdLst>
                <a:gd name="connsiteX0" fmla="*/ 0 w 4369150"/>
                <a:gd name="connsiteY0" fmla="*/ 0 h 4369150"/>
                <a:gd name="connsiteX1" fmla="*/ 875900 w 4369150"/>
                <a:gd name="connsiteY1" fmla="*/ 875899 h 4369150"/>
                <a:gd name="connsiteX2" fmla="*/ 875899 w 4369150"/>
                <a:gd name="connsiteY2" fmla="*/ 3493251 h 4369150"/>
                <a:gd name="connsiteX3" fmla="*/ 3493251 w 4369150"/>
                <a:gd name="connsiteY3" fmla="*/ 3493251 h 4369150"/>
                <a:gd name="connsiteX4" fmla="*/ 4369150 w 4369150"/>
                <a:gd name="connsiteY4" fmla="*/ 4369150 h 4369150"/>
                <a:gd name="connsiteX5" fmla="*/ 0 w 4369150"/>
                <a:gd name="connsiteY5" fmla="*/ 4369150 h 4369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369150" h="4369150">
                  <a:moveTo>
                    <a:pt x="0" y="0"/>
                  </a:moveTo>
                  <a:lnTo>
                    <a:pt x="875900" y="875899"/>
                  </a:lnTo>
                  <a:lnTo>
                    <a:pt x="875899" y="3493251"/>
                  </a:lnTo>
                  <a:lnTo>
                    <a:pt x="3493251" y="3493251"/>
                  </a:lnTo>
                  <a:lnTo>
                    <a:pt x="4369150" y="4369150"/>
                  </a:lnTo>
                  <a:lnTo>
                    <a:pt x="0" y="4369150"/>
                  </a:lnTo>
                  <a:close/>
                </a:path>
              </a:pathLst>
            </a:custGeom>
            <a:solidFill>
              <a:srgbClr val="5B6A7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grpSp>
          <p:nvGrpSpPr>
            <p:cNvPr id="11" name="组合 10"/>
            <p:cNvGrpSpPr/>
            <p:nvPr/>
          </p:nvGrpSpPr>
          <p:grpSpPr>
            <a:xfrm>
              <a:off x="9629471" y="-57386"/>
              <a:ext cx="2620422" cy="6972537"/>
              <a:chOff x="9629471" y="-57386"/>
              <a:chExt cx="2620422" cy="6972537"/>
            </a:xfrm>
          </p:grpSpPr>
          <p:sp>
            <p:nvSpPr>
              <p:cNvPr id="12" name="任意多边形 11"/>
              <p:cNvSpPr/>
              <p:nvPr/>
            </p:nvSpPr>
            <p:spPr>
              <a:xfrm>
                <a:off x="10177462" y="5889069"/>
                <a:ext cx="2014538" cy="1007269"/>
              </a:xfrm>
              <a:custGeom>
                <a:avLst/>
                <a:gdLst>
                  <a:gd name="connsiteX0" fmla="*/ 1007269 w 2014538"/>
                  <a:gd name="connsiteY0" fmla="*/ 0 h 1007269"/>
                  <a:gd name="connsiteX1" fmla="*/ 2014538 w 2014538"/>
                  <a:gd name="connsiteY1" fmla="*/ 1007269 h 1007269"/>
                  <a:gd name="connsiteX2" fmla="*/ 0 w 2014538"/>
                  <a:gd name="connsiteY2" fmla="*/ 1007269 h 10072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014538" h="1007269">
                    <a:moveTo>
                      <a:pt x="1007269" y="0"/>
                    </a:moveTo>
                    <a:lnTo>
                      <a:pt x="2014538" y="1007269"/>
                    </a:lnTo>
                    <a:lnTo>
                      <a:pt x="0" y="1007269"/>
                    </a:lnTo>
                    <a:close/>
                  </a:path>
                </a:pathLst>
              </a:custGeom>
              <a:solidFill>
                <a:srgbClr val="5B6A7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" name="任意多边形 12"/>
              <p:cNvSpPr/>
              <p:nvPr/>
            </p:nvSpPr>
            <p:spPr>
              <a:xfrm>
                <a:off x="9901083" y="2840615"/>
                <a:ext cx="2329761" cy="4074536"/>
              </a:xfrm>
              <a:custGeom>
                <a:avLst/>
                <a:gdLst>
                  <a:gd name="connsiteX0" fmla="*/ 2329761 w 2329761"/>
                  <a:gd name="connsiteY0" fmla="*/ 0 h 4074536"/>
                  <a:gd name="connsiteX1" fmla="*/ 2329761 w 2329761"/>
                  <a:gd name="connsiteY1" fmla="*/ 4074536 h 4074536"/>
                  <a:gd name="connsiteX2" fmla="*/ 1744775 w 2329761"/>
                  <a:gd name="connsiteY2" fmla="*/ 4074536 h 4074536"/>
                  <a:gd name="connsiteX3" fmla="*/ 0 w 2329761"/>
                  <a:gd name="connsiteY3" fmla="*/ 2329761 h 40745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329761" h="4074536">
                    <a:moveTo>
                      <a:pt x="2329761" y="0"/>
                    </a:moveTo>
                    <a:lnTo>
                      <a:pt x="2329761" y="4074536"/>
                    </a:lnTo>
                    <a:lnTo>
                      <a:pt x="1744775" y="4074536"/>
                    </a:lnTo>
                    <a:lnTo>
                      <a:pt x="0" y="2329761"/>
                    </a:lnTo>
                    <a:close/>
                  </a:path>
                </a:pathLst>
              </a:custGeom>
              <a:noFill/>
              <a:ln w="57150">
                <a:gradFill flip="none" rotWithShape="1">
                  <a:gsLst>
                    <a:gs pos="0">
                      <a:srgbClr val="D7B26C"/>
                    </a:gs>
                    <a:gs pos="31000">
                      <a:srgbClr val="D7B26C">
                        <a:alpha val="27000"/>
                      </a:srgbClr>
                    </a:gs>
                    <a:gs pos="65000">
                      <a:srgbClr val="D7B26C"/>
                    </a:gs>
                    <a:gs pos="100000">
                      <a:srgbClr val="D7B26C">
                        <a:alpha val="0"/>
                      </a:srgbClr>
                    </a:gs>
                  </a:gsLst>
                  <a:lin ang="0" scaled="1"/>
                  <a:tileRect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" name="任意多边形 13"/>
              <p:cNvSpPr/>
              <p:nvPr/>
            </p:nvSpPr>
            <p:spPr>
              <a:xfrm>
                <a:off x="10162403" y="3101936"/>
                <a:ext cx="2068440" cy="3811626"/>
              </a:xfrm>
              <a:custGeom>
                <a:avLst/>
                <a:gdLst>
                  <a:gd name="connsiteX0" fmla="*/ 2068440 w 2068440"/>
                  <a:gd name="connsiteY0" fmla="*/ 0 h 3811626"/>
                  <a:gd name="connsiteX1" fmla="*/ 2068440 w 2068440"/>
                  <a:gd name="connsiteY1" fmla="*/ 3811626 h 3811626"/>
                  <a:gd name="connsiteX2" fmla="*/ 1743186 w 2068440"/>
                  <a:gd name="connsiteY2" fmla="*/ 3811626 h 3811626"/>
                  <a:gd name="connsiteX3" fmla="*/ 0 w 2068440"/>
                  <a:gd name="connsiteY3" fmla="*/ 2068440 h 38116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068440" h="3811626">
                    <a:moveTo>
                      <a:pt x="2068440" y="0"/>
                    </a:moveTo>
                    <a:lnTo>
                      <a:pt x="2068440" y="3811626"/>
                    </a:lnTo>
                    <a:lnTo>
                      <a:pt x="1743186" y="3811626"/>
                    </a:lnTo>
                    <a:lnTo>
                      <a:pt x="0" y="2068440"/>
                    </a:lnTo>
                    <a:close/>
                  </a:path>
                </a:pathLst>
              </a:custGeom>
              <a:noFill/>
              <a:ln w="57150">
                <a:gradFill flip="none" rotWithShape="1">
                  <a:gsLst>
                    <a:gs pos="0">
                      <a:srgbClr val="D7B26C"/>
                    </a:gs>
                    <a:gs pos="31000">
                      <a:srgbClr val="D7B26C">
                        <a:alpha val="27000"/>
                      </a:srgbClr>
                    </a:gs>
                    <a:gs pos="65000">
                      <a:srgbClr val="D7B26C"/>
                    </a:gs>
                    <a:gs pos="100000">
                      <a:srgbClr val="D7B26C">
                        <a:alpha val="0"/>
                      </a:srgbClr>
                    </a:gs>
                  </a:gsLst>
                  <a:lin ang="0" scaled="1"/>
                  <a:tileRect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" name="任意多边形 14"/>
              <p:cNvSpPr/>
              <p:nvPr/>
            </p:nvSpPr>
            <p:spPr>
              <a:xfrm>
                <a:off x="9901084" y="-57386"/>
                <a:ext cx="2348809" cy="4093820"/>
              </a:xfrm>
              <a:custGeom>
                <a:avLst/>
                <a:gdLst>
                  <a:gd name="connsiteX0" fmla="*/ 1745011 w 2348809"/>
                  <a:gd name="connsiteY0" fmla="*/ 0 h 4093820"/>
                  <a:gd name="connsiteX1" fmla="*/ 2348809 w 2348809"/>
                  <a:gd name="connsiteY1" fmla="*/ 0 h 4093820"/>
                  <a:gd name="connsiteX2" fmla="*/ 2348809 w 2348809"/>
                  <a:gd name="connsiteY2" fmla="*/ 4093820 h 4093820"/>
                  <a:gd name="connsiteX3" fmla="*/ 0 w 2348809"/>
                  <a:gd name="connsiteY3" fmla="*/ 1745011 h 40938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348809" h="4093820">
                    <a:moveTo>
                      <a:pt x="1745011" y="0"/>
                    </a:moveTo>
                    <a:lnTo>
                      <a:pt x="2348809" y="0"/>
                    </a:lnTo>
                    <a:lnTo>
                      <a:pt x="2348809" y="4093820"/>
                    </a:lnTo>
                    <a:lnTo>
                      <a:pt x="0" y="1745011"/>
                    </a:lnTo>
                    <a:close/>
                  </a:path>
                </a:pathLst>
              </a:custGeom>
              <a:noFill/>
              <a:ln w="57150">
                <a:gradFill flip="none" rotWithShape="1">
                  <a:gsLst>
                    <a:gs pos="0">
                      <a:srgbClr val="D7B26C"/>
                    </a:gs>
                    <a:gs pos="31000">
                      <a:srgbClr val="D7B26C">
                        <a:alpha val="27000"/>
                      </a:srgbClr>
                    </a:gs>
                    <a:gs pos="65000">
                      <a:srgbClr val="D7B26C"/>
                    </a:gs>
                    <a:gs pos="100000">
                      <a:srgbClr val="D7B26C">
                        <a:alpha val="0"/>
                      </a:srgbClr>
                    </a:gs>
                  </a:gsLst>
                  <a:lin ang="0" scaled="1"/>
                  <a:tileRect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" name="任意多边形 15"/>
              <p:cNvSpPr/>
              <p:nvPr/>
            </p:nvSpPr>
            <p:spPr>
              <a:xfrm>
                <a:off x="10162404" y="-57149"/>
                <a:ext cx="2057866" cy="3802641"/>
              </a:xfrm>
              <a:custGeom>
                <a:avLst/>
                <a:gdLst>
                  <a:gd name="connsiteX0" fmla="*/ 1744775 w 2057866"/>
                  <a:gd name="connsiteY0" fmla="*/ 0 h 3802641"/>
                  <a:gd name="connsiteX1" fmla="*/ 2057866 w 2057866"/>
                  <a:gd name="connsiteY1" fmla="*/ 0 h 3802641"/>
                  <a:gd name="connsiteX2" fmla="*/ 2057866 w 2057866"/>
                  <a:gd name="connsiteY2" fmla="*/ 3802641 h 3802641"/>
                  <a:gd name="connsiteX3" fmla="*/ 0 w 2057866"/>
                  <a:gd name="connsiteY3" fmla="*/ 1744775 h 38026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057866" h="3802641">
                    <a:moveTo>
                      <a:pt x="1744775" y="0"/>
                    </a:moveTo>
                    <a:lnTo>
                      <a:pt x="2057866" y="0"/>
                    </a:lnTo>
                    <a:lnTo>
                      <a:pt x="2057866" y="3802641"/>
                    </a:lnTo>
                    <a:lnTo>
                      <a:pt x="0" y="1744775"/>
                    </a:lnTo>
                    <a:close/>
                  </a:path>
                </a:pathLst>
              </a:custGeom>
              <a:noFill/>
              <a:ln w="57150">
                <a:gradFill flip="none" rotWithShape="1">
                  <a:gsLst>
                    <a:gs pos="0">
                      <a:srgbClr val="D7B26C"/>
                    </a:gs>
                    <a:gs pos="31000">
                      <a:srgbClr val="D7B26C">
                        <a:alpha val="27000"/>
                      </a:srgbClr>
                    </a:gs>
                    <a:gs pos="65000">
                      <a:srgbClr val="D7B26C"/>
                    </a:gs>
                    <a:gs pos="100000">
                      <a:srgbClr val="D7B26C">
                        <a:alpha val="0"/>
                      </a:srgbClr>
                    </a:gs>
                  </a:gsLst>
                  <a:lin ang="0" scaled="1"/>
                  <a:tileRect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" name="任意多边形 16"/>
              <p:cNvSpPr/>
              <p:nvPr/>
            </p:nvSpPr>
            <p:spPr>
              <a:xfrm>
                <a:off x="9629471" y="857250"/>
                <a:ext cx="2601373" cy="5143500"/>
              </a:xfrm>
              <a:custGeom>
                <a:avLst/>
                <a:gdLst>
                  <a:gd name="connsiteX0" fmla="*/ 2571750 w 2601373"/>
                  <a:gd name="connsiteY0" fmla="*/ 0 h 5143500"/>
                  <a:gd name="connsiteX1" fmla="*/ 2601373 w 2601373"/>
                  <a:gd name="connsiteY1" fmla="*/ 29623 h 5143500"/>
                  <a:gd name="connsiteX2" fmla="*/ 2601373 w 2601373"/>
                  <a:gd name="connsiteY2" fmla="*/ 5113877 h 5143500"/>
                  <a:gd name="connsiteX3" fmla="*/ 2571750 w 2601373"/>
                  <a:gd name="connsiteY3" fmla="*/ 5143500 h 5143500"/>
                  <a:gd name="connsiteX4" fmla="*/ 0 w 2601373"/>
                  <a:gd name="connsiteY4" fmla="*/ 2571750 h 51435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601373" h="5143500">
                    <a:moveTo>
                      <a:pt x="2571750" y="0"/>
                    </a:moveTo>
                    <a:lnTo>
                      <a:pt x="2601373" y="29623"/>
                    </a:lnTo>
                    <a:lnTo>
                      <a:pt x="2601373" y="5113877"/>
                    </a:lnTo>
                    <a:lnTo>
                      <a:pt x="2571750" y="5143500"/>
                    </a:lnTo>
                    <a:lnTo>
                      <a:pt x="0" y="2571750"/>
                    </a:lnTo>
                    <a:close/>
                  </a:path>
                </a:pathLst>
              </a:custGeom>
              <a:noFill/>
              <a:ln w="57150">
                <a:gradFill flip="none" rotWithShape="1">
                  <a:gsLst>
                    <a:gs pos="0">
                      <a:srgbClr val="D7B26C"/>
                    </a:gs>
                    <a:gs pos="57000">
                      <a:srgbClr val="D7B26C">
                        <a:alpha val="28000"/>
                      </a:srgbClr>
                    </a:gs>
                    <a:gs pos="100000">
                      <a:srgbClr val="D7B26C">
                        <a:alpha val="0"/>
                      </a:srgbClr>
                    </a:gs>
                  </a:gsLst>
                  <a:lin ang="0" scaled="1"/>
                  <a:tileRect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" name="任意多边形 17"/>
              <p:cNvSpPr/>
              <p:nvPr/>
            </p:nvSpPr>
            <p:spPr>
              <a:xfrm>
                <a:off x="10734370" y="1962150"/>
                <a:ext cx="1466850" cy="2933700"/>
              </a:xfrm>
              <a:custGeom>
                <a:avLst/>
                <a:gdLst>
                  <a:gd name="connsiteX0" fmla="*/ 1466850 w 1466850"/>
                  <a:gd name="connsiteY0" fmla="*/ 0 h 2933700"/>
                  <a:gd name="connsiteX1" fmla="*/ 1466850 w 1466850"/>
                  <a:gd name="connsiteY1" fmla="*/ 2933700 h 2933700"/>
                  <a:gd name="connsiteX2" fmla="*/ 0 w 1466850"/>
                  <a:gd name="connsiteY2" fmla="*/ 1466850 h 29337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466850" h="2933700">
                    <a:moveTo>
                      <a:pt x="1466850" y="0"/>
                    </a:moveTo>
                    <a:lnTo>
                      <a:pt x="1466850" y="2933700"/>
                    </a:lnTo>
                    <a:lnTo>
                      <a:pt x="0" y="1466850"/>
                    </a:lnTo>
                    <a:close/>
                  </a:path>
                </a:pathLst>
              </a:custGeom>
              <a:solidFill>
                <a:srgbClr val="5B6A7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" name="任意多边形 18"/>
              <p:cNvSpPr/>
              <p:nvPr/>
            </p:nvSpPr>
            <p:spPr>
              <a:xfrm>
                <a:off x="11237917" y="2465696"/>
                <a:ext cx="973877" cy="1926608"/>
              </a:xfrm>
              <a:custGeom>
                <a:avLst/>
                <a:gdLst>
                  <a:gd name="connsiteX0" fmla="*/ 963304 w 973877"/>
                  <a:gd name="connsiteY0" fmla="*/ 0 h 1926608"/>
                  <a:gd name="connsiteX1" fmla="*/ 973877 w 973877"/>
                  <a:gd name="connsiteY1" fmla="*/ 10573 h 1926608"/>
                  <a:gd name="connsiteX2" fmla="*/ 973877 w 973877"/>
                  <a:gd name="connsiteY2" fmla="*/ 1916035 h 1926608"/>
                  <a:gd name="connsiteX3" fmla="*/ 963304 w 973877"/>
                  <a:gd name="connsiteY3" fmla="*/ 1926608 h 1926608"/>
                  <a:gd name="connsiteX4" fmla="*/ 0 w 973877"/>
                  <a:gd name="connsiteY4" fmla="*/ 963304 h 19266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73877" h="1926608">
                    <a:moveTo>
                      <a:pt x="963304" y="0"/>
                    </a:moveTo>
                    <a:lnTo>
                      <a:pt x="973877" y="10573"/>
                    </a:lnTo>
                    <a:lnTo>
                      <a:pt x="973877" y="1916035"/>
                    </a:lnTo>
                    <a:lnTo>
                      <a:pt x="963304" y="1926608"/>
                    </a:lnTo>
                    <a:lnTo>
                      <a:pt x="0" y="963304"/>
                    </a:lnTo>
                    <a:close/>
                  </a:path>
                </a:pathLst>
              </a:custGeom>
              <a:noFill/>
              <a:ln w="57150">
                <a:gradFill flip="none" rotWithShape="1">
                  <a:gsLst>
                    <a:gs pos="0">
                      <a:srgbClr val="D7B26C"/>
                    </a:gs>
                    <a:gs pos="57000">
                      <a:srgbClr val="D7B26C">
                        <a:alpha val="28000"/>
                      </a:srgbClr>
                    </a:gs>
                    <a:gs pos="100000">
                      <a:srgbClr val="D7B26C">
                        <a:alpha val="0"/>
                      </a:srgbClr>
                    </a:gs>
                  </a:gsLst>
                  <a:lin ang="0" scaled="1"/>
                  <a:tileRect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cxnSp>
        <p:nvCxnSpPr>
          <p:cNvPr id="20" name="直接连接符 19"/>
          <p:cNvCxnSpPr>
            <a:stCxn id="7" idx="2"/>
            <a:endCxn id="5" idx="2"/>
          </p:cNvCxnSpPr>
          <p:nvPr/>
        </p:nvCxnSpPr>
        <p:spPr>
          <a:xfrm flipH="1">
            <a:off x="409568" y="1452513"/>
            <a:ext cx="1" cy="3961076"/>
          </a:xfrm>
          <a:prstGeom prst="line">
            <a:avLst/>
          </a:prstGeom>
          <a:ln w="38100">
            <a:gradFill flip="none" rotWithShape="1">
              <a:gsLst>
                <a:gs pos="0">
                  <a:srgbClr val="D7B26C"/>
                </a:gs>
                <a:gs pos="47000">
                  <a:srgbClr val="D7B26C">
                    <a:alpha val="64000"/>
                  </a:srgbClr>
                </a:gs>
                <a:gs pos="79000">
                  <a:srgbClr val="D7B26C">
                    <a:alpha val="36000"/>
                  </a:srgbClr>
                </a:gs>
                <a:gs pos="25000">
                  <a:srgbClr val="D7B26C">
                    <a:alpha val="40000"/>
                  </a:srgbClr>
                </a:gs>
                <a:gs pos="100000">
                  <a:srgbClr val="D7B26C"/>
                </a:gs>
              </a:gsLst>
              <a:lin ang="54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矩形 23"/>
          <p:cNvSpPr/>
          <p:nvPr/>
        </p:nvSpPr>
        <p:spPr>
          <a:xfrm>
            <a:off x="4632960" y="2829560"/>
            <a:ext cx="2926080" cy="119888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lstStyle/>
          <a:p>
            <a:pPr algn="ctr"/>
            <a:r>
              <a:rPr lang="zh-CN" altLang="en-US" sz="7200" b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谢谢！</a:t>
            </a:r>
            <a:endParaRPr lang="zh-CN" altLang="en-US" sz="7200" b="1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189.25,&quot;left&quot;:307.85,&quot;top&quot;:0,&quot;width&quot;:628.8}"/>
</p:tagLst>
</file>

<file path=ppt/tags/tag2.xml><?xml version="1.0" encoding="utf-8"?>
<p:tagLst xmlns:p="http://schemas.openxmlformats.org/presentationml/2006/main">
  <p:tag name="KSO_WM_DIAGRAM_VIRTUALLY_FRAME" val="{&quot;height&quot;:189.25,&quot;left&quot;:307.85,&quot;top&quot;:0,&quot;width&quot;:628.8}"/>
</p:tagLst>
</file>

<file path=ppt/tags/tag3.xml><?xml version="1.0" encoding="utf-8"?>
<p:tagLst xmlns:p="http://schemas.openxmlformats.org/presentationml/2006/main">
  <p:tag name="KSO_WM_DIAGRAM_VIRTUALLY_FRAME" val="{&quot;height&quot;:189.25,&quot;left&quot;:307.85,&quot;top&quot;:0,&quot;width&quot;:628.8}"/>
</p:tagLst>
</file>

<file path=ppt/tags/tag4.xml><?xml version="1.0" encoding="utf-8"?>
<p:tagLst xmlns:p="http://schemas.openxmlformats.org/presentationml/2006/main">
  <p:tag name="KSO_WM_DIAGRAM_VIRTUALLY_FRAME" val="{&quot;height&quot;:189.25,&quot;left&quot;:307.85,&quot;top&quot;:0,&quot;width&quot;:628.8}"/>
</p:tagLst>
</file>

<file path=ppt/tags/tag5.xml><?xml version="1.0" encoding="utf-8"?>
<p:tagLst xmlns:p="http://schemas.openxmlformats.org/presentationml/2006/main">
  <p:tag name="KSO_WM_DIAGRAM_VIRTUALLY_FRAME" val="{&quot;height&quot;:189.25,&quot;left&quot;:307.85,&quot;top&quot;:0,&quot;width&quot;:628.8}"/>
</p:tagLst>
</file>

<file path=ppt/tags/tag6.xml><?xml version="1.0" encoding="utf-8"?>
<p:tagLst xmlns:p="http://schemas.openxmlformats.org/presentationml/2006/main">
  <p:tag name="KSO_WM_DIAGRAM_VIRTUALLY_FRAME" val="{&quot;height&quot;:189.25,&quot;left&quot;:307.85,&quot;top&quot;:0,&quot;width&quot;:628.8}"/>
</p:tagLst>
</file>

<file path=ppt/tags/tag7.xml><?xml version="1.0" encoding="utf-8"?>
<p:tagLst xmlns:p="http://schemas.openxmlformats.org/presentationml/2006/main">
  <p:tag name="KSO_WM_DIAGRAM_VIRTUALLY_FRAME" val="{&quot;height&quot;:189.25,&quot;left&quot;:307.85,&quot;top&quot;:0,&quot;width&quot;:628.8}"/>
</p:tagLst>
</file>

<file path=ppt/tags/tag8.xml><?xml version="1.0" encoding="utf-8"?>
<p:tagLst xmlns:p="http://schemas.openxmlformats.org/presentationml/2006/main">
  <p:tag name="KSO_WM_DIAGRAM_VIRTUALLY_FRAME" val="{&quot;height&quot;:189.25,&quot;left&quot;:307.85,&quot;top&quot;:0,&quot;width&quot;:628.8}"/>
</p:tagLst>
</file>

<file path=ppt/tags/tag9.xml><?xml version="1.0" encoding="utf-8"?>
<p:tagLst xmlns:p="http://schemas.openxmlformats.org/presentationml/2006/main">
  <p:tag name="KSO_WM_DIAGRAM_VIRTUALLY_FRAME" val="{&quot;height&quot;:189.25,&quot;left&quot;:307.85,&quot;top&quot;:0,&quot;width&quot;:628.8}"/>
</p:tagLst>
</file>

<file path=ppt/tags/tag10.xml><?xml version="1.0" encoding="utf-8"?>
<p:tagLst xmlns:p="http://schemas.openxmlformats.org/presentationml/2006/main">
  <p:tag name="KSO_WM_DIAGRAM_VIRTUALLY_FRAME" val="{&quot;height&quot;:189.25,&quot;left&quot;:307.85,&quot;top&quot;:0,&quot;width&quot;:628.8}"/>
</p:tagLst>
</file>

<file path=ppt/tags/tag11.xml><?xml version="1.0" encoding="utf-8"?>
<p:tagLst xmlns:p="http://schemas.openxmlformats.org/presentationml/2006/main">
  <p:tag name="KSO_WM_DIAGRAM_VIRTUALLY_FRAME" val="{&quot;height&quot;:189.25,&quot;left&quot;:307.85,&quot;top&quot;:0,&quot;width&quot;:628.8}"/>
</p:tagLst>
</file>

<file path=ppt/tags/tag12.xml><?xml version="1.0" encoding="utf-8"?>
<p:tagLst xmlns:p="http://schemas.openxmlformats.org/presentationml/2006/main">
  <p:tag name="KSO_WM_DIAGRAM_VIRTUALLY_FRAME" val="{&quot;height&quot;:189.25,&quot;left&quot;:307.85,&quot;top&quot;:0,&quot;width&quot;:628.8}"/>
</p:tagLst>
</file>

<file path=ppt/tags/tag13.xml><?xml version="1.0" encoding="utf-8"?>
<p:tagLst xmlns:p="http://schemas.openxmlformats.org/presentationml/2006/main">
  <p:tag name="COMMONDATA" val="eyJoZGlkIjoiMzRiNGE2YjVjMjBmNWEwZWU3YTRiYzc0MzA3MmZhYWUifQ=="/>
</p:tagLst>
</file>

<file path=ppt/theme/theme1.xml><?xml version="1.0" encoding="utf-8"?>
<a:theme xmlns:a="http://schemas.openxmlformats.org/drawingml/2006/main" name="WPS">
  <a:themeElements>
    <a:clrScheme name="WPS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4874CB"/>
      </a:accent1>
      <a:accent2>
        <a:srgbClr val="E6724B"/>
      </a:accent2>
      <a:accent3>
        <a:srgbClr val="EFBB1F"/>
      </a:accent3>
      <a:accent4>
        <a:srgbClr val="75BD42"/>
      </a:accent4>
      <a:accent5>
        <a:srgbClr val="30C0B4"/>
      </a:accent5>
      <a:accent6>
        <a:srgbClr val="E05269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1381</Words>
  <Application>WPS 演示</Application>
  <PresentationFormat>宽屏</PresentationFormat>
  <Paragraphs>163</Paragraphs>
  <Slides>23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23</vt:i4>
      </vt:variant>
    </vt:vector>
  </HeadingPairs>
  <TitlesOfParts>
    <vt:vector size="31" baseType="lpstr">
      <vt:lpstr>Arial</vt:lpstr>
      <vt:lpstr>宋体</vt:lpstr>
      <vt:lpstr>Wingdings</vt:lpstr>
      <vt:lpstr>微软雅黑</vt:lpstr>
      <vt:lpstr>Times New Roman</vt:lpstr>
      <vt:lpstr>Calibri</vt:lpstr>
      <vt:lpstr>Arial Unicode MS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Lenovo</dc:creator>
  <cp:lastModifiedBy>时之天空</cp:lastModifiedBy>
  <cp:revision>490</cp:revision>
  <dcterms:created xsi:type="dcterms:W3CDTF">2023-09-17T02:11:00Z</dcterms:created>
  <dcterms:modified xsi:type="dcterms:W3CDTF">2026-04-19T23:49:59Z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09D9A0CEE6E8432A8CE06DE6C004B31B_12</vt:lpwstr>
  </property>
  <property fmtid="{D5CDD505-2E9C-101B-9397-08002B2CF9AE}" pid="3" name="KSOProductBuildVer">
    <vt:lpwstr>2052-12.1.0.25865</vt:lpwstr>
  </property>
</Properties>
</file>